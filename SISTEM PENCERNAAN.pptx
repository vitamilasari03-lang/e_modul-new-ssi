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TDTD가온" panose="020B0604020202020204" charset="-127"/>
      <p:regular r:id="rId16"/>
    </p:embeddedFont>
    <p:embeddedFont>
      <p:font typeface="Funtastic" panose="020B0604020202020204" charset="0"/>
      <p:regular r:id="rId17"/>
    </p:embeddedFont>
    <p:embeddedFont>
      <p:font typeface="Prachason Neue Mon" panose="020B0604020202020204" charset="-34"/>
      <p:regular r:id="rId18"/>
    </p:embeddedFont>
    <p:embeddedFont>
      <p:font typeface="Prachason Neue Mon Bold" panose="020B0604020202020204" charset="-3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348"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9.sv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20.png"/><Relationship Id="rId7"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707956" y="9491426"/>
            <a:ext cx="19703911" cy="1472127"/>
            <a:chOff x="0" y="0"/>
            <a:chExt cx="7656247" cy="572017"/>
          </a:xfrm>
        </p:grpSpPr>
        <p:sp>
          <p:nvSpPr>
            <p:cNvPr id="3" name="Freeform 3"/>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4" name="TextBox 4"/>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rot="-5400000">
            <a:off x="8963237" y="-701350"/>
            <a:ext cx="10476271" cy="5238135"/>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EF897E"/>
            </a:solidFill>
          </p:spPr>
        </p:sp>
        <p:sp>
          <p:nvSpPr>
            <p:cNvPr id="7" name="TextBox 7"/>
            <p:cNvSpPr txBox="1"/>
            <p:nvPr/>
          </p:nvSpPr>
          <p:spPr>
            <a:xfrm>
              <a:off x="0" y="-95250"/>
              <a:ext cx="812800" cy="501650"/>
            </a:xfrm>
            <a:prstGeom prst="rect">
              <a:avLst/>
            </a:prstGeom>
          </p:spPr>
          <p:txBody>
            <a:bodyPr lIns="50800" tIns="50800" rIns="50800" bIns="50800" rtlCol="0" anchor="ctr"/>
            <a:lstStyle/>
            <a:p>
              <a:pPr algn="ctr">
                <a:lnSpc>
                  <a:spcPts val="3359"/>
                </a:lnSpc>
                <a:spcBef>
                  <a:spcPct val="0"/>
                </a:spcBef>
              </a:pPr>
              <a:endParaRPr/>
            </a:p>
          </p:txBody>
        </p:sp>
      </p:grpSp>
      <p:grpSp>
        <p:nvGrpSpPr>
          <p:cNvPr id="8" name="Group 8"/>
          <p:cNvGrpSpPr/>
          <p:nvPr/>
        </p:nvGrpSpPr>
        <p:grpSpPr>
          <a:xfrm rot="7413602">
            <a:off x="11649413" y="3322206"/>
            <a:ext cx="542104" cy="580614"/>
            <a:chOff x="0" y="0"/>
            <a:chExt cx="812800" cy="870539"/>
          </a:xfrm>
        </p:grpSpPr>
        <p:sp>
          <p:nvSpPr>
            <p:cNvPr id="9" name="Freeform 9"/>
            <p:cNvSpPr/>
            <p:nvPr/>
          </p:nvSpPr>
          <p:spPr>
            <a:xfrm>
              <a:off x="51874" y="90938"/>
              <a:ext cx="709051" cy="779601"/>
            </a:xfrm>
            <a:custGeom>
              <a:avLst/>
              <a:gdLst/>
              <a:ahLst/>
              <a:cxnLst/>
              <a:rect l="l" t="t" r="r" b="b"/>
              <a:pathLst>
                <a:path w="709051" h="779601">
                  <a:moveTo>
                    <a:pt x="414937" y="38468"/>
                  </a:moveTo>
                  <a:lnTo>
                    <a:pt x="700515" y="650195"/>
                  </a:lnTo>
                  <a:cubicBezTo>
                    <a:pt x="713663" y="678359"/>
                    <a:pt x="711515" y="711289"/>
                    <a:pt x="694820" y="737507"/>
                  </a:cubicBezTo>
                  <a:cubicBezTo>
                    <a:pt x="678126" y="763725"/>
                    <a:pt x="649196" y="779601"/>
                    <a:pt x="618114" y="779601"/>
                  </a:cubicBezTo>
                  <a:lnTo>
                    <a:pt x="90938" y="779601"/>
                  </a:lnTo>
                  <a:cubicBezTo>
                    <a:pt x="59856" y="779601"/>
                    <a:pt x="30926" y="763725"/>
                    <a:pt x="14232" y="737507"/>
                  </a:cubicBezTo>
                  <a:cubicBezTo>
                    <a:pt x="-2463" y="711289"/>
                    <a:pt x="-4611" y="678359"/>
                    <a:pt x="8537" y="650195"/>
                  </a:cubicBezTo>
                  <a:lnTo>
                    <a:pt x="294115" y="38468"/>
                  </a:lnTo>
                  <a:cubicBezTo>
                    <a:pt x="305070" y="14999"/>
                    <a:pt x="328626" y="0"/>
                    <a:pt x="354526" y="0"/>
                  </a:cubicBezTo>
                  <a:cubicBezTo>
                    <a:pt x="380426" y="0"/>
                    <a:pt x="403982" y="14999"/>
                    <a:pt x="414937" y="38468"/>
                  </a:cubicBezTo>
                  <a:close/>
                </a:path>
              </a:pathLst>
            </a:custGeom>
            <a:solidFill>
              <a:srgbClr val="FFFFFF"/>
            </a:solidFill>
          </p:spPr>
        </p:sp>
        <p:sp>
          <p:nvSpPr>
            <p:cNvPr id="10" name="TextBox 10"/>
            <p:cNvSpPr txBox="1"/>
            <p:nvPr/>
          </p:nvSpPr>
          <p:spPr>
            <a:xfrm>
              <a:off x="127000" y="308929"/>
              <a:ext cx="558800" cy="499429"/>
            </a:xfrm>
            <a:prstGeom prst="rect">
              <a:avLst/>
            </a:prstGeom>
          </p:spPr>
          <p:txBody>
            <a:bodyPr lIns="59133" tIns="59133" rIns="59133" bIns="59133" rtlCol="0" anchor="ctr"/>
            <a:lstStyle/>
            <a:p>
              <a:pPr algn="ctr">
                <a:lnSpc>
                  <a:spcPts val="3359"/>
                </a:lnSpc>
              </a:pPr>
              <a:endParaRPr/>
            </a:p>
          </p:txBody>
        </p:sp>
      </p:grpSp>
      <p:grpSp>
        <p:nvGrpSpPr>
          <p:cNvPr id="11" name="Group 11"/>
          <p:cNvGrpSpPr/>
          <p:nvPr/>
        </p:nvGrpSpPr>
        <p:grpSpPr>
          <a:xfrm rot="-2418444">
            <a:off x="9990596" y="4365022"/>
            <a:ext cx="1577393" cy="157739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3" name="TextBox 13"/>
            <p:cNvSpPr txBox="1"/>
            <p:nvPr/>
          </p:nvSpPr>
          <p:spPr>
            <a:xfrm>
              <a:off x="76200" y="-19050"/>
              <a:ext cx="660400" cy="755650"/>
            </a:xfrm>
            <a:prstGeom prst="rect">
              <a:avLst/>
            </a:prstGeom>
          </p:spPr>
          <p:txBody>
            <a:bodyPr lIns="49234" tIns="49234" rIns="49234" bIns="49234" rtlCol="0" anchor="ctr"/>
            <a:lstStyle/>
            <a:p>
              <a:pPr algn="ctr">
                <a:lnSpc>
                  <a:spcPts val="3359"/>
                </a:lnSpc>
              </a:pPr>
              <a:endParaRPr/>
            </a:p>
          </p:txBody>
        </p:sp>
      </p:grpSp>
      <p:grpSp>
        <p:nvGrpSpPr>
          <p:cNvPr id="14" name="Group 14"/>
          <p:cNvGrpSpPr/>
          <p:nvPr/>
        </p:nvGrpSpPr>
        <p:grpSpPr>
          <a:xfrm rot="4995158">
            <a:off x="11472711" y="4948513"/>
            <a:ext cx="451356" cy="483419"/>
            <a:chOff x="0" y="0"/>
            <a:chExt cx="812800" cy="870539"/>
          </a:xfrm>
        </p:grpSpPr>
        <p:sp>
          <p:nvSpPr>
            <p:cNvPr id="15" name="Freeform 15"/>
            <p:cNvSpPr/>
            <p:nvPr/>
          </p:nvSpPr>
          <p:spPr>
            <a:xfrm>
              <a:off x="62304" y="109222"/>
              <a:ext cx="688192" cy="761317"/>
            </a:xfrm>
            <a:custGeom>
              <a:avLst/>
              <a:gdLst/>
              <a:ahLst/>
              <a:cxnLst/>
              <a:rect l="l" t="t" r="r" b="b"/>
              <a:pathLst>
                <a:path w="688192" h="761317">
                  <a:moveTo>
                    <a:pt x="416654" y="46202"/>
                  </a:moveTo>
                  <a:lnTo>
                    <a:pt x="677938" y="605893"/>
                  </a:lnTo>
                  <a:cubicBezTo>
                    <a:pt x="693730" y="639720"/>
                    <a:pt x="691151" y="679270"/>
                    <a:pt x="671099" y="710760"/>
                  </a:cubicBezTo>
                  <a:cubicBezTo>
                    <a:pt x="651048" y="742249"/>
                    <a:pt x="616302" y="761317"/>
                    <a:pt x="578970" y="761317"/>
                  </a:cubicBezTo>
                  <a:lnTo>
                    <a:pt x="109222" y="761317"/>
                  </a:lnTo>
                  <a:cubicBezTo>
                    <a:pt x="71890" y="761317"/>
                    <a:pt x="37144" y="742249"/>
                    <a:pt x="17093" y="710760"/>
                  </a:cubicBezTo>
                  <a:cubicBezTo>
                    <a:pt x="-2959" y="679270"/>
                    <a:pt x="-5538" y="639720"/>
                    <a:pt x="10254" y="605893"/>
                  </a:cubicBezTo>
                  <a:lnTo>
                    <a:pt x="271538" y="46202"/>
                  </a:lnTo>
                  <a:cubicBezTo>
                    <a:pt x="284697" y="18015"/>
                    <a:pt x="312989" y="0"/>
                    <a:pt x="344096" y="0"/>
                  </a:cubicBezTo>
                  <a:cubicBezTo>
                    <a:pt x="375203" y="0"/>
                    <a:pt x="403495" y="18015"/>
                    <a:pt x="416654" y="46202"/>
                  </a:cubicBezTo>
                  <a:close/>
                </a:path>
              </a:pathLst>
            </a:custGeom>
            <a:solidFill>
              <a:srgbClr val="FFFFFF"/>
            </a:solidFill>
          </p:spPr>
        </p:sp>
        <p:sp>
          <p:nvSpPr>
            <p:cNvPr id="16" name="TextBox 16"/>
            <p:cNvSpPr txBox="1"/>
            <p:nvPr/>
          </p:nvSpPr>
          <p:spPr>
            <a:xfrm>
              <a:off x="127000" y="308929"/>
              <a:ext cx="558800" cy="499429"/>
            </a:xfrm>
            <a:prstGeom prst="rect">
              <a:avLst/>
            </a:prstGeom>
          </p:spPr>
          <p:txBody>
            <a:bodyPr lIns="49234" tIns="49234" rIns="49234" bIns="49234" rtlCol="0" anchor="ctr"/>
            <a:lstStyle/>
            <a:p>
              <a:pPr algn="ctr">
                <a:lnSpc>
                  <a:spcPts val="3359"/>
                </a:lnSpc>
              </a:pPr>
              <a:endParaRPr/>
            </a:p>
          </p:txBody>
        </p:sp>
      </p:grpSp>
      <p:sp>
        <p:nvSpPr>
          <p:cNvPr id="17" name="Freeform 17"/>
          <p:cNvSpPr/>
          <p:nvPr/>
        </p:nvSpPr>
        <p:spPr>
          <a:xfrm>
            <a:off x="12440510" y="1605303"/>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a:off x="15386780" y="3499842"/>
            <a:ext cx="575635" cy="624829"/>
          </a:xfrm>
          <a:custGeom>
            <a:avLst/>
            <a:gdLst/>
            <a:ahLst/>
            <a:cxnLst/>
            <a:rect l="l" t="t" r="r" b="b"/>
            <a:pathLst>
              <a:path w="575635" h="624829">
                <a:moveTo>
                  <a:pt x="0" y="0"/>
                </a:moveTo>
                <a:lnTo>
                  <a:pt x="575636" y="0"/>
                </a:lnTo>
                <a:lnTo>
                  <a:pt x="575636" y="624829"/>
                </a:lnTo>
                <a:lnTo>
                  <a:pt x="0" y="624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9" name="Group 19"/>
          <p:cNvGrpSpPr/>
          <p:nvPr/>
        </p:nvGrpSpPr>
        <p:grpSpPr>
          <a:xfrm>
            <a:off x="1603256" y="1254074"/>
            <a:ext cx="7864365" cy="7778852"/>
            <a:chOff x="0" y="0"/>
            <a:chExt cx="3055816" cy="3022588"/>
          </a:xfrm>
        </p:grpSpPr>
        <p:sp>
          <p:nvSpPr>
            <p:cNvPr id="20" name="Freeform 20"/>
            <p:cNvSpPr/>
            <p:nvPr/>
          </p:nvSpPr>
          <p:spPr>
            <a:xfrm>
              <a:off x="0" y="0"/>
              <a:ext cx="3055816" cy="3022588"/>
            </a:xfrm>
            <a:custGeom>
              <a:avLst/>
              <a:gdLst/>
              <a:ahLst/>
              <a:cxnLst/>
              <a:rect l="l" t="t" r="r" b="b"/>
              <a:pathLst>
                <a:path w="3055816" h="3022588">
                  <a:moveTo>
                    <a:pt x="19689" y="0"/>
                  </a:moveTo>
                  <a:lnTo>
                    <a:pt x="3036127" y="0"/>
                  </a:lnTo>
                  <a:cubicBezTo>
                    <a:pt x="3047001" y="0"/>
                    <a:pt x="3055816" y="8815"/>
                    <a:pt x="3055816" y="19689"/>
                  </a:cubicBezTo>
                  <a:lnTo>
                    <a:pt x="3055816" y="3002900"/>
                  </a:lnTo>
                  <a:cubicBezTo>
                    <a:pt x="3055816" y="3013773"/>
                    <a:pt x="3047001" y="3022588"/>
                    <a:pt x="3036127" y="3022588"/>
                  </a:cubicBezTo>
                  <a:lnTo>
                    <a:pt x="19689" y="3022588"/>
                  </a:lnTo>
                  <a:cubicBezTo>
                    <a:pt x="14467" y="3022588"/>
                    <a:pt x="9459" y="3020514"/>
                    <a:pt x="5767" y="3016822"/>
                  </a:cubicBezTo>
                  <a:cubicBezTo>
                    <a:pt x="2074" y="3013129"/>
                    <a:pt x="0" y="3008121"/>
                    <a:pt x="0" y="3002900"/>
                  </a:cubicBezTo>
                  <a:lnTo>
                    <a:pt x="0" y="19689"/>
                  </a:lnTo>
                  <a:cubicBezTo>
                    <a:pt x="0" y="8815"/>
                    <a:pt x="8815" y="0"/>
                    <a:pt x="19689" y="0"/>
                  </a:cubicBezTo>
                  <a:close/>
                </a:path>
              </a:pathLst>
            </a:custGeom>
            <a:solidFill>
              <a:srgbClr val="FFFFFF"/>
            </a:solidFill>
          </p:spPr>
        </p:sp>
        <p:sp>
          <p:nvSpPr>
            <p:cNvPr id="21" name="TextBox 21"/>
            <p:cNvSpPr txBox="1"/>
            <p:nvPr/>
          </p:nvSpPr>
          <p:spPr>
            <a:xfrm>
              <a:off x="0" y="-95250"/>
              <a:ext cx="3055816" cy="3117838"/>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2085432" y="1699464"/>
            <a:ext cx="5433598" cy="675737"/>
            <a:chOff x="0" y="0"/>
            <a:chExt cx="1431071" cy="177972"/>
          </a:xfrm>
        </p:grpSpPr>
        <p:sp>
          <p:nvSpPr>
            <p:cNvPr id="23" name="Freeform 23"/>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24" name="TextBox 24"/>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sp>
        <p:nvSpPr>
          <p:cNvPr id="25" name="TextBox 25"/>
          <p:cNvSpPr txBox="1"/>
          <p:nvPr/>
        </p:nvSpPr>
        <p:spPr>
          <a:xfrm>
            <a:off x="2085432" y="2653036"/>
            <a:ext cx="6900013" cy="3724275"/>
          </a:xfrm>
          <a:prstGeom prst="rect">
            <a:avLst/>
          </a:prstGeom>
        </p:spPr>
        <p:txBody>
          <a:bodyPr lIns="0" tIns="0" rIns="0" bIns="0" rtlCol="0" anchor="t">
            <a:spAutoFit/>
          </a:bodyPr>
          <a:lstStyle/>
          <a:p>
            <a:pPr algn="l">
              <a:lnSpc>
                <a:spcPts val="9119"/>
              </a:lnSpc>
            </a:pPr>
            <a:r>
              <a:rPr lang="en-US" sz="9600" spc="-96">
                <a:solidFill>
                  <a:srgbClr val="593337"/>
                </a:solidFill>
                <a:latin typeface="Funtastic"/>
                <a:ea typeface="Funtastic"/>
                <a:cs typeface="Funtastic"/>
                <a:sym typeface="Funtastic"/>
              </a:rPr>
              <a:t>Sistem Pencernaan Manusia</a:t>
            </a:r>
          </a:p>
        </p:txBody>
      </p:sp>
      <p:sp>
        <p:nvSpPr>
          <p:cNvPr id="26" name="Freeform 26"/>
          <p:cNvSpPr/>
          <p:nvPr/>
        </p:nvSpPr>
        <p:spPr>
          <a:xfrm>
            <a:off x="6869934" y="5109081"/>
            <a:ext cx="649095" cy="981618"/>
          </a:xfrm>
          <a:custGeom>
            <a:avLst/>
            <a:gdLst/>
            <a:ahLst/>
            <a:cxnLst/>
            <a:rect l="l" t="t" r="r" b="b"/>
            <a:pathLst>
              <a:path w="649095" h="981618">
                <a:moveTo>
                  <a:pt x="0" y="0"/>
                </a:moveTo>
                <a:lnTo>
                  <a:pt x="649096" y="0"/>
                </a:lnTo>
                <a:lnTo>
                  <a:pt x="649096" y="981619"/>
                </a:lnTo>
                <a:lnTo>
                  <a:pt x="0" y="9816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7" name="Group 27"/>
          <p:cNvGrpSpPr/>
          <p:nvPr/>
        </p:nvGrpSpPr>
        <p:grpSpPr>
          <a:xfrm>
            <a:off x="1467559" y="7911799"/>
            <a:ext cx="6333144" cy="675737"/>
            <a:chOff x="0" y="0"/>
            <a:chExt cx="1667989" cy="177972"/>
          </a:xfrm>
        </p:grpSpPr>
        <p:sp>
          <p:nvSpPr>
            <p:cNvPr id="28" name="Freeform 28"/>
            <p:cNvSpPr/>
            <p:nvPr/>
          </p:nvSpPr>
          <p:spPr>
            <a:xfrm>
              <a:off x="0" y="0"/>
              <a:ext cx="1667988" cy="177972"/>
            </a:xfrm>
            <a:custGeom>
              <a:avLst/>
              <a:gdLst/>
              <a:ahLst/>
              <a:cxnLst/>
              <a:rect l="l" t="t" r="r" b="b"/>
              <a:pathLst>
                <a:path w="1667988" h="177972">
                  <a:moveTo>
                    <a:pt x="88986" y="0"/>
                  </a:moveTo>
                  <a:lnTo>
                    <a:pt x="1579003" y="0"/>
                  </a:lnTo>
                  <a:cubicBezTo>
                    <a:pt x="1602603" y="0"/>
                    <a:pt x="1625237" y="9375"/>
                    <a:pt x="1641925" y="26063"/>
                  </a:cubicBezTo>
                  <a:cubicBezTo>
                    <a:pt x="1658613" y="42751"/>
                    <a:pt x="1667988" y="65385"/>
                    <a:pt x="1667988" y="88986"/>
                  </a:cubicBezTo>
                  <a:lnTo>
                    <a:pt x="1667988" y="88986"/>
                  </a:lnTo>
                  <a:cubicBezTo>
                    <a:pt x="1667988" y="138131"/>
                    <a:pt x="1628148" y="177972"/>
                    <a:pt x="1579003"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E47A7A"/>
            </a:solidFill>
          </p:spPr>
        </p:sp>
        <p:sp>
          <p:nvSpPr>
            <p:cNvPr id="29" name="TextBox 29"/>
            <p:cNvSpPr txBox="1"/>
            <p:nvPr/>
          </p:nvSpPr>
          <p:spPr>
            <a:xfrm>
              <a:off x="0" y="-95250"/>
              <a:ext cx="1667989" cy="273222"/>
            </a:xfrm>
            <a:prstGeom prst="rect">
              <a:avLst/>
            </a:prstGeom>
          </p:spPr>
          <p:txBody>
            <a:bodyPr lIns="50800" tIns="50800" rIns="50800" bIns="50800" rtlCol="0" anchor="ctr"/>
            <a:lstStyle/>
            <a:p>
              <a:pPr algn="ctr">
                <a:lnSpc>
                  <a:spcPts val="3359"/>
                </a:lnSpc>
              </a:pPr>
              <a:endParaRPr/>
            </a:p>
          </p:txBody>
        </p:sp>
      </p:grpSp>
      <p:sp>
        <p:nvSpPr>
          <p:cNvPr id="30" name="Freeform 30"/>
          <p:cNvSpPr/>
          <p:nvPr/>
        </p:nvSpPr>
        <p:spPr>
          <a:xfrm>
            <a:off x="6895501" y="8034698"/>
            <a:ext cx="429939" cy="429939"/>
          </a:xfrm>
          <a:custGeom>
            <a:avLst/>
            <a:gdLst/>
            <a:ahLst/>
            <a:cxnLst/>
            <a:rect l="l" t="t" r="r" b="b"/>
            <a:pathLst>
              <a:path w="429939" h="429939">
                <a:moveTo>
                  <a:pt x="0" y="0"/>
                </a:moveTo>
                <a:lnTo>
                  <a:pt x="429939" y="0"/>
                </a:lnTo>
                <a:lnTo>
                  <a:pt x="429939" y="429939"/>
                </a:lnTo>
                <a:lnTo>
                  <a:pt x="0" y="42993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p:cNvSpPr/>
          <p:nvPr/>
        </p:nvSpPr>
        <p:spPr>
          <a:xfrm>
            <a:off x="9467621" y="1049411"/>
            <a:ext cx="5584458" cy="8442015"/>
          </a:xfrm>
          <a:custGeom>
            <a:avLst/>
            <a:gdLst/>
            <a:ahLst/>
            <a:cxnLst/>
            <a:rect l="l" t="t" r="r" b="b"/>
            <a:pathLst>
              <a:path w="5584458" h="8442015">
                <a:moveTo>
                  <a:pt x="0" y="0"/>
                </a:moveTo>
                <a:lnTo>
                  <a:pt x="5584458" y="0"/>
                </a:lnTo>
                <a:lnTo>
                  <a:pt x="5584458" y="8442015"/>
                </a:lnTo>
                <a:lnTo>
                  <a:pt x="0" y="8442015"/>
                </a:lnTo>
                <a:lnTo>
                  <a:pt x="0" y="0"/>
                </a:lnTo>
                <a:close/>
              </a:path>
            </a:pathLst>
          </a:custGeom>
          <a:blipFill>
            <a:blip r:embed="rId8"/>
            <a:stretch>
              <a:fillRect l="-27298" r="-33784"/>
            </a:stretch>
          </a:blipFill>
        </p:spPr>
      </p:sp>
      <p:sp>
        <p:nvSpPr>
          <p:cNvPr id="32" name="TextBox 32"/>
          <p:cNvSpPr txBox="1"/>
          <p:nvPr/>
        </p:nvSpPr>
        <p:spPr>
          <a:xfrm>
            <a:off x="2398270" y="1801113"/>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33" name="TextBox 33"/>
          <p:cNvSpPr txBox="1"/>
          <p:nvPr/>
        </p:nvSpPr>
        <p:spPr>
          <a:xfrm>
            <a:off x="2085432" y="6310636"/>
            <a:ext cx="6900013" cy="1057275"/>
          </a:xfrm>
          <a:prstGeom prst="rect">
            <a:avLst/>
          </a:prstGeom>
        </p:spPr>
        <p:txBody>
          <a:bodyPr lIns="0" tIns="0" rIns="0" bIns="0" rtlCol="0" anchor="t">
            <a:spAutoFit/>
          </a:bodyPr>
          <a:lstStyle/>
          <a:p>
            <a:pPr algn="l">
              <a:lnSpc>
                <a:spcPts val="4200"/>
              </a:lnSpc>
            </a:pPr>
            <a:r>
              <a:rPr lang="en-US" sz="3000">
                <a:solidFill>
                  <a:srgbClr val="7A4C51"/>
                </a:solidFill>
                <a:latin typeface="TDTD가온"/>
                <a:ea typeface="TDTD가온"/>
                <a:cs typeface="TDTD가온"/>
                <a:sym typeface="TDTD가온"/>
              </a:rPr>
              <a:t>Mengenal apa saja sistem pencernaan manusia dan fungsinya bagi tubuh.</a:t>
            </a:r>
          </a:p>
        </p:txBody>
      </p:sp>
      <p:sp>
        <p:nvSpPr>
          <p:cNvPr id="34" name="TextBox 34"/>
          <p:cNvSpPr txBox="1"/>
          <p:nvPr/>
        </p:nvSpPr>
        <p:spPr>
          <a:xfrm>
            <a:off x="1942823" y="7889622"/>
            <a:ext cx="4859300" cy="539115"/>
          </a:xfrm>
          <a:prstGeom prst="rect">
            <a:avLst/>
          </a:prstGeom>
        </p:spPr>
        <p:txBody>
          <a:bodyPr lIns="0" tIns="0" rIns="0" bIns="0" rtlCol="0" anchor="t">
            <a:spAutoFit/>
          </a:bodyPr>
          <a:lstStyle/>
          <a:p>
            <a:pPr algn="ctr">
              <a:lnSpc>
                <a:spcPts val="3359"/>
              </a:lnSpc>
            </a:pPr>
            <a:r>
              <a:rPr lang="en-US" sz="2400">
                <a:solidFill>
                  <a:srgbClr val="FFFFFF"/>
                </a:solidFill>
                <a:latin typeface="Prachason Neue Mon"/>
                <a:ea typeface="Prachason Neue Mon"/>
                <a:cs typeface="Prachason Neue Mon"/>
                <a:sym typeface="Prachason Neue Mon"/>
              </a:rPr>
              <a:t>GESER UNTUK MELANJUTKAN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787959" y="1576174"/>
            <a:ext cx="12284233" cy="1818683"/>
            <a:chOff x="0" y="0"/>
            <a:chExt cx="4773221" cy="706676"/>
          </a:xfrm>
        </p:grpSpPr>
        <p:sp>
          <p:nvSpPr>
            <p:cNvPr id="3" name="Freeform 3"/>
            <p:cNvSpPr/>
            <p:nvPr/>
          </p:nvSpPr>
          <p:spPr>
            <a:xfrm>
              <a:off x="0" y="0"/>
              <a:ext cx="4773221" cy="706676"/>
            </a:xfrm>
            <a:custGeom>
              <a:avLst/>
              <a:gdLst/>
              <a:ahLst/>
              <a:cxnLst/>
              <a:rect l="l" t="t" r="r" b="b"/>
              <a:pathLst>
                <a:path w="4773221" h="706676">
                  <a:moveTo>
                    <a:pt x="63023" y="0"/>
                  </a:moveTo>
                  <a:lnTo>
                    <a:pt x="4710198" y="0"/>
                  </a:lnTo>
                  <a:cubicBezTo>
                    <a:pt x="4726913" y="0"/>
                    <a:pt x="4742943" y="6640"/>
                    <a:pt x="4754762" y="18459"/>
                  </a:cubicBezTo>
                  <a:cubicBezTo>
                    <a:pt x="4766581" y="30278"/>
                    <a:pt x="4773221" y="46308"/>
                    <a:pt x="4773221" y="63023"/>
                  </a:cubicBezTo>
                  <a:lnTo>
                    <a:pt x="4773221" y="643653"/>
                  </a:lnTo>
                  <a:cubicBezTo>
                    <a:pt x="4773221" y="678460"/>
                    <a:pt x="4745005" y="706676"/>
                    <a:pt x="4710198" y="706676"/>
                  </a:cubicBezTo>
                  <a:lnTo>
                    <a:pt x="63023" y="706676"/>
                  </a:lnTo>
                  <a:cubicBezTo>
                    <a:pt x="46308" y="706676"/>
                    <a:pt x="30278" y="700036"/>
                    <a:pt x="18459" y="688217"/>
                  </a:cubicBezTo>
                  <a:cubicBezTo>
                    <a:pt x="6640" y="676398"/>
                    <a:pt x="0" y="660368"/>
                    <a:pt x="0" y="643653"/>
                  </a:cubicBezTo>
                  <a:lnTo>
                    <a:pt x="0" y="63023"/>
                  </a:lnTo>
                  <a:cubicBezTo>
                    <a:pt x="0" y="46308"/>
                    <a:pt x="6640" y="30278"/>
                    <a:pt x="18459" y="18459"/>
                  </a:cubicBezTo>
                  <a:cubicBezTo>
                    <a:pt x="30278" y="6640"/>
                    <a:pt x="46308" y="0"/>
                    <a:pt x="63023" y="0"/>
                  </a:cubicBezTo>
                  <a:close/>
                </a:path>
              </a:pathLst>
            </a:custGeom>
            <a:solidFill>
              <a:srgbClr val="E47A7A"/>
            </a:solidFill>
          </p:spPr>
        </p:sp>
        <p:sp>
          <p:nvSpPr>
            <p:cNvPr id="4" name="TextBox 4"/>
            <p:cNvSpPr txBox="1"/>
            <p:nvPr/>
          </p:nvSpPr>
          <p:spPr>
            <a:xfrm>
              <a:off x="0" y="-95250"/>
              <a:ext cx="4773221" cy="80192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537962" y="1238306"/>
            <a:ext cx="5433598" cy="675737"/>
            <a:chOff x="0" y="0"/>
            <a:chExt cx="1431071" cy="177972"/>
          </a:xfrm>
        </p:grpSpPr>
        <p:sp>
          <p:nvSpPr>
            <p:cNvPr id="6" name="Freeform 6"/>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7" name="TextBox 7"/>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10096222" y="2130011"/>
            <a:ext cx="661333" cy="1000125"/>
          </a:xfrm>
          <a:custGeom>
            <a:avLst/>
            <a:gdLst/>
            <a:ahLst/>
            <a:cxnLst/>
            <a:rect l="l" t="t" r="r" b="b"/>
            <a:pathLst>
              <a:path w="661333" h="1000125">
                <a:moveTo>
                  <a:pt x="0" y="0"/>
                </a:moveTo>
                <a:lnTo>
                  <a:pt x="661333" y="0"/>
                </a:lnTo>
                <a:lnTo>
                  <a:pt x="661333" y="1000125"/>
                </a:lnTo>
                <a:lnTo>
                  <a:pt x="0" y="10001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492608" y="3813957"/>
            <a:ext cx="15302783" cy="3951522"/>
            <a:chOff x="0" y="0"/>
            <a:chExt cx="5946124" cy="2034035"/>
          </a:xfrm>
        </p:grpSpPr>
        <p:sp>
          <p:nvSpPr>
            <p:cNvPr id="10" name="Freeform 10"/>
            <p:cNvSpPr/>
            <p:nvPr/>
          </p:nvSpPr>
          <p:spPr>
            <a:xfrm>
              <a:off x="0" y="0"/>
              <a:ext cx="5946123" cy="2034035"/>
            </a:xfrm>
            <a:custGeom>
              <a:avLst/>
              <a:gdLst/>
              <a:ahLst/>
              <a:cxnLst/>
              <a:rect l="l" t="t" r="r" b="b"/>
              <a:pathLst>
                <a:path w="5946123" h="2034035">
                  <a:moveTo>
                    <a:pt x="10118" y="0"/>
                  </a:moveTo>
                  <a:lnTo>
                    <a:pt x="5936005" y="0"/>
                  </a:lnTo>
                  <a:cubicBezTo>
                    <a:pt x="5941594" y="0"/>
                    <a:pt x="5946123" y="4530"/>
                    <a:pt x="5946123" y="10118"/>
                  </a:cubicBezTo>
                  <a:lnTo>
                    <a:pt x="5946123" y="2023917"/>
                  </a:lnTo>
                  <a:cubicBezTo>
                    <a:pt x="5946123" y="2029505"/>
                    <a:pt x="5941594" y="2034035"/>
                    <a:pt x="5936005" y="2034035"/>
                  </a:cubicBezTo>
                  <a:lnTo>
                    <a:pt x="10118" y="2034035"/>
                  </a:lnTo>
                  <a:cubicBezTo>
                    <a:pt x="4530" y="2034035"/>
                    <a:pt x="0" y="2029505"/>
                    <a:pt x="0" y="2023917"/>
                  </a:cubicBezTo>
                  <a:lnTo>
                    <a:pt x="0" y="10118"/>
                  </a:lnTo>
                  <a:cubicBezTo>
                    <a:pt x="0" y="4530"/>
                    <a:pt x="4530" y="0"/>
                    <a:pt x="10118" y="0"/>
                  </a:cubicBezTo>
                  <a:close/>
                </a:path>
              </a:pathLst>
            </a:custGeom>
            <a:solidFill>
              <a:srgbClr val="FFFFFF"/>
            </a:solidFill>
          </p:spPr>
        </p:sp>
        <p:sp>
          <p:nvSpPr>
            <p:cNvPr id="11" name="TextBox 11"/>
            <p:cNvSpPr txBox="1"/>
            <p:nvPr/>
          </p:nvSpPr>
          <p:spPr>
            <a:xfrm>
              <a:off x="0" y="-95250"/>
              <a:ext cx="5946124" cy="2129285"/>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1537962" y="2158586"/>
            <a:ext cx="8558260" cy="971550"/>
          </a:xfrm>
          <a:prstGeom prst="rect">
            <a:avLst/>
          </a:prstGeom>
        </p:spPr>
        <p:txBody>
          <a:bodyPr lIns="0" tIns="0" rIns="0" bIns="0" rtlCol="0" anchor="t">
            <a:spAutoFit/>
          </a:bodyPr>
          <a:lstStyle/>
          <a:p>
            <a:pPr algn="l">
              <a:lnSpc>
                <a:spcPts val="6270"/>
              </a:lnSpc>
            </a:pPr>
            <a:r>
              <a:rPr lang="en-US" sz="6600" spc="-66">
                <a:solidFill>
                  <a:srgbClr val="FFFFFF"/>
                </a:solidFill>
                <a:latin typeface="Funtastic"/>
                <a:ea typeface="Funtastic"/>
                <a:cs typeface="Funtastic"/>
                <a:sym typeface="Funtastic"/>
              </a:rPr>
              <a:t>Tujuan Pembelajaran</a:t>
            </a:r>
          </a:p>
        </p:txBody>
      </p:sp>
      <p:sp>
        <p:nvSpPr>
          <p:cNvPr id="13" name="TextBox 13"/>
          <p:cNvSpPr txBox="1"/>
          <p:nvPr/>
        </p:nvSpPr>
        <p:spPr>
          <a:xfrm>
            <a:off x="1850801" y="1339954"/>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14" name="Freeform 14"/>
          <p:cNvSpPr/>
          <p:nvPr/>
        </p:nvSpPr>
        <p:spPr>
          <a:xfrm>
            <a:off x="12432630" y="1238306"/>
            <a:ext cx="2937441" cy="3167053"/>
          </a:xfrm>
          <a:custGeom>
            <a:avLst/>
            <a:gdLst/>
            <a:ahLst/>
            <a:cxnLst/>
            <a:rect l="l" t="t" r="r" b="b"/>
            <a:pathLst>
              <a:path w="2937441" h="3167053">
                <a:moveTo>
                  <a:pt x="0" y="0"/>
                </a:moveTo>
                <a:lnTo>
                  <a:pt x="2937442" y="0"/>
                </a:lnTo>
                <a:lnTo>
                  <a:pt x="2937442" y="3167052"/>
                </a:lnTo>
                <a:lnTo>
                  <a:pt x="0" y="31670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5" name="Group 15"/>
          <p:cNvGrpSpPr/>
          <p:nvPr/>
        </p:nvGrpSpPr>
        <p:grpSpPr>
          <a:xfrm>
            <a:off x="1755655" y="4255108"/>
            <a:ext cx="14776686" cy="3134133"/>
            <a:chOff x="0" y="0"/>
            <a:chExt cx="5741701" cy="1833833"/>
          </a:xfrm>
        </p:grpSpPr>
        <p:sp>
          <p:nvSpPr>
            <p:cNvPr id="16" name="Freeform 16"/>
            <p:cNvSpPr/>
            <p:nvPr/>
          </p:nvSpPr>
          <p:spPr>
            <a:xfrm>
              <a:off x="0" y="0"/>
              <a:ext cx="5741701" cy="1833833"/>
            </a:xfrm>
            <a:custGeom>
              <a:avLst/>
              <a:gdLst/>
              <a:ahLst/>
              <a:cxnLst/>
              <a:rect l="l" t="t" r="r" b="b"/>
              <a:pathLst>
                <a:path w="5741701" h="1833833">
                  <a:moveTo>
                    <a:pt x="10479" y="0"/>
                  </a:moveTo>
                  <a:lnTo>
                    <a:pt x="5731222" y="0"/>
                  </a:lnTo>
                  <a:cubicBezTo>
                    <a:pt x="5737009" y="0"/>
                    <a:pt x="5741701" y="4691"/>
                    <a:pt x="5741701" y="10479"/>
                  </a:cubicBezTo>
                  <a:lnTo>
                    <a:pt x="5741701" y="1823354"/>
                  </a:lnTo>
                  <a:cubicBezTo>
                    <a:pt x="5741701" y="1829141"/>
                    <a:pt x="5737009" y="1833833"/>
                    <a:pt x="5731222" y="1833833"/>
                  </a:cubicBezTo>
                  <a:lnTo>
                    <a:pt x="10479" y="1833833"/>
                  </a:lnTo>
                  <a:cubicBezTo>
                    <a:pt x="7699" y="1833833"/>
                    <a:pt x="5034" y="1832729"/>
                    <a:pt x="3069" y="1830764"/>
                  </a:cubicBezTo>
                  <a:cubicBezTo>
                    <a:pt x="1104" y="1828798"/>
                    <a:pt x="0" y="1826133"/>
                    <a:pt x="0" y="1823354"/>
                  </a:cubicBezTo>
                  <a:lnTo>
                    <a:pt x="0" y="10479"/>
                  </a:lnTo>
                  <a:cubicBezTo>
                    <a:pt x="0" y="4691"/>
                    <a:pt x="4691" y="0"/>
                    <a:pt x="10479" y="0"/>
                  </a:cubicBezTo>
                  <a:close/>
                </a:path>
              </a:pathLst>
            </a:custGeom>
            <a:solidFill>
              <a:srgbClr val="FFFBF3"/>
            </a:solidFill>
            <a:ln w="47625" cap="sq">
              <a:solidFill>
                <a:srgbClr val="E8B19A"/>
              </a:solidFill>
              <a:prstDash val="lgDash"/>
              <a:miter/>
            </a:ln>
          </p:spPr>
        </p:sp>
        <p:sp>
          <p:nvSpPr>
            <p:cNvPr id="17" name="TextBox 17"/>
            <p:cNvSpPr txBox="1"/>
            <p:nvPr/>
          </p:nvSpPr>
          <p:spPr>
            <a:xfrm>
              <a:off x="0" y="-95250"/>
              <a:ext cx="5741701" cy="1929083"/>
            </a:xfrm>
            <a:prstGeom prst="rect">
              <a:avLst/>
            </a:prstGeom>
          </p:spPr>
          <p:txBody>
            <a:bodyPr lIns="50800" tIns="50800" rIns="50800" bIns="50800" rtlCol="0" anchor="ctr"/>
            <a:lstStyle/>
            <a:p>
              <a:pPr algn="ctr">
                <a:lnSpc>
                  <a:spcPts val="3359"/>
                </a:lnSpc>
              </a:pPr>
              <a:endParaRPr/>
            </a:p>
          </p:txBody>
        </p:sp>
      </p:grpSp>
      <p:grpSp>
        <p:nvGrpSpPr>
          <p:cNvPr id="18" name="Group 18"/>
          <p:cNvGrpSpPr/>
          <p:nvPr/>
        </p:nvGrpSpPr>
        <p:grpSpPr>
          <a:xfrm>
            <a:off x="2149559" y="4405358"/>
            <a:ext cx="781083" cy="777240"/>
            <a:chOff x="0" y="0"/>
            <a:chExt cx="303502" cy="302008"/>
          </a:xfrm>
        </p:grpSpPr>
        <p:sp>
          <p:nvSpPr>
            <p:cNvPr id="19" name="Freeform 19"/>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EF897E"/>
            </a:solidFill>
          </p:spPr>
        </p:sp>
        <p:sp>
          <p:nvSpPr>
            <p:cNvPr id="20" name="TextBox 20"/>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21" name="TextBox 21"/>
          <p:cNvSpPr txBox="1"/>
          <p:nvPr/>
        </p:nvSpPr>
        <p:spPr>
          <a:xfrm>
            <a:off x="3188992" y="4610950"/>
            <a:ext cx="12949447" cy="846963"/>
          </a:xfrm>
          <a:prstGeom prst="rect">
            <a:avLst/>
          </a:prstGeom>
        </p:spPr>
        <p:txBody>
          <a:bodyPr lIns="0" tIns="0" rIns="0" bIns="0" rtlCol="0" anchor="t">
            <a:spAutoFit/>
          </a:bodyPr>
          <a:lstStyle/>
          <a:p>
            <a:pPr>
              <a:lnSpc>
                <a:spcPts val="3359"/>
              </a:lnSpc>
            </a:pPr>
            <a:r>
              <a:rPr lang="en-ID" sz="2800" dirty="0" err="1">
                <a:latin typeface="TDTD가온" panose="020B0604020202020204" charset="-127"/>
                <a:ea typeface="TDTD가온" panose="020B0604020202020204" charset="-127"/>
              </a:rPr>
              <a:t>Siswa</a:t>
            </a:r>
            <a:r>
              <a:rPr lang="en-ID" sz="2800" dirty="0">
                <a:latin typeface="TDTD가온" panose="020B0604020202020204" charset="-127"/>
                <a:ea typeface="TDTD가온" panose="020B0604020202020204" charset="-127"/>
              </a:rPr>
              <a:t> </a:t>
            </a:r>
            <a:r>
              <a:rPr lang="en-ID" sz="2800" dirty="0" err="1">
                <a:latin typeface="TDTD가온" panose="020B0604020202020204" charset="-127"/>
                <a:ea typeface="TDTD가온" panose="020B0604020202020204" charset="-127"/>
              </a:rPr>
              <a:t>dapat</a:t>
            </a:r>
            <a:r>
              <a:rPr lang="en-ID" sz="2800" dirty="0">
                <a:latin typeface="TDTD가온" panose="020B0604020202020204" charset="-127"/>
                <a:ea typeface="TDTD가온" panose="020B0604020202020204" charset="-127"/>
              </a:rPr>
              <a:t> </a:t>
            </a:r>
            <a:r>
              <a:rPr lang="en-ID" sz="2800" dirty="0" err="1">
                <a:latin typeface="TDTD가온" panose="020B0604020202020204" charset="-127"/>
                <a:ea typeface="TDTD가온" panose="020B0604020202020204" charset="-127"/>
              </a:rPr>
              <a:t>menganalisis</a:t>
            </a:r>
            <a:r>
              <a:rPr lang="en-ID" sz="2800" dirty="0">
                <a:latin typeface="TDTD가온" panose="020B0604020202020204" charset="-127"/>
                <a:ea typeface="TDTD가온" panose="020B0604020202020204" charset="-127"/>
              </a:rPr>
              <a:t> </a:t>
            </a:r>
            <a:r>
              <a:rPr lang="en-ID" sz="2800" dirty="0" err="1">
                <a:latin typeface="TDTD가온" panose="020B0604020202020204" charset="-127"/>
                <a:ea typeface="TDTD가온" panose="020B0604020202020204" charset="-127"/>
              </a:rPr>
              <a:t>struktur</a:t>
            </a:r>
            <a:r>
              <a:rPr lang="en-ID" sz="2800" dirty="0">
                <a:latin typeface="TDTD가온" panose="020B0604020202020204" charset="-127"/>
                <a:ea typeface="TDTD가온" panose="020B0604020202020204" charset="-127"/>
              </a:rPr>
              <a:t> dan  </a:t>
            </a:r>
            <a:r>
              <a:rPr lang="en-ID" sz="2800" dirty="0" err="1">
                <a:latin typeface="TDTD가온" panose="020B0604020202020204" charset="-127"/>
                <a:ea typeface="TDTD가온" panose="020B0604020202020204" charset="-127"/>
              </a:rPr>
              <a:t>fungsi</a:t>
            </a:r>
            <a:r>
              <a:rPr lang="en-ID" sz="2800" dirty="0">
                <a:latin typeface="TDTD가온" panose="020B0604020202020204" charset="-127"/>
                <a:ea typeface="TDTD가온" panose="020B0604020202020204" charset="-127"/>
              </a:rPr>
              <a:t> </a:t>
            </a:r>
            <a:r>
              <a:rPr lang="en-ID" sz="2800" dirty="0" err="1">
                <a:latin typeface="TDTD가온" panose="020B0604020202020204" charset="-127"/>
                <a:ea typeface="TDTD가온" panose="020B0604020202020204" charset="-127"/>
              </a:rPr>
              <a:t>sistem</a:t>
            </a:r>
            <a:r>
              <a:rPr lang="en-ID" sz="2800" dirty="0">
                <a:latin typeface="TDTD가온" panose="020B0604020202020204" charset="-127"/>
                <a:ea typeface="TDTD가온" panose="020B0604020202020204" charset="-127"/>
              </a:rPr>
              <a:t> </a:t>
            </a:r>
            <a:r>
              <a:rPr lang="en-ID" sz="2800" dirty="0" err="1">
                <a:latin typeface="TDTD가온" panose="020B0604020202020204" charset="-127"/>
                <a:ea typeface="TDTD가온" panose="020B0604020202020204" charset="-127"/>
              </a:rPr>
              <a:t>pencernaan</a:t>
            </a:r>
            <a:r>
              <a:rPr lang="en-ID" sz="2800" dirty="0">
                <a:latin typeface="TDTD가온" panose="020B0604020202020204" charset="-127"/>
                <a:ea typeface="TDTD가온" panose="020B0604020202020204" charset="-127"/>
              </a:rPr>
              <a:t> pada </a:t>
            </a:r>
            <a:r>
              <a:rPr lang="en-ID" sz="2800" dirty="0" err="1">
                <a:latin typeface="TDTD가온" panose="020B0604020202020204" charset="-127"/>
                <a:ea typeface="TDTD가온" panose="020B0604020202020204" charset="-127"/>
              </a:rPr>
              <a:t>manusia</a:t>
            </a:r>
            <a:endParaRPr lang="en-ID" sz="2800" dirty="0">
              <a:latin typeface="TDTD가온" panose="020B0604020202020204" charset="-127"/>
              <a:ea typeface="TDTD가온" panose="020B0604020202020204" charset="-127"/>
            </a:endParaRPr>
          </a:p>
          <a:p>
            <a:pPr algn="l">
              <a:lnSpc>
                <a:spcPts val="3359"/>
              </a:lnSpc>
            </a:pPr>
            <a:endParaRPr lang="en-US" sz="2400" dirty="0">
              <a:solidFill>
                <a:srgbClr val="7A4C51"/>
              </a:solidFill>
              <a:latin typeface="TDTD가온"/>
              <a:ea typeface="TDTD가온"/>
              <a:cs typeface="TDTD가온"/>
              <a:sym typeface="TDTD가온"/>
            </a:endParaRPr>
          </a:p>
        </p:txBody>
      </p:sp>
      <p:sp>
        <p:nvSpPr>
          <p:cNvPr id="22" name="TextBox 22"/>
          <p:cNvSpPr txBox="1"/>
          <p:nvPr/>
        </p:nvSpPr>
        <p:spPr>
          <a:xfrm>
            <a:off x="2243121" y="4487273"/>
            <a:ext cx="593958" cy="695325"/>
          </a:xfrm>
          <a:prstGeom prst="rect">
            <a:avLst/>
          </a:prstGeom>
        </p:spPr>
        <p:txBody>
          <a:bodyPr lIns="0" tIns="0" rIns="0" bIns="0" rtlCol="0" anchor="t">
            <a:spAutoFit/>
          </a:bodyPr>
          <a:lstStyle/>
          <a:p>
            <a:pPr algn="ctr">
              <a:lnSpc>
                <a:spcPts val="4200"/>
              </a:lnSpc>
            </a:pPr>
            <a:r>
              <a:rPr lang="en-US" sz="3000" b="1" dirty="0">
                <a:solidFill>
                  <a:srgbClr val="FFFFFF"/>
                </a:solidFill>
                <a:latin typeface="Prachason Neue Mon Bold"/>
                <a:ea typeface="Prachason Neue Mon Bold"/>
                <a:cs typeface="Prachason Neue Mon Bold"/>
                <a:sym typeface="Prachason Neue Mon Bold"/>
              </a:rPr>
              <a:t>01.</a:t>
            </a:r>
          </a:p>
        </p:txBody>
      </p:sp>
      <p:grpSp>
        <p:nvGrpSpPr>
          <p:cNvPr id="23" name="Group 23"/>
          <p:cNvGrpSpPr/>
          <p:nvPr/>
        </p:nvGrpSpPr>
        <p:grpSpPr>
          <a:xfrm>
            <a:off x="2149559" y="5496923"/>
            <a:ext cx="781083" cy="777240"/>
            <a:chOff x="0" y="0"/>
            <a:chExt cx="303502" cy="302008"/>
          </a:xfrm>
        </p:grpSpPr>
        <p:sp>
          <p:nvSpPr>
            <p:cNvPr id="24" name="Freeform 24"/>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FDCEA0"/>
            </a:solidFill>
          </p:spPr>
        </p:sp>
        <p:sp>
          <p:nvSpPr>
            <p:cNvPr id="25" name="TextBox 25"/>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26" name="TextBox 26"/>
          <p:cNvSpPr txBox="1"/>
          <p:nvPr/>
        </p:nvSpPr>
        <p:spPr>
          <a:xfrm>
            <a:off x="3165806" y="5658475"/>
            <a:ext cx="12949447" cy="846963"/>
          </a:xfrm>
          <a:prstGeom prst="rect">
            <a:avLst/>
          </a:prstGeom>
        </p:spPr>
        <p:txBody>
          <a:bodyPr lIns="0" tIns="0" rIns="0" bIns="0" rtlCol="0" anchor="t">
            <a:spAutoFit/>
          </a:bodyPr>
          <a:lstStyle/>
          <a:p>
            <a:pPr>
              <a:lnSpc>
                <a:spcPts val="3359"/>
              </a:lnSpc>
            </a:pPr>
            <a:r>
              <a:rPr lang="en-ID" sz="2800" dirty="0" err="1">
                <a:latin typeface="TDTD가온" panose="020B0604020202020204" charset="-127"/>
                <a:ea typeface="TDTD가온" panose="020B0604020202020204" charset="-127"/>
              </a:rPr>
              <a:t>Siswa</a:t>
            </a:r>
            <a:r>
              <a:rPr lang="en-ID" sz="2800" dirty="0">
                <a:latin typeface="TDTD가온" panose="020B0604020202020204" charset="-127"/>
                <a:ea typeface="TDTD가온" panose="020B0604020202020204" charset="-127"/>
              </a:rPr>
              <a:t> </a:t>
            </a:r>
            <a:r>
              <a:rPr lang="en-ID" sz="2800" dirty="0" err="1">
                <a:latin typeface="TDTD가온" panose="020B0604020202020204" charset="-127"/>
                <a:ea typeface="TDTD가온" panose="020B0604020202020204" charset="-127"/>
              </a:rPr>
              <a:t>dapat</a:t>
            </a:r>
            <a:r>
              <a:rPr lang="en-ID" sz="2800" dirty="0">
                <a:latin typeface="TDTD가온" panose="020B0604020202020204" charset="-127"/>
                <a:ea typeface="TDTD가온" panose="020B0604020202020204" charset="-127"/>
              </a:rPr>
              <a:t> </a:t>
            </a:r>
            <a:r>
              <a:rPr lang="en-ID" sz="2800" dirty="0" err="1">
                <a:latin typeface="TDTD가온" panose="020B0604020202020204" charset="-127"/>
                <a:ea typeface="TDTD가온" panose="020B0604020202020204" charset="-127"/>
              </a:rPr>
              <a:t>mengevaluasi</a:t>
            </a:r>
            <a:r>
              <a:rPr lang="en-ID" sz="2800" dirty="0">
                <a:latin typeface="TDTD가온" panose="020B0604020202020204" charset="-127"/>
                <a:ea typeface="TDTD가온" panose="020B0604020202020204" charset="-127"/>
              </a:rPr>
              <a:t> proses </a:t>
            </a:r>
            <a:r>
              <a:rPr lang="en-ID" sz="2800" dirty="0" err="1">
                <a:latin typeface="TDTD가온" panose="020B0604020202020204" charset="-127"/>
                <a:ea typeface="TDTD가온" panose="020B0604020202020204" charset="-127"/>
              </a:rPr>
              <a:t>pencernaan</a:t>
            </a:r>
            <a:r>
              <a:rPr lang="en-ID" sz="2800" dirty="0">
                <a:latin typeface="TDTD가온" panose="020B0604020202020204" charset="-127"/>
                <a:ea typeface="TDTD가온" panose="020B0604020202020204" charset="-127"/>
              </a:rPr>
              <a:t> pada </a:t>
            </a:r>
            <a:r>
              <a:rPr lang="en-ID" sz="2800" dirty="0" err="1">
                <a:latin typeface="TDTD가온" panose="020B0604020202020204" charset="-127"/>
                <a:ea typeface="TDTD가온" panose="020B0604020202020204" charset="-127"/>
              </a:rPr>
              <a:t>manusia</a:t>
            </a:r>
            <a:endParaRPr lang="en-ID" sz="2800" dirty="0">
              <a:latin typeface="TDTD가온" panose="020B0604020202020204" charset="-127"/>
              <a:ea typeface="TDTD가온" panose="020B0604020202020204" charset="-127"/>
            </a:endParaRPr>
          </a:p>
          <a:p>
            <a:pPr algn="l">
              <a:lnSpc>
                <a:spcPts val="3359"/>
              </a:lnSpc>
            </a:pPr>
            <a:r>
              <a:rPr lang="en-US" sz="2400" dirty="0">
                <a:solidFill>
                  <a:srgbClr val="7A4C51"/>
                </a:solidFill>
                <a:latin typeface="TDTD가온"/>
                <a:ea typeface="TDTD가온"/>
                <a:cs typeface="TDTD가온"/>
                <a:sym typeface="TDTD가온"/>
              </a:rPr>
              <a:t>.</a:t>
            </a:r>
          </a:p>
        </p:txBody>
      </p:sp>
      <p:sp>
        <p:nvSpPr>
          <p:cNvPr id="27" name="TextBox 27"/>
          <p:cNvSpPr txBox="1"/>
          <p:nvPr/>
        </p:nvSpPr>
        <p:spPr>
          <a:xfrm>
            <a:off x="2308801" y="5591411"/>
            <a:ext cx="593958" cy="695325"/>
          </a:xfrm>
          <a:prstGeom prst="rect">
            <a:avLst/>
          </a:prstGeom>
        </p:spPr>
        <p:txBody>
          <a:bodyPr lIns="0" tIns="0" rIns="0" bIns="0" rtlCol="0" anchor="t">
            <a:spAutoFit/>
          </a:bodyPr>
          <a:lstStyle/>
          <a:p>
            <a:pPr algn="ctr">
              <a:lnSpc>
                <a:spcPts val="4200"/>
              </a:lnSpc>
            </a:pPr>
            <a:r>
              <a:rPr lang="en-US" sz="3000" b="1" dirty="0">
                <a:solidFill>
                  <a:srgbClr val="7A4C51"/>
                </a:solidFill>
                <a:latin typeface="Prachason Neue Mon Bold"/>
                <a:ea typeface="Prachason Neue Mon Bold"/>
                <a:cs typeface="Prachason Neue Mon Bold"/>
                <a:sym typeface="Prachason Neue Mon Bold"/>
              </a:rPr>
              <a:t>02.</a:t>
            </a:r>
          </a:p>
        </p:txBody>
      </p:sp>
      <p:sp>
        <p:nvSpPr>
          <p:cNvPr id="32" name="TextBox 32"/>
          <p:cNvSpPr txBox="1"/>
          <p:nvPr/>
        </p:nvSpPr>
        <p:spPr>
          <a:xfrm>
            <a:off x="2243121" y="6510383"/>
            <a:ext cx="593958" cy="695325"/>
          </a:xfrm>
          <a:prstGeom prst="rect">
            <a:avLst/>
          </a:prstGeom>
        </p:spPr>
        <p:txBody>
          <a:bodyPr lIns="0" tIns="0" rIns="0" bIns="0" rtlCol="0" anchor="t">
            <a:spAutoFit/>
          </a:bodyPr>
          <a:lstStyle/>
          <a:p>
            <a:pPr algn="ctr">
              <a:lnSpc>
                <a:spcPts val="4200"/>
              </a:lnSpc>
            </a:pPr>
            <a:r>
              <a:rPr lang="en-US" sz="3000" b="1">
                <a:solidFill>
                  <a:srgbClr val="FFFFFF"/>
                </a:solidFill>
                <a:latin typeface="Prachason Neue Mon Bold"/>
                <a:ea typeface="Prachason Neue Mon Bold"/>
                <a:cs typeface="Prachason Neue Mon Bold"/>
                <a:sym typeface="Prachason Neue Mon Bold"/>
              </a:rPr>
              <a:t>03.</a:t>
            </a:r>
          </a:p>
        </p:txBody>
      </p:sp>
      <p:sp>
        <p:nvSpPr>
          <p:cNvPr id="38" name="Freeform 38"/>
          <p:cNvSpPr/>
          <p:nvPr/>
        </p:nvSpPr>
        <p:spPr>
          <a:xfrm>
            <a:off x="12144813" y="1914042"/>
            <a:ext cx="575635" cy="624829"/>
          </a:xfrm>
          <a:custGeom>
            <a:avLst/>
            <a:gdLst/>
            <a:ahLst/>
            <a:cxnLst/>
            <a:rect l="l" t="t" r="r" b="b"/>
            <a:pathLst>
              <a:path w="575635" h="624829">
                <a:moveTo>
                  <a:pt x="0" y="0"/>
                </a:moveTo>
                <a:lnTo>
                  <a:pt x="575635" y="0"/>
                </a:lnTo>
                <a:lnTo>
                  <a:pt x="575635" y="624830"/>
                </a:lnTo>
                <a:lnTo>
                  <a:pt x="0" y="6248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9" name="Freeform 39"/>
          <p:cNvSpPr/>
          <p:nvPr/>
        </p:nvSpPr>
        <p:spPr>
          <a:xfrm>
            <a:off x="15370072" y="2630074"/>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40" name="Group 40"/>
          <p:cNvGrpSpPr/>
          <p:nvPr/>
        </p:nvGrpSpPr>
        <p:grpSpPr>
          <a:xfrm>
            <a:off x="-707956" y="9491426"/>
            <a:ext cx="19703911" cy="1472127"/>
            <a:chOff x="0" y="0"/>
            <a:chExt cx="7656247" cy="572017"/>
          </a:xfrm>
        </p:grpSpPr>
        <p:sp>
          <p:nvSpPr>
            <p:cNvPr id="41" name="Freeform 41"/>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42" name="TextBox 42"/>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1452339" y="1709788"/>
            <a:ext cx="15383321" cy="1716847"/>
            <a:chOff x="0" y="0"/>
            <a:chExt cx="5977418" cy="667106"/>
          </a:xfrm>
        </p:grpSpPr>
        <p:sp>
          <p:nvSpPr>
            <p:cNvPr id="3" name="Freeform 3"/>
            <p:cNvSpPr/>
            <p:nvPr/>
          </p:nvSpPr>
          <p:spPr>
            <a:xfrm>
              <a:off x="0" y="0"/>
              <a:ext cx="5977418" cy="667106"/>
            </a:xfrm>
            <a:custGeom>
              <a:avLst/>
              <a:gdLst/>
              <a:ahLst/>
              <a:cxnLst/>
              <a:rect l="l" t="t" r="r" b="b"/>
              <a:pathLst>
                <a:path w="5977418" h="667106">
                  <a:moveTo>
                    <a:pt x="50327" y="0"/>
                  </a:moveTo>
                  <a:lnTo>
                    <a:pt x="5927091" y="0"/>
                  </a:lnTo>
                  <a:cubicBezTo>
                    <a:pt x="5940439" y="0"/>
                    <a:pt x="5953239" y="5302"/>
                    <a:pt x="5962678" y="14740"/>
                  </a:cubicBezTo>
                  <a:cubicBezTo>
                    <a:pt x="5972115" y="24178"/>
                    <a:pt x="5977418" y="36979"/>
                    <a:pt x="5977418" y="50327"/>
                  </a:cubicBezTo>
                  <a:lnTo>
                    <a:pt x="5977418" y="616780"/>
                  </a:lnTo>
                  <a:cubicBezTo>
                    <a:pt x="5977418" y="644574"/>
                    <a:pt x="5954886" y="667106"/>
                    <a:pt x="5927091" y="667106"/>
                  </a:cubicBezTo>
                  <a:lnTo>
                    <a:pt x="50327" y="667106"/>
                  </a:lnTo>
                  <a:cubicBezTo>
                    <a:pt x="36979" y="667106"/>
                    <a:pt x="24178" y="661804"/>
                    <a:pt x="14740" y="652366"/>
                  </a:cubicBezTo>
                  <a:cubicBezTo>
                    <a:pt x="5302" y="642928"/>
                    <a:pt x="0" y="630127"/>
                    <a:pt x="0" y="616780"/>
                  </a:cubicBezTo>
                  <a:lnTo>
                    <a:pt x="0" y="50327"/>
                  </a:lnTo>
                  <a:cubicBezTo>
                    <a:pt x="0" y="36979"/>
                    <a:pt x="5302" y="24178"/>
                    <a:pt x="14740" y="14740"/>
                  </a:cubicBezTo>
                  <a:cubicBezTo>
                    <a:pt x="24178" y="5302"/>
                    <a:pt x="36979" y="0"/>
                    <a:pt x="50327" y="0"/>
                  </a:cubicBezTo>
                  <a:close/>
                </a:path>
              </a:pathLst>
            </a:custGeom>
            <a:solidFill>
              <a:srgbClr val="E47A7A"/>
            </a:solidFill>
          </p:spPr>
        </p:sp>
        <p:sp>
          <p:nvSpPr>
            <p:cNvPr id="4" name="TextBox 4"/>
            <p:cNvSpPr txBox="1"/>
            <p:nvPr/>
          </p:nvSpPr>
          <p:spPr>
            <a:xfrm>
              <a:off x="0" y="-95250"/>
              <a:ext cx="5977418" cy="76235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452339" y="3727315"/>
            <a:ext cx="15383321" cy="5187766"/>
            <a:chOff x="0" y="0"/>
            <a:chExt cx="5977418" cy="2015784"/>
          </a:xfrm>
        </p:grpSpPr>
        <p:sp>
          <p:nvSpPr>
            <p:cNvPr id="6" name="Freeform 6"/>
            <p:cNvSpPr/>
            <p:nvPr/>
          </p:nvSpPr>
          <p:spPr>
            <a:xfrm>
              <a:off x="0" y="0"/>
              <a:ext cx="5977418" cy="2015784"/>
            </a:xfrm>
            <a:custGeom>
              <a:avLst/>
              <a:gdLst/>
              <a:ahLst/>
              <a:cxnLst/>
              <a:rect l="l" t="t" r="r" b="b"/>
              <a:pathLst>
                <a:path w="5977418" h="2015784">
                  <a:moveTo>
                    <a:pt x="10065" y="0"/>
                  </a:moveTo>
                  <a:lnTo>
                    <a:pt x="5967352" y="0"/>
                  </a:lnTo>
                  <a:cubicBezTo>
                    <a:pt x="5972911" y="0"/>
                    <a:pt x="5977418" y="4506"/>
                    <a:pt x="5977418" y="10065"/>
                  </a:cubicBezTo>
                  <a:lnTo>
                    <a:pt x="5977418" y="2005718"/>
                  </a:lnTo>
                  <a:cubicBezTo>
                    <a:pt x="5977418" y="2011277"/>
                    <a:pt x="5972911" y="2015784"/>
                    <a:pt x="5967352" y="2015784"/>
                  </a:cubicBezTo>
                  <a:lnTo>
                    <a:pt x="10065" y="2015784"/>
                  </a:lnTo>
                  <a:cubicBezTo>
                    <a:pt x="4506" y="2015784"/>
                    <a:pt x="0" y="2011277"/>
                    <a:pt x="0" y="2005718"/>
                  </a:cubicBezTo>
                  <a:lnTo>
                    <a:pt x="0" y="10065"/>
                  </a:lnTo>
                  <a:cubicBezTo>
                    <a:pt x="0" y="4506"/>
                    <a:pt x="4506" y="0"/>
                    <a:pt x="10065" y="0"/>
                  </a:cubicBezTo>
                  <a:close/>
                </a:path>
              </a:pathLst>
            </a:custGeom>
            <a:solidFill>
              <a:srgbClr val="FFFFFF"/>
            </a:solidFill>
          </p:spPr>
        </p:sp>
        <p:sp>
          <p:nvSpPr>
            <p:cNvPr id="7" name="TextBox 7"/>
            <p:cNvSpPr txBox="1"/>
            <p:nvPr/>
          </p:nvSpPr>
          <p:spPr>
            <a:xfrm>
              <a:off x="0" y="-95250"/>
              <a:ext cx="5977418" cy="2111034"/>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1755657" y="3961447"/>
            <a:ext cx="14776686" cy="4719502"/>
            <a:chOff x="0" y="0"/>
            <a:chExt cx="5741701" cy="1833833"/>
          </a:xfrm>
        </p:grpSpPr>
        <p:sp>
          <p:nvSpPr>
            <p:cNvPr id="9" name="Freeform 9"/>
            <p:cNvSpPr/>
            <p:nvPr/>
          </p:nvSpPr>
          <p:spPr>
            <a:xfrm>
              <a:off x="0" y="0"/>
              <a:ext cx="5741701" cy="1833833"/>
            </a:xfrm>
            <a:custGeom>
              <a:avLst/>
              <a:gdLst/>
              <a:ahLst/>
              <a:cxnLst/>
              <a:rect l="l" t="t" r="r" b="b"/>
              <a:pathLst>
                <a:path w="5741701" h="1833833">
                  <a:moveTo>
                    <a:pt x="10479" y="0"/>
                  </a:moveTo>
                  <a:lnTo>
                    <a:pt x="5731222" y="0"/>
                  </a:lnTo>
                  <a:cubicBezTo>
                    <a:pt x="5737009" y="0"/>
                    <a:pt x="5741701" y="4691"/>
                    <a:pt x="5741701" y="10479"/>
                  </a:cubicBezTo>
                  <a:lnTo>
                    <a:pt x="5741701" y="1823354"/>
                  </a:lnTo>
                  <a:cubicBezTo>
                    <a:pt x="5741701" y="1829141"/>
                    <a:pt x="5737009" y="1833833"/>
                    <a:pt x="5731222" y="1833833"/>
                  </a:cubicBezTo>
                  <a:lnTo>
                    <a:pt x="10479" y="1833833"/>
                  </a:lnTo>
                  <a:cubicBezTo>
                    <a:pt x="7699" y="1833833"/>
                    <a:pt x="5034" y="1832729"/>
                    <a:pt x="3069" y="1830764"/>
                  </a:cubicBezTo>
                  <a:cubicBezTo>
                    <a:pt x="1104" y="1828798"/>
                    <a:pt x="0" y="1826133"/>
                    <a:pt x="0" y="1823354"/>
                  </a:cubicBezTo>
                  <a:lnTo>
                    <a:pt x="0" y="10479"/>
                  </a:lnTo>
                  <a:cubicBezTo>
                    <a:pt x="0" y="4691"/>
                    <a:pt x="4691" y="0"/>
                    <a:pt x="10479" y="0"/>
                  </a:cubicBezTo>
                  <a:close/>
                </a:path>
              </a:pathLst>
            </a:custGeom>
            <a:solidFill>
              <a:srgbClr val="FFFBF3"/>
            </a:solidFill>
            <a:ln w="47625" cap="sq">
              <a:solidFill>
                <a:srgbClr val="E8B19A"/>
              </a:solidFill>
              <a:prstDash val="lgDash"/>
              <a:miter/>
            </a:ln>
          </p:spPr>
        </p:sp>
        <p:sp>
          <p:nvSpPr>
            <p:cNvPr id="10" name="TextBox 10"/>
            <p:cNvSpPr txBox="1"/>
            <p:nvPr/>
          </p:nvSpPr>
          <p:spPr>
            <a:xfrm>
              <a:off x="0" y="-95250"/>
              <a:ext cx="5741701" cy="1929083"/>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6427201" y="1371919"/>
            <a:ext cx="5433598" cy="675737"/>
            <a:chOff x="0" y="0"/>
            <a:chExt cx="1431071" cy="177972"/>
          </a:xfrm>
        </p:grpSpPr>
        <p:sp>
          <p:nvSpPr>
            <p:cNvPr id="12" name="Freeform 12"/>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13" name="TextBox 13"/>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sp>
        <p:nvSpPr>
          <p:cNvPr id="14" name="TextBox 14"/>
          <p:cNvSpPr txBox="1"/>
          <p:nvPr/>
        </p:nvSpPr>
        <p:spPr>
          <a:xfrm>
            <a:off x="6740040" y="1473568"/>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15" name="Freeform 15"/>
          <p:cNvSpPr/>
          <p:nvPr/>
        </p:nvSpPr>
        <p:spPr>
          <a:xfrm>
            <a:off x="2293283" y="4369830"/>
            <a:ext cx="3884124" cy="4545251"/>
          </a:xfrm>
          <a:custGeom>
            <a:avLst/>
            <a:gdLst/>
            <a:ahLst/>
            <a:cxnLst/>
            <a:rect l="l" t="t" r="r" b="b"/>
            <a:pathLst>
              <a:path w="3884124" h="4545251">
                <a:moveTo>
                  <a:pt x="0" y="0"/>
                </a:moveTo>
                <a:lnTo>
                  <a:pt x="3884123" y="0"/>
                </a:lnTo>
                <a:lnTo>
                  <a:pt x="3884123" y="4545251"/>
                </a:lnTo>
                <a:lnTo>
                  <a:pt x="0" y="4545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6762804" y="4425723"/>
            <a:ext cx="9249708" cy="3724275"/>
          </a:xfrm>
          <a:prstGeom prst="rect">
            <a:avLst/>
          </a:prstGeom>
        </p:spPr>
        <p:txBody>
          <a:bodyPr lIns="0" tIns="0" rIns="0" bIns="0" rtlCol="0" anchor="t">
            <a:spAutoFit/>
          </a:bodyPr>
          <a:lstStyle/>
          <a:p>
            <a:pPr algn="l">
              <a:lnSpc>
                <a:spcPts val="4200"/>
              </a:lnSpc>
            </a:pPr>
            <a:r>
              <a:rPr lang="en-US" sz="3000">
                <a:solidFill>
                  <a:srgbClr val="7A4C51"/>
                </a:solidFill>
                <a:latin typeface="TDTD가온"/>
                <a:ea typeface="TDTD가온"/>
                <a:cs typeface="TDTD가온"/>
                <a:sym typeface="TDTD가온"/>
              </a:rPr>
              <a:t>Sistem pencernaan adalah kumpulan organ dan juga struktur yang bekerja bersama untuk memproses makanan, menyerap nutrisi, serta mengeluarkan zat sisa dari tubuh. Proses ini dimulai dari mulut, di mana makanan dikunyah dan bercampur dengan enzim dalam air liur, lalu lanjut ke kerongkongan, lambung, usus halus, serta juga usus besar.</a:t>
            </a:r>
          </a:p>
        </p:txBody>
      </p:sp>
      <p:sp>
        <p:nvSpPr>
          <p:cNvPr id="17" name="Freeform 17"/>
          <p:cNvSpPr/>
          <p:nvPr/>
        </p:nvSpPr>
        <p:spPr>
          <a:xfrm>
            <a:off x="2293283" y="5143500"/>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5295518" y="4831085"/>
            <a:ext cx="575635" cy="624829"/>
          </a:xfrm>
          <a:custGeom>
            <a:avLst/>
            <a:gdLst/>
            <a:ahLst/>
            <a:cxnLst/>
            <a:rect l="l" t="t" r="r" b="b"/>
            <a:pathLst>
              <a:path w="575635" h="624829">
                <a:moveTo>
                  <a:pt x="0" y="0"/>
                </a:moveTo>
                <a:lnTo>
                  <a:pt x="575636" y="0"/>
                </a:lnTo>
                <a:lnTo>
                  <a:pt x="575636" y="624830"/>
                </a:lnTo>
                <a:lnTo>
                  <a:pt x="0" y="6248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Freeform 19"/>
          <p:cNvSpPr/>
          <p:nvPr/>
        </p:nvSpPr>
        <p:spPr>
          <a:xfrm>
            <a:off x="15443898" y="2176614"/>
            <a:ext cx="661333" cy="1000125"/>
          </a:xfrm>
          <a:custGeom>
            <a:avLst/>
            <a:gdLst/>
            <a:ahLst/>
            <a:cxnLst/>
            <a:rect l="l" t="t" r="r" b="b"/>
            <a:pathLst>
              <a:path w="661333" h="1000125">
                <a:moveTo>
                  <a:pt x="0" y="0"/>
                </a:moveTo>
                <a:lnTo>
                  <a:pt x="661332" y="0"/>
                </a:lnTo>
                <a:lnTo>
                  <a:pt x="661332" y="1000125"/>
                </a:lnTo>
                <a:lnTo>
                  <a:pt x="0" y="10001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TextBox 20"/>
          <p:cNvSpPr txBox="1"/>
          <p:nvPr/>
        </p:nvSpPr>
        <p:spPr>
          <a:xfrm>
            <a:off x="2985848" y="2205189"/>
            <a:ext cx="12315174" cy="971550"/>
          </a:xfrm>
          <a:prstGeom prst="rect">
            <a:avLst/>
          </a:prstGeom>
        </p:spPr>
        <p:txBody>
          <a:bodyPr lIns="0" tIns="0" rIns="0" bIns="0" rtlCol="0" anchor="t">
            <a:spAutoFit/>
          </a:bodyPr>
          <a:lstStyle/>
          <a:p>
            <a:pPr algn="ctr">
              <a:lnSpc>
                <a:spcPts val="6270"/>
              </a:lnSpc>
            </a:pPr>
            <a:r>
              <a:rPr lang="en-US" sz="6600" spc="-66">
                <a:solidFill>
                  <a:srgbClr val="FFFFFF"/>
                </a:solidFill>
                <a:latin typeface="Funtastic"/>
                <a:ea typeface="Funtastic"/>
                <a:cs typeface="Funtastic"/>
                <a:sym typeface="Funtastic"/>
              </a:rPr>
              <a:t>Pengertian Sistem Pencernaan </a:t>
            </a:r>
          </a:p>
        </p:txBody>
      </p:sp>
      <p:sp>
        <p:nvSpPr>
          <p:cNvPr id="21" name="Freeform 21"/>
          <p:cNvSpPr/>
          <p:nvPr/>
        </p:nvSpPr>
        <p:spPr>
          <a:xfrm flipH="1">
            <a:off x="2182770" y="2176614"/>
            <a:ext cx="661333" cy="1000125"/>
          </a:xfrm>
          <a:custGeom>
            <a:avLst/>
            <a:gdLst/>
            <a:ahLst/>
            <a:cxnLst/>
            <a:rect l="l" t="t" r="r" b="b"/>
            <a:pathLst>
              <a:path w="661333" h="1000125">
                <a:moveTo>
                  <a:pt x="661332" y="0"/>
                </a:moveTo>
                <a:lnTo>
                  <a:pt x="0" y="0"/>
                </a:lnTo>
                <a:lnTo>
                  <a:pt x="0" y="1000125"/>
                </a:lnTo>
                <a:lnTo>
                  <a:pt x="661332" y="1000125"/>
                </a:lnTo>
                <a:lnTo>
                  <a:pt x="661332"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2" name="Group 22"/>
          <p:cNvGrpSpPr/>
          <p:nvPr/>
        </p:nvGrpSpPr>
        <p:grpSpPr>
          <a:xfrm>
            <a:off x="-707956" y="9491426"/>
            <a:ext cx="19703911" cy="1472127"/>
            <a:chOff x="0" y="0"/>
            <a:chExt cx="7656247" cy="572017"/>
          </a:xfrm>
        </p:grpSpPr>
        <p:sp>
          <p:nvSpPr>
            <p:cNvPr id="23" name="Freeform 23"/>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24" name="TextBox 24"/>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1452339" y="1368428"/>
            <a:ext cx="15383321" cy="7550145"/>
            <a:chOff x="0" y="0"/>
            <a:chExt cx="5977418" cy="2933721"/>
          </a:xfrm>
        </p:grpSpPr>
        <p:sp>
          <p:nvSpPr>
            <p:cNvPr id="3" name="Freeform 3"/>
            <p:cNvSpPr/>
            <p:nvPr/>
          </p:nvSpPr>
          <p:spPr>
            <a:xfrm>
              <a:off x="0" y="0"/>
              <a:ext cx="5977418" cy="2933721"/>
            </a:xfrm>
            <a:custGeom>
              <a:avLst/>
              <a:gdLst/>
              <a:ahLst/>
              <a:cxnLst/>
              <a:rect l="l" t="t" r="r" b="b"/>
              <a:pathLst>
                <a:path w="5977418" h="2933721">
                  <a:moveTo>
                    <a:pt x="10065" y="0"/>
                  </a:moveTo>
                  <a:lnTo>
                    <a:pt x="5967352" y="0"/>
                  </a:lnTo>
                  <a:cubicBezTo>
                    <a:pt x="5972911" y="0"/>
                    <a:pt x="5977418" y="4506"/>
                    <a:pt x="5977418" y="10065"/>
                  </a:cubicBezTo>
                  <a:lnTo>
                    <a:pt x="5977418" y="2923655"/>
                  </a:lnTo>
                  <a:cubicBezTo>
                    <a:pt x="5977418" y="2929214"/>
                    <a:pt x="5972911" y="2933721"/>
                    <a:pt x="5967352" y="2933721"/>
                  </a:cubicBezTo>
                  <a:lnTo>
                    <a:pt x="10065" y="2933721"/>
                  </a:lnTo>
                  <a:cubicBezTo>
                    <a:pt x="4506" y="2933721"/>
                    <a:pt x="0" y="2929214"/>
                    <a:pt x="0" y="2923655"/>
                  </a:cubicBezTo>
                  <a:lnTo>
                    <a:pt x="0" y="10065"/>
                  </a:lnTo>
                  <a:cubicBezTo>
                    <a:pt x="0" y="4506"/>
                    <a:pt x="4506" y="0"/>
                    <a:pt x="10065" y="0"/>
                  </a:cubicBezTo>
                  <a:close/>
                </a:path>
              </a:pathLst>
            </a:custGeom>
            <a:solidFill>
              <a:srgbClr val="FFFFFF"/>
            </a:solidFill>
          </p:spPr>
        </p:sp>
        <p:sp>
          <p:nvSpPr>
            <p:cNvPr id="4" name="TextBox 4"/>
            <p:cNvSpPr txBox="1"/>
            <p:nvPr/>
          </p:nvSpPr>
          <p:spPr>
            <a:xfrm>
              <a:off x="0" y="-95250"/>
              <a:ext cx="5977418" cy="302897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871667" y="1708023"/>
            <a:ext cx="14544667" cy="6870954"/>
            <a:chOff x="0" y="0"/>
            <a:chExt cx="5651546" cy="2669811"/>
          </a:xfrm>
        </p:grpSpPr>
        <p:sp>
          <p:nvSpPr>
            <p:cNvPr id="6" name="Freeform 6"/>
            <p:cNvSpPr/>
            <p:nvPr/>
          </p:nvSpPr>
          <p:spPr>
            <a:xfrm>
              <a:off x="0" y="0"/>
              <a:ext cx="5651546" cy="2669811"/>
            </a:xfrm>
            <a:custGeom>
              <a:avLst/>
              <a:gdLst/>
              <a:ahLst/>
              <a:cxnLst/>
              <a:rect l="l" t="t" r="r" b="b"/>
              <a:pathLst>
                <a:path w="5651546" h="2669811">
                  <a:moveTo>
                    <a:pt x="10646" y="0"/>
                  </a:moveTo>
                  <a:lnTo>
                    <a:pt x="5640900" y="0"/>
                  </a:lnTo>
                  <a:cubicBezTo>
                    <a:pt x="5646780" y="0"/>
                    <a:pt x="5651546" y="4766"/>
                    <a:pt x="5651546" y="10646"/>
                  </a:cubicBezTo>
                  <a:lnTo>
                    <a:pt x="5651546" y="2659165"/>
                  </a:lnTo>
                  <a:cubicBezTo>
                    <a:pt x="5651546" y="2665045"/>
                    <a:pt x="5646780" y="2669811"/>
                    <a:pt x="5640900" y="2669811"/>
                  </a:cubicBezTo>
                  <a:lnTo>
                    <a:pt x="10646" y="2669811"/>
                  </a:lnTo>
                  <a:cubicBezTo>
                    <a:pt x="7822" y="2669811"/>
                    <a:pt x="5115" y="2668689"/>
                    <a:pt x="3118" y="2666693"/>
                  </a:cubicBezTo>
                  <a:cubicBezTo>
                    <a:pt x="1122" y="2664697"/>
                    <a:pt x="0" y="2661989"/>
                    <a:pt x="0" y="2659165"/>
                  </a:cubicBezTo>
                  <a:lnTo>
                    <a:pt x="0" y="10646"/>
                  </a:lnTo>
                  <a:cubicBezTo>
                    <a:pt x="0" y="4766"/>
                    <a:pt x="4766" y="0"/>
                    <a:pt x="10646" y="0"/>
                  </a:cubicBezTo>
                  <a:close/>
                </a:path>
              </a:pathLst>
            </a:custGeom>
            <a:solidFill>
              <a:srgbClr val="FFFBF3"/>
            </a:solidFill>
            <a:ln w="47625" cap="sq">
              <a:solidFill>
                <a:srgbClr val="E8B19A"/>
              </a:solidFill>
              <a:prstDash val="lgDash"/>
              <a:miter/>
            </a:ln>
          </p:spPr>
        </p:sp>
        <p:sp>
          <p:nvSpPr>
            <p:cNvPr id="7" name="TextBox 7"/>
            <p:cNvSpPr txBox="1"/>
            <p:nvPr/>
          </p:nvSpPr>
          <p:spPr>
            <a:xfrm>
              <a:off x="0" y="-95250"/>
              <a:ext cx="5651546" cy="2765061"/>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12582661" y="2229826"/>
            <a:ext cx="3386178" cy="6688746"/>
          </a:xfrm>
          <a:custGeom>
            <a:avLst/>
            <a:gdLst/>
            <a:ahLst/>
            <a:cxnLst/>
            <a:rect l="l" t="t" r="r" b="b"/>
            <a:pathLst>
              <a:path w="3386178" h="6688746">
                <a:moveTo>
                  <a:pt x="0" y="0"/>
                </a:moveTo>
                <a:lnTo>
                  <a:pt x="3386178" y="0"/>
                </a:lnTo>
                <a:lnTo>
                  <a:pt x="3386178" y="6688746"/>
                </a:lnTo>
                <a:lnTo>
                  <a:pt x="0" y="6688746"/>
                </a:lnTo>
                <a:lnTo>
                  <a:pt x="0" y="0"/>
                </a:lnTo>
                <a:close/>
              </a:path>
            </a:pathLst>
          </a:custGeom>
          <a:blipFill>
            <a:blip r:embed="rId2"/>
            <a:stretch>
              <a:fillRect/>
            </a:stretch>
          </a:blipFill>
        </p:spPr>
      </p:sp>
      <p:grpSp>
        <p:nvGrpSpPr>
          <p:cNvPr id="9" name="Group 9"/>
          <p:cNvGrpSpPr/>
          <p:nvPr/>
        </p:nvGrpSpPr>
        <p:grpSpPr>
          <a:xfrm>
            <a:off x="2319161" y="2229826"/>
            <a:ext cx="5433598" cy="675737"/>
            <a:chOff x="0" y="0"/>
            <a:chExt cx="1431071" cy="177972"/>
          </a:xfrm>
        </p:grpSpPr>
        <p:sp>
          <p:nvSpPr>
            <p:cNvPr id="10" name="Freeform 10"/>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11" name="TextBox 11"/>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sp>
        <p:nvSpPr>
          <p:cNvPr id="12" name="Freeform 12"/>
          <p:cNvSpPr/>
          <p:nvPr/>
        </p:nvSpPr>
        <p:spPr>
          <a:xfrm>
            <a:off x="10508187" y="3133098"/>
            <a:ext cx="661333" cy="1000125"/>
          </a:xfrm>
          <a:custGeom>
            <a:avLst/>
            <a:gdLst/>
            <a:ahLst/>
            <a:cxnLst/>
            <a:rect l="l" t="t" r="r" b="b"/>
            <a:pathLst>
              <a:path w="661333" h="1000125">
                <a:moveTo>
                  <a:pt x="0" y="0"/>
                </a:moveTo>
                <a:lnTo>
                  <a:pt x="661333" y="0"/>
                </a:lnTo>
                <a:lnTo>
                  <a:pt x="661333" y="1000125"/>
                </a:lnTo>
                <a:lnTo>
                  <a:pt x="0" y="10001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a:off x="2319161" y="4262414"/>
            <a:ext cx="781083" cy="777240"/>
            <a:chOff x="0" y="0"/>
            <a:chExt cx="303502" cy="302008"/>
          </a:xfrm>
        </p:grpSpPr>
        <p:sp>
          <p:nvSpPr>
            <p:cNvPr id="14" name="Freeform 14"/>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E47A7A"/>
            </a:solidFill>
          </p:spPr>
        </p:sp>
        <p:sp>
          <p:nvSpPr>
            <p:cNvPr id="15" name="TextBox 15"/>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grpSp>
        <p:nvGrpSpPr>
          <p:cNvPr id="16" name="Group 16"/>
          <p:cNvGrpSpPr/>
          <p:nvPr/>
        </p:nvGrpSpPr>
        <p:grpSpPr>
          <a:xfrm>
            <a:off x="2319161" y="5268254"/>
            <a:ext cx="781083" cy="777240"/>
            <a:chOff x="0" y="0"/>
            <a:chExt cx="303502" cy="302008"/>
          </a:xfrm>
        </p:grpSpPr>
        <p:sp>
          <p:nvSpPr>
            <p:cNvPr id="17" name="Freeform 17"/>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FDCEA0"/>
            </a:solidFill>
          </p:spPr>
        </p:sp>
        <p:sp>
          <p:nvSpPr>
            <p:cNvPr id="18" name="TextBox 18"/>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grpSp>
        <p:nvGrpSpPr>
          <p:cNvPr id="19" name="Group 19"/>
          <p:cNvGrpSpPr/>
          <p:nvPr/>
        </p:nvGrpSpPr>
        <p:grpSpPr>
          <a:xfrm>
            <a:off x="2319161" y="6274094"/>
            <a:ext cx="781083" cy="777240"/>
            <a:chOff x="0" y="0"/>
            <a:chExt cx="303502" cy="302008"/>
          </a:xfrm>
        </p:grpSpPr>
        <p:sp>
          <p:nvSpPr>
            <p:cNvPr id="20" name="Freeform 20"/>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E47A7A"/>
            </a:solidFill>
          </p:spPr>
        </p:sp>
        <p:sp>
          <p:nvSpPr>
            <p:cNvPr id="21" name="TextBox 21"/>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2319161" y="7279934"/>
            <a:ext cx="781083" cy="777240"/>
            <a:chOff x="0" y="0"/>
            <a:chExt cx="303502" cy="302008"/>
          </a:xfrm>
        </p:grpSpPr>
        <p:sp>
          <p:nvSpPr>
            <p:cNvPr id="23" name="Freeform 23"/>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FDCEA0"/>
            </a:solidFill>
          </p:spPr>
        </p:sp>
        <p:sp>
          <p:nvSpPr>
            <p:cNvPr id="24" name="TextBox 24"/>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25" name="Freeform 25"/>
          <p:cNvSpPr/>
          <p:nvPr/>
        </p:nvSpPr>
        <p:spPr>
          <a:xfrm>
            <a:off x="12582661" y="2229826"/>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6" name="Freeform 26"/>
          <p:cNvSpPr/>
          <p:nvPr/>
        </p:nvSpPr>
        <p:spPr>
          <a:xfrm>
            <a:off x="15269896" y="3008331"/>
            <a:ext cx="575635" cy="624829"/>
          </a:xfrm>
          <a:custGeom>
            <a:avLst/>
            <a:gdLst/>
            <a:ahLst/>
            <a:cxnLst/>
            <a:rect l="l" t="t" r="r" b="b"/>
            <a:pathLst>
              <a:path w="575635" h="624829">
                <a:moveTo>
                  <a:pt x="0" y="0"/>
                </a:moveTo>
                <a:lnTo>
                  <a:pt x="575635" y="0"/>
                </a:lnTo>
                <a:lnTo>
                  <a:pt x="575635" y="624830"/>
                </a:lnTo>
                <a:lnTo>
                  <a:pt x="0" y="6248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7" name="TextBox 27"/>
          <p:cNvSpPr txBox="1"/>
          <p:nvPr/>
        </p:nvSpPr>
        <p:spPr>
          <a:xfrm>
            <a:off x="2632000" y="2331474"/>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28" name="TextBox 28"/>
          <p:cNvSpPr txBox="1"/>
          <p:nvPr/>
        </p:nvSpPr>
        <p:spPr>
          <a:xfrm>
            <a:off x="2319161" y="3161673"/>
            <a:ext cx="8189026" cy="971550"/>
          </a:xfrm>
          <a:prstGeom prst="rect">
            <a:avLst/>
          </a:prstGeom>
        </p:spPr>
        <p:txBody>
          <a:bodyPr lIns="0" tIns="0" rIns="0" bIns="0" rtlCol="0" anchor="t">
            <a:spAutoFit/>
          </a:bodyPr>
          <a:lstStyle/>
          <a:p>
            <a:pPr algn="l">
              <a:lnSpc>
                <a:spcPts val="6270"/>
              </a:lnSpc>
            </a:pPr>
            <a:r>
              <a:rPr lang="en-US" sz="6600" spc="-66">
                <a:solidFill>
                  <a:srgbClr val="593337"/>
                </a:solidFill>
                <a:latin typeface="Funtastic"/>
                <a:ea typeface="Funtastic"/>
                <a:cs typeface="Funtastic"/>
                <a:sym typeface="Funtastic"/>
              </a:rPr>
              <a:t>Pencernaan Manusia</a:t>
            </a:r>
          </a:p>
        </p:txBody>
      </p:sp>
      <p:sp>
        <p:nvSpPr>
          <p:cNvPr id="29" name="TextBox 29"/>
          <p:cNvSpPr txBox="1"/>
          <p:nvPr/>
        </p:nvSpPr>
        <p:spPr>
          <a:xfrm>
            <a:off x="2412724" y="4290989"/>
            <a:ext cx="593958" cy="539115"/>
          </a:xfrm>
          <a:prstGeom prst="rect">
            <a:avLst/>
          </a:prstGeom>
        </p:spPr>
        <p:txBody>
          <a:bodyPr lIns="0" tIns="0" rIns="0" bIns="0" rtlCol="0" anchor="t">
            <a:spAutoFit/>
          </a:bodyPr>
          <a:lstStyle/>
          <a:p>
            <a:pPr algn="ctr">
              <a:lnSpc>
                <a:spcPts val="3359"/>
              </a:lnSpc>
            </a:pPr>
            <a:r>
              <a:rPr lang="en-US" sz="2400" b="1">
                <a:solidFill>
                  <a:srgbClr val="FFFFFF"/>
                </a:solidFill>
                <a:latin typeface="Prachason Neue Mon Bold"/>
                <a:ea typeface="Prachason Neue Mon Bold"/>
                <a:cs typeface="Prachason Neue Mon Bold"/>
                <a:sym typeface="Prachason Neue Mon Bold"/>
              </a:rPr>
              <a:t>01.</a:t>
            </a:r>
          </a:p>
        </p:txBody>
      </p:sp>
      <p:sp>
        <p:nvSpPr>
          <p:cNvPr id="30" name="TextBox 30"/>
          <p:cNvSpPr txBox="1"/>
          <p:nvPr/>
        </p:nvSpPr>
        <p:spPr>
          <a:xfrm>
            <a:off x="3316547" y="4205264"/>
            <a:ext cx="8807420" cy="834390"/>
          </a:xfrm>
          <a:prstGeom prst="rect">
            <a:avLst/>
          </a:prstGeom>
        </p:spPr>
        <p:txBody>
          <a:bodyPr lIns="0" tIns="0" rIns="0" bIns="0" rtlCol="0" anchor="t">
            <a:spAutoFit/>
          </a:bodyPr>
          <a:lstStyle/>
          <a:p>
            <a:pPr algn="l">
              <a:lnSpc>
                <a:spcPts val="3359"/>
              </a:lnSpc>
            </a:pPr>
            <a:r>
              <a:rPr lang="en-US" sz="2400">
                <a:solidFill>
                  <a:srgbClr val="DB6060"/>
                </a:solidFill>
                <a:latin typeface="TDTD가온"/>
                <a:ea typeface="TDTD가온"/>
                <a:cs typeface="TDTD가온"/>
                <a:sym typeface="TDTD가온"/>
              </a:rPr>
              <a:t>Mulut :</a:t>
            </a:r>
            <a:r>
              <a:rPr lang="en-US" sz="2400">
                <a:solidFill>
                  <a:srgbClr val="E47A7A"/>
                </a:solidFill>
                <a:latin typeface="TDTD가온"/>
                <a:ea typeface="TDTD가온"/>
                <a:cs typeface="TDTD가온"/>
                <a:sym typeface="TDTD가온"/>
              </a:rPr>
              <a:t> </a:t>
            </a:r>
            <a:r>
              <a:rPr lang="en-US" sz="2400">
                <a:solidFill>
                  <a:srgbClr val="7A4C51"/>
                </a:solidFill>
                <a:latin typeface="TDTD가온"/>
                <a:ea typeface="TDTD가온"/>
                <a:cs typeface="TDTD가온"/>
                <a:sym typeface="TDTD가온"/>
              </a:rPr>
              <a:t>Tempat pertama masuknya makanan untuk membantu proses pencernaan mekanis dan juga kimiawi.</a:t>
            </a:r>
          </a:p>
        </p:txBody>
      </p:sp>
      <p:sp>
        <p:nvSpPr>
          <p:cNvPr id="31" name="TextBox 31"/>
          <p:cNvSpPr txBox="1"/>
          <p:nvPr/>
        </p:nvSpPr>
        <p:spPr>
          <a:xfrm>
            <a:off x="2412724" y="5296829"/>
            <a:ext cx="593958" cy="539115"/>
          </a:xfrm>
          <a:prstGeom prst="rect">
            <a:avLst/>
          </a:prstGeom>
        </p:spPr>
        <p:txBody>
          <a:bodyPr lIns="0" tIns="0" rIns="0" bIns="0" rtlCol="0" anchor="t">
            <a:spAutoFit/>
          </a:bodyPr>
          <a:lstStyle/>
          <a:p>
            <a:pPr algn="ctr">
              <a:lnSpc>
                <a:spcPts val="3359"/>
              </a:lnSpc>
            </a:pPr>
            <a:r>
              <a:rPr lang="en-US" sz="2400" b="1">
                <a:solidFill>
                  <a:srgbClr val="7A4C51"/>
                </a:solidFill>
                <a:latin typeface="Prachason Neue Mon Bold"/>
                <a:ea typeface="Prachason Neue Mon Bold"/>
                <a:cs typeface="Prachason Neue Mon Bold"/>
                <a:sym typeface="Prachason Neue Mon Bold"/>
              </a:rPr>
              <a:t>02.</a:t>
            </a:r>
          </a:p>
        </p:txBody>
      </p:sp>
      <p:sp>
        <p:nvSpPr>
          <p:cNvPr id="32" name="TextBox 32"/>
          <p:cNvSpPr txBox="1"/>
          <p:nvPr/>
        </p:nvSpPr>
        <p:spPr>
          <a:xfrm>
            <a:off x="3316547" y="5211104"/>
            <a:ext cx="8807420" cy="834390"/>
          </a:xfrm>
          <a:prstGeom prst="rect">
            <a:avLst/>
          </a:prstGeom>
        </p:spPr>
        <p:txBody>
          <a:bodyPr lIns="0" tIns="0" rIns="0" bIns="0" rtlCol="0" anchor="t">
            <a:spAutoFit/>
          </a:bodyPr>
          <a:lstStyle/>
          <a:p>
            <a:pPr algn="l">
              <a:lnSpc>
                <a:spcPts val="3359"/>
              </a:lnSpc>
            </a:pPr>
            <a:r>
              <a:rPr lang="en-US" sz="2400">
                <a:solidFill>
                  <a:srgbClr val="DB6060"/>
                </a:solidFill>
                <a:latin typeface="TDTD가온"/>
                <a:ea typeface="TDTD가온"/>
                <a:cs typeface="TDTD가온"/>
                <a:sym typeface="TDTD가온"/>
              </a:rPr>
              <a:t>Kerongkongan :</a:t>
            </a:r>
            <a:r>
              <a:rPr lang="en-US" sz="2400">
                <a:solidFill>
                  <a:srgbClr val="7A4C51"/>
                </a:solidFill>
                <a:latin typeface="TDTD가온"/>
                <a:ea typeface="TDTD가온"/>
                <a:cs typeface="TDTD가온"/>
                <a:sym typeface="TDTD가온"/>
              </a:rPr>
              <a:t> Saluran yang menghubungkan mulut dengan lambung, mendorong makanan melalui gerakan peristaltik.</a:t>
            </a:r>
          </a:p>
        </p:txBody>
      </p:sp>
      <p:sp>
        <p:nvSpPr>
          <p:cNvPr id="33" name="TextBox 33"/>
          <p:cNvSpPr txBox="1"/>
          <p:nvPr/>
        </p:nvSpPr>
        <p:spPr>
          <a:xfrm>
            <a:off x="2412724" y="6302669"/>
            <a:ext cx="593958" cy="539115"/>
          </a:xfrm>
          <a:prstGeom prst="rect">
            <a:avLst/>
          </a:prstGeom>
        </p:spPr>
        <p:txBody>
          <a:bodyPr lIns="0" tIns="0" rIns="0" bIns="0" rtlCol="0" anchor="t">
            <a:spAutoFit/>
          </a:bodyPr>
          <a:lstStyle/>
          <a:p>
            <a:pPr algn="ctr">
              <a:lnSpc>
                <a:spcPts val="3359"/>
              </a:lnSpc>
            </a:pPr>
            <a:r>
              <a:rPr lang="en-US" sz="2400" b="1">
                <a:solidFill>
                  <a:srgbClr val="FFFFFF"/>
                </a:solidFill>
                <a:latin typeface="Prachason Neue Mon Bold"/>
                <a:ea typeface="Prachason Neue Mon Bold"/>
                <a:cs typeface="Prachason Neue Mon Bold"/>
                <a:sym typeface="Prachason Neue Mon Bold"/>
              </a:rPr>
              <a:t>03.</a:t>
            </a:r>
          </a:p>
        </p:txBody>
      </p:sp>
      <p:sp>
        <p:nvSpPr>
          <p:cNvPr id="34" name="TextBox 34"/>
          <p:cNvSpPr txBox="1"/>
          <p:nvPr/>
        </p:nvSpPr>
        <p:spPr>
          <a:xfrm>
            <a:off x="3316547" y="6216944"/>
            <a:ext cx="8807420" cy="834390"/>
          </a:xfrm>
          <a:prstGeom prst="rect">
            <a:avLst/>
          </a:prstGeom>
        </p:spPr>
        <p:txBody>
          <a:bodyPr lIns="0" tIns="0" rIns="0" bIns="0" rtlCol="0" anchor="t">
            <a:spAutoFit/>
          </a:bodyPr>
          <a:lstStyle/>
          <a:p>
            <a:pPr algn="l">
              <a:lnSpc>
                <a:spcPts val="3359"/>
              </a:lnSpc>
            </a:pPr>
            <a:r>
              <a:rPr lang="en-US" sz="2400">
                <a:solidFill>
                  <a:srgbClr val="DB6060"/>
                </a:solidFill>
                <a:latin typeface="TDTD가온"/>
                <a:ea typeface="TDTD가온"/>
                <a:cs typeface="TDTD가온"/>
                <a:sym typeface="TDTD가온"/>
              </a:rPr>
              <a:t>Lambung :</a:t>
            </a:r>
            <a:r>
              <a:rPr lang="en-US" sz="2400">
                <a:solidFill>
                  <a:srgbClr val="7A4C51"/>
                </a:solidFill>
                <a:latin typeface="TDTD가온"/>
                <a:ea typeface="TDTD가온"/>
                <a:cs typeface="TDTD가온"/>
                <a:sym typeface="TDTD가온"/>
              </a:rPr>
              <a:t> Tempat makanan diaduk dan dicerna secara kimia menggunakan asam lambung dan enzim pencernaan.</a:t>
            </a:r>
          </a:p>
        </p:txBody>
      </p:sp>
      <p:sp>
        <p:nvSpPr>
          <p:cNvPr id="35" name="TextBox 35"/>
          <p:cNvSpPr txBox="1"/>
          <p:nvPr/>
        </p:nvSpPr>
        <p:spPr>
          <a:xfrm>
            <a:off x="2412724" y="7308509"/>
            <a:ext cx="593958" cy="539115"/>
          </a:xfrm>
          <a:prstGeom prst="rect">
            <a:avLst/>
          </a:prstGeom>
        </p:spPr>
        <p:txBody>
          <a:bodyPr lIns="0" tIns="0" rIns="0" bIns="0" rtlCol="0" anchor="t">
            <a:spAutoFit/>
          </a:bodyPr>
          <a:lstStyle/>
          <a:p>
            <a:pPr algn="ctr">
              <a:lnSpc>
                <a:spcPts val="3359"/>
              </a:lnSpc>
            </a:pPr>
            <a:r>
              <a:rPr lang="en-US" sz="2400" b="1">
                <a:solidFill>
                  <a:srgbClr val="7A4C51"/>
                </a:solidFill>
                <a:latin typeface="Prachason Neue Mon Bold"/>
                <a:ea typeface="Prachason Neue Mon Bold"/>
                <a:cs typeface="Prachason Neue Mon Bold"/>
                <a:sym typeface="Prachason Neue Mon Bold"/>
              </a:rPr>
              <a:t>04.</a:t>
            </a:r>
          </a:p>
        </p:txBody>
      </p:sp>
      <p:sp>
        <p:nvSpPr>
          <p:cNvPr id="36" name="TextBox 36"/>
          <p:cNvSpPr txBox="1"/>
          <p:nvPr/>
        </p:nvSpPr>
        <p:spPr>
          <a:xfrm>
            <a:off x="3316547" y="7222784"/>
            <a:ext cx="8807420" cy="834390"/>
          </a:xfrm>
          <a:prstGeom prst="rect">
            <a:avLst/>
          </a:prstGeom>
        </p:spPr>
        <p:txBody>
          <a:bodyPr lIns="0" tIns="0" rIns="0" bIns="0" rtlCol="0" anchor="t">
            <a:spAutoFit/>
          </a:bodyPr>
          <a:lstStyle/>
          <a:p>
            <a:pPr algn="l">
              <a:lnSpc>
                <a:spcPts val="3359"/>
              </a:lnSpc>
            </a:pPr>
            <a:r>
              <a:rPr lang="en-US" sz="2400">
                <a:solidFill>
                  <a:srgbClr val="DB6060"/>
                </a:solidFill>
                <a:latin typeface="TDTD가온"/>
                <a:ea typeface="TDTD가온"/>
                <a:cs typeface="TDTD가온"/>
                <a:sym typeface="TDTD가온"/>
              </a:rPr>
              <a:t>Usus Halus :</a:t>
            </a:r>
            <a:r>
              <a:rPr lang="en-US" sz="2400">
                <a:solidFill>
                  <a:srgbClr val="7A4C51"/>
                </a:solidFill>
                <a:latin typeface="TDTD가온"/>
                <a:ea typeface="TDTD가온"/>
                <a:cs typeface="TDTD가온"/>
                <a:sym typeface="TDTD가온"/>
              </a:rPr>
              <a:t> Terdiri dari tiga bagian: duodenum, jejunum, dan ileum. Di sinilah sebagian besar proses pencernaan nutrisi.</a:t>
            </a:r>
          </a:p>
        </p:txBody>
      </p:sp>
      <p:sp>
        <p:nvSpPr>
          <p:cNvPr id="37" name="Freeform 37"/>
          <p:cNvSpPr/>
          <p:nvPr/>
        </p:nvSpPr>
        <p:spPr>
          <a:xfrm>
            <a:off x="12123967" y="3546461"/>
            <a:ext cx="1937924" cy="1104573"/>
          </a:xfrm>
          <a:custGeom>
            <a:avLst/>
            <a:gdLst/>
            <a:ahLst/>
            <a:cxnLst/>
            <a:rect l="l" t="t" r="r" b="b"/>
            <a:pathLst>
              <a:path w="1937924" h="1104573">
                <a:moveTo>
                  <a:pt x="0" y="1104573"/>
                </a:moveTo>
                <a:lnTo>
                  <a:pt x="740361" y="1104573"/>
                </a:lnTo>
                <a:cubicBezTo>
                  <a:pt x="866613" y="1104573"/>
                  <a:pt x="968961" y="1002225"/>
                  <a:pt x="968961" y="875973"/>
                </a:cubicBezTo>
                <a:lnTo>
                  <a:pt x="968961" y="228600"/>
                </a:lnTo>
                <a:cubicBezTo>
                  <a:pt x="968961" y="102348"/>
                  <a:pt x="1071308" y="0"/>
                  <a:pt x="1197561" y="0"/>
                </a:cubicBezTo>
                <a:lnTo>
                  <a:pt x="1937924" y="0"/>
                </a:lnTo>
              </a:path>
            </a:pathLst>
          </a:custGeom>
          <a:ln w="28575" cap="rnd">
            <a:solidFill>
              <a:srgbClr val="593337"/>
            </a:solidFill>
            <a:prstDash val="lgDash"/>
            <a:headEnd type="oval" w="lg" len="lg"/>
            <a:tailEnd type="oval" w="lg" len="lg"/>
          </a:ln>
        </p:spPr>
      </p:sp>
      <p:sp>
        <p:nvSpPr>
          <p:cNvPr id="38" name="Freeform 38"/>
          <p:cNvSpPr/>
          <p:nvPr/>
        </p:nvSpPr>
        <p:spPr>
          <a:xfrm>
            <a:off x="12123967" y="4506323"/>
            <a:ext cx="2197998" cy="1150551"/>
          </a:xfrm>
          <a:custGeom>
            <a:avLst/>
            <a:gdLst/>
            <a:ahLst/>
            <a:cxnLst/>
            <a:rect l="l" t="t" r="r" b="b"/>
            <a:pathLst>
              <a:path w="2197998" h="1150551">
                <a:moveTo>
                  <a:pt x="0" y="1150551"/>
                </a:moveTo>
                <a:lnTo>
                  <a:pt x="870398" y="1150551"/>
                </a:lnTo>
                <a:cubicBezTo>
                  <a:pt x="931027" y="1150551"/>
                  <a:pt x="989172" y="1126467"/>
                  <a:pt x="1032042" y="1083596"/>
                </a:cubicBezTo>
                <a:cubicBezTo>
                  <a:pt x="1074914" y="1040725"/>
                  <a:pt x="1098998" y="982580"/>
                  <a:pt x="1098998" y="921951"/>
                </a:cubicBezTo>
                <a:lnTo>
                  <a:pt x="1098998" y="228600"/>
                </a:lnTo>
                <a:cubicBezTo>
                  <a:pt x="1098998" y="167972"/>
                  <a:pt x="1123083" y="109827"/>
                  <a:pt x="1165954" y="66956"/>
                </a:cubicBezTo>
                <a:cubicBezTo>
                  <a:pt x="1208824" y="24085"/>
                  <a:pt x="1266969" y="0"/>
                  <a:pt x="1327598" y="0"/>
                </a:cubicBezTo>
                <a:lnTo>
                  <a:pt x="2197998" y="0"/>
                </a:lnTo>
              </a:path>
            </a:pathLst>
          </a:custGeom>
          <a:ln w="28575" cap="rnd">
            <a:solidFill>
              <a:srgbClr val="593337"/>
            </a:solidFill>
            <a:prstDash val="lgDash"/>
            <a:headEnd type="oval" w="lg" len="lg"/>
            <a:tailEnd type="oval" w="lg" len="lg"/>
          </a:ln>
        </p:spPr>
      </p:sp>
      <p:sp>
        <p:nvSpPr>
          <p:cNvPr id="39" name="Freeform 39"/>
          <p:cNvSpPr/>
          <p:nvPr/>
        </p:nvSpPr>
        <p:spPr>
          <a:xfrm>
            <a:off x="12123967" y="5950939"/>
            <a:ext cx="2656382" cy="711776"/>
          </a:xfrm>
          <a:custGeom>
            <a:avLst/>
            <a:gdLst/>
            <a:ahLst/>
            <a:cxnLst/>
            <a:rect l="l" t="t" r="r" b="b"/>
            <a:pathLst>
              <a:path w="2656382" h="711776">
                <a:moveTo>
                  <a:pt x="0" y="711775"/>
                </a:moveTo>
                <a:lnTo>
                  <a:pt x="1099590" y="711775"/>
                </a:lnTo>
                <a:cubicBezTo>
                  <a:pt x="1225843" y="711775"/>
                  <a:pt x="1328190" y="609427"/>
                  <a:pt x="1328190" y="483175"/>
                </a:cubicBezTo>
                <a:lnTo>
                  <a:pt x="1328190" y="228600"/>
                </a:lnTo>
                <a:cubicBezTo>
                  <a:pt x="1328190" y="167971"/>
                  <a:pt x="1352276" y="109826"/>
                  <a:pt x="1395146" y="66955"/>
                </a:cubicBezTo>
                <a:cubicBezTo>
                  <a:pt x="1438016" y="24084"/>
                  <a:pt x="1496161" y="0"/>
                  <a:pt x="1556790" y="0"/>
                </a:cubicBezTo>
                <a:lnTo>
                  <a:pt x="2656382" y="0"/>
                </a:lnTo>
              </a:path>
            </a:pathLst>
          </a:custGeom>
          <a:ln w="28575" cap="rnd">
            <a:solidFill>
              <a:srgbClr val="593337"/>
            </a:solidFill>
            <a:prstDash val="lgDash"/>
            <a:headEnd type="oval" w="lg" len="lg"/>
            <a:tailEnd type="oval" w="lg" len="lg"/>
          </a:ln>
        </p:spPr>
      </p:sp>
      <p:sp>
        <p:nvSpPr>
          <p:cNvPr id="40" name="Freeform 40"/>
          <p:cNvSpPr/>
          <p:nvPr/>
        </p:nvSpPr>
        <p:spPr>
          <a:xfrm>
            <a:off x="12123967" y="7051334"/>
            <a:ext cx="2656382" cy="617220"/>
          </a:xfrm>
          <a:custGeom>
            <a:avLst/>
            <a:gdLst/>
            <a:ahLst/>
            <a:cxnLst/>
            <a:rect l="l" t="t" r="r" b="b"/>
            <a:pathLst>
              <a:path w="2656382" h="617220">
                <a:moveTo>
                  <a:pt x="0" y="617220"/>
                </a:moveTo>
                <a:lnTo>
                  <a:pt x="1099590" y="617220"/>
                </a:lnTo>
                <a:cubicBezTo>
                  <a:pt x="1160219" y="617220"/>
                  <a:pt x="1218364" y="593136"/>
                  <a:pt x="1261235" y="550265"/>
                </a:cubicBezTo>
                <a:cubicBezTo>
                  <a:pt x="1304106" y="507395"/>
                  <a:pt x="1328190" y="449249"/>
                  <a:pt x="1328190" y="388620"/>
                </a:cubicBezTo>
                <a:lnTo>
                  <a:pt x="1328190" y="228600"/>
                </a:lnTo>
                <a:cubicBezTo>
                  <a:pt x="1328190" y="167971"/>
                  <a:pt x="1352276" y="109826"/>
                  <a:pt x="1395146" y="66956"/>
                </a:cubicBezTo>
                <a:cubicBezTo>
                  <a:pt x="1438016" y="24085"/>
                  <a:pt x="1496161" y="0"/>
                  <a:pt x="1556790" y="0"/>
                </a:cubicBezTo>
                <a:lnTo>
                  <a:pt x="2656382" y="0"/>
                </a:lnTo>
              </a:path>
            </a:pathLst>
          </a:custGeom>
          <a:ln w="28575" cap="rnd">
            <a:solidFill>
              <a:srgbClr val="593337"/>
            </a:solidFill>
            <a:prstDash val="lgDash"/>
            <a:headEnd type="oval" w="lg" len="lg"/>
            <a:tailEnd type="oval" w="lg" len="lg"/>
          </a:ln>
        </p:spPr>
      </p:sp>
      <p:grpSp>
        <p:nvGrpSpPr>
          <p:cNvPr id="41" name="Group 41"/>
          <p:cNvGrpSpPr/>
          <p:nvPr/>
        </p:nvGrpSpPr>
        <p:grpSpPr>
          <a:xfrm>
            <a:off x="-707956" y="9491426"/>
            <a:ext cx="19703911" cy="1472127"/>
            <a:chOff x="0" y="0"/>
            <a:chExt cx="7656247" cy="572017"/>
          </a:xfrm>
        </p:grpSpPr>
        <p:sp>
          <p:nvSpPr>
            <p:cNvPr id="42" name="Freeform 42"/>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43" name="TextBox 43"/>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1452339" y="1368428"/>
            <a:ext cx="15383321" cy="7550145"/>
            <a:chOff x="0" y="0"/>
            <a:chExt cx="5977418" cy="2933721"/>
          </a:xfrm>
        </p:grpSpPr>
        <p:sp>
          <p:nvSpPr>
            <p:cNvPr id="3" name="Freeform 3"/>
            <p:cNvSpPr/>
            <p:nvPr/>
          </p:nvSpPr>
          <p:spPr>
            <a:xfrm>
              <a:off x="0" y="0"/>
              <a:ext cx="5977418" cy="2933721"/>
            </a:xfrm>
            <a:custGeom>
              <a:avLst/>
              <a:gdLst/>
              <a:ahLst/>
              <a:cxnLst/>
              <a:rect l="l" t="t" r="r" b="b"/>
              <a:pathLst>
                <a:path w="5977418" h="2933721">
                  <a:moveTo>
                    <a:pt x="10065" y="0"/>
                  </a:moveTo>
                  <a:lnTo>
                    <a:pt x="5967352" y="0"/>
                  </a:lnTo>
                  <a:cubicBezTo>
                    <a:pt x="5972911" y="0"/>
                    <a:pt x="5977418" y="4506"/>
                    <a:pt x="5977418" y="10065"/>
                  </a:cubicBezTo>
                  <a:lnTo>
                    <a:pt x="5977418" y="2923655"/>
                  </a:lnTo>
                  <a:cubicBezTo>
                    <a:pt x="5977418" y="2929214"/>
                    <a:pt x="5972911" y="2933721"/>
                    <a:pt x="5967352" y="2933721"/>
                  </a:cubicBezTo>
                  <a:lnTo>
                    <a:pt x="10065" y="2933721"/>
                  </a:lnTo>
                  <a:cubicBezTo>
                    <a:pt x="4506" y="2933721"/>
                    <a:pt x="0" y="2929214"/>
                    <a:pt x="0" y="2923655"/>
                  </a:cubicBezTo>
                  <a:lnTo>
                    <a:pt x="0" y="10065"/>
                  </a:lnTo>
                  <a:cubicBezTo>
                    <a:pt x="0" y="4506"/>
                    <a:pt x="4506" y="0"/>
                    <a:pt x="10065" y="0"/>
                  </a:cubicBezTo>
                  <a:close/>
                </a:path>
              </a:pathLst>
            </a:custGeom>
            <a:solidFill>
              <a:srgbClr val="FFFFFF"/>
            </a:solidFill>
          </p:spPr>
        </p:sp>
        <p:sp>
          <p:nvSpPr>
            <p:cNvPr id="4" name="TextBox 4"/>
            <p:cNvSpPr txBox="1"/>
            <p:nvPr/>
          </p:nvSpPr>
          <p:spPr>
            <a:xfrm>
              <a:off x="0" y="-95250"/>
              <a:ext cx="5977418" cy="302897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871667" y="1708023"/>
            <a:ext cx="14544667" cy="6870954"/>
            <a:chOff x="0" y="0"/>
            <a:chExt cx="5651546" cy="2669811"/>
          </a:xfrm>
        </p:grpSpPr>
        <p:sp>
          <p:nvSpPr>
            <p:cNvPr id="6" name="Freeform 6"/>
            <p:cNvSpPr/>
            <p:nvPr/>
          </p:nvSpPr>
          <p:spPr>
            <a:xfrm>
              <a:off x="0" y="0"/>
              <a:ext cx="5651546" cy="2669811"/>
            </a:xfrm>
            <a:custGeom>
              <a:avLst/>
              <a:gdLst/>
              <a:ahLst/>
              <a:cxnLst/>
              <a:rect l="l" t="t" r="r" b="b"/>
              <a:pathLst>
                <a:path w="5651546" h="2669811">
                  <a:moveTo>
                    <a:pt x="10646" y="0"/>
                  </a:moveTo>
                  <a:lnTo>
                    <a:pt x="5640900" y="0"/>
                  </a:lnTo>
                  <a:cubicBezTo>
                    <a:pt x="5646780" y="0"/>
                    <a:pt x="5651546" y="4766"/>
                    <a:pt x="5651546" y="10646"/>
                  </a:cubicBezTo>
                  <a:lnTo>
                    <a:pt x="5651546" y="2659165"/>
                  </a:lnTo>
                  <a:cubicBezTo>
                    <a:pt x="5651546" y="2665045"/>
                    <a:pt x="5646780" y="2669811"/>
                    <a:pt x="5640900" y="2669811"/>
                  </a:cubicBezTo>
                  <a:lnTo>
                    <a:pt x="10646" y="2669811"/>
                  </a:lnTo>
                  <a:cubicBezTo>
                    <a:pt x="7822" y="2669811"/>
                    <a:pt x="5115" y="2668689"/>
                    <a:pt x="3118" y="2666693"/>
                  </a:cubicBezTo>
                  <a:cubicBezTo>
                    <a:pt x="1122" y="2664697"/>
                    <a:pt x="0" y="2661989"/>
                    <a:pt x="0" y="2659165"/>
                  </a:cubicBezTo>
                  <a:lnTo>
                    <a:pt x="0" y="10646"/>
                  </a:lnTo>
                  <a:cubicBezTo>
                    <a:pt x="0" y="4766"/>
                    <a:pt x="4766" y="0"/>
                    <a:pt x="10646" y="0"/>
                  </a:cubicBezTo>
                  <a:close/>
                </a:path>
              </a:pathLst>
            </a:custGeom>
            <a:solidFill>
              <a:srgbClr val="FFFBF3"/>
            </a:solidFill>
            <a:ln w="47625" cap="sq">
              <a:solidFill>
                <a:srgbClr val="E8B19A"/>
              </a:solidFill>
              <a:prstDash val="lgDash"/>
              <a:miter/>
            </a:ln>
          </p:spPr>
        </p:sp>
        <p:sp>
          <p:nvSpPr>
            <p:cNvPr id="7" name="TextBox 7"/>
            <p:cNvSpPr txBox="1"/>
            <p:nvPr/>
          </p:nvSpPr>
          <p:spPr>
            <a:xfrm>
              <a:off x="0" y="-95250"/>
              <a:ext cx="5651546" cy="2765061"/>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2433712" y="2229826"/>
            <a:ext cx="3386178" cy="6688746"/>
          </a:xfrm>
          <a:custGeom>
            <a:avLst/>
            <a:gdLst/>
            <a:ahLst/>
            <a:cxnLst/>
            <a:rect l="l" t="t" r="r" b="b"/>
            <a:pathLst>
              <a:path w="3386178" h="6688746">
                <a:moveTo>
                  <a:pt x="0" y="0"/>
                </a:moveTo>
                <a:lnTo>
                  <a:pt x="3386178" y="0"/>
                </a:lnTo>
                <a:lnTo>
                  <a:pt x="3386178" y="6688746"/>
                </a:lnTo>
                <a:lnTo>
                  <a:pt x="0" y="6688746"/>
                </a:lnTo>
                <a:lnTo>
                  <a:pt x="0" y="0"/>
                </a:lnTo>
                <a:close/>
              </a:path>
            </a:pathLst>
          </a:custGeom>
          <a:blipFill>
            <a:blip r:embed="rId2"/>
            <a:stretch>
              <a:fillRect/>
            </a:stretch>
          </a:blipFill>
        </p:spPr>
      </p:sp>
      <p:grpSp>
        <p:nvGrpSpPr>
          <p:cNvPr id="9" name="Group 9"/>
          <p:cNvGrpSpPr/>
          <p:nvPr/>
        </p:nvGrpSpPr>
        <p:grpSpPr>
          <a:xfrm>
            <a:off x="6213145" y="2229826"/>
            <a:ext cx="5433598" cy="675737"/>
            <a:chOff x="0" y="0"/>
            <a:chExt cx="1431071" cy="177972"/>
          </a:xfrm>
        </p:grpSpPr>
        <p:sp>
          <p:nvSpPr>
            <p:cNvPr id="10" name="Freeform 10"/>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11" name="TextBox 11"/>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sp>
        <p:nvSpPr>
          <p:cNvPr id="12" name="Freeform 12"/>
          <p:cNvSpPr/>
          <p:nvPr/>
        </p:nvSpPr>
        <p:spPr>
          <a:xfrm>
            <a:off x="14402171" y="3133098"/>
            <a:ext cx="661333" cy="1000125"/>
          </a:xfrm>
          <a:custGeom>
            <a:avLst/>
            <a:gdLst/>
            <a:ahLst/>
            <a:cxnLst/>
            <a:rect l="l" t="t" r="r" b="b"/>
            <a:pathLst>
              <a:path w="661333" h="1000125">
                <a:moveTo>
                  <a:pt x="0" y="0"/>
                </a:moveTo>
                <a:lnTo>
                  <a:pt x="661333" y="0"/>
                </a:lnTo>
                <a:lnTo>
                  <a:pt x="661333" y="1000125"/>
                </a:lnTo>
                <a:lnTo>
                  <a:pt x="0" y="10001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TextBox 13"/>
          <p:cNvSpPr txBox="1"/>
          <p:nvPr/>
        </p:nvSpPr>
        <p:spPr>
          <a:xfrm>
            <a:off x="6525983" y="2331474"/>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14" name="TextBox 14"/>
          <p:cNvSpPr txBox="1"/>
          <p:nvPr/>
        </p:nvSpPr>
        <p:spPr>
          <a:xfrm>
            <a:off x="6213145" y="3161673"/>
            <a:ext cx="8189026" cy="971550"/>
          </a:xfrm>
          <a:prstGeom prst="rect">
            <a:avLst/>
          </a:prstGeom>
        </p:spPr>
        <p:txBody>
          <a:bodyPr lIns="0" tIns="0" rIns="0" bIns="0" rtlCol="0" anchor="t">
            <a:spAutoFit/>
          </a:bodyPr>
          <a:lstStyle/>
          <a:p>
            <a:pPr algn="l">
              <a:lnSpc>
                <a:spcPts val="6270"/>
              </a:lnSpc>
            </a:pPr>
            <a:r>
              <a:rPr lang="en-US" sz="6600" spc="-66">
                <a:solidFill>
                  <a:srgbClr val="593337"/>
                </a:solidFill>
                <a:latin typeface="Funtastic"/>
                <a:ea typeface="Funtastic"/>
                <a:cs typeface="Funtastic"/>
                <a:sym typeface="Funtastic"/>
              </a:rPr>
              <a:t>Pencernaan Manusia</a:t>
            </a:r>
          </a:p>
        </p:txBody>
      </p:sp>
      <p:sp>
        <p:nvSpPr>
          <p:cNvPr id="15" name="Freeform 15"/>
          <p:cNvSpPr/>
          <p:nvPr/>
        </p:nvSpPr>
        <p:spPr>
          <a:xfrm>
            <a:off x="2553818" y="2229826"/>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Freeform 16"/>
          <p:cNvSpPr/>
          <p:nvPr/>
        </p:nvSpPr>
        <p:spPr>
          <a:xfrm>
            <a:off x="5033270" y="3133098"/>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7" name="Group 17"/>
          <p:cNvGrpSpPr/>
          <p:nvPr/>
        </p:nvGrpSpPr>
        <p:grpSpPr>
          <a:xfrm>
            <a:off x="6213145" y="4361823"/>
            <a:ext cx="781083" cy="777240"/>
            <a:chOff x="0" y="0"/>
            <a:chExt cx="303502" cy="302008"/>
          </a:xfrm>
        </p:grpSpPr>
        <p:sp>
          <p:nvSpPr>
            <p:cNvPr id="18" name="Freeform 18"/>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E47A7A"/>
            </a:solidFill>
          </p:spPr>
        </p:sp>
        <p:sp>
          <p:nvSpPr>
            <p:cNvPr id="19" name="TextBox 19"/>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20" name="TextBox 20"/>
          <p:cNvSpPr txBox="1"/>
          <p:nvPr/>
        </p:nvSpPr>
        <p:spPr>
          <a:xfrm>
            <a:off x="6306708" y="4390398"/>
            <a:ext cx="593958" cy="539115"/>
          </a:xfrm>
          <a:prstGeom prst="rect">
            <a:avLst/>
          </a:prstGeom>
        </p:spPr>
        <p:txBody>
          <a:bodyPr lIns="0" tIns="0" rIns="0" bIns="0" rtlCol="0" anchor="t">
            <a:spAutoFit/>
          </a:bodyPr>
          <a:lstStyle/>
          <a:p>
            <a:pPr algn="ctr">
              <a:lnSpc>
                <a:spcPts val="3359"/>
              </a:lnSpc>
            </a:pPr>
            <a:r>
              <a:rPr lang="en-US" sz="2400" b="1">
                <a:solidFill>
                  <a:srgbClr val="FFFFFF"/>
                </a:solidFill>
                <a:latin typeface="Prachason Neue Mon Bold"/>
                <a:ea typeface="Prachason Neue Mon Bold"/>
                <a:cs typeface="Prachason Neue Mon Bold"/>
                <a:sym typeface="Prachason Neue Mon Bold"/>
              </a:rPr>
              <a:t>05.</a:t>
            </a:r>
          </a:p>
        </p:txBody>
      </p:sp>
      <p:sp>
        <p:nvSpPr>
          <p:cNvPr id="21" name="TextBox 21"/>
          <p:cNvSpPr txBox="1"/>
          <p:nvPr/>
        </p:nvSpPr>
        <p:spPr>
          <a:xfrm>
            <a:off x="7210531" y="4304673"/>
            <a:ext cx="8807420" cy="834390"/>
          </a:xfrm>
          <a:prstGeom prst="rect">
            <a:avLst/>
          </a:prstGeom>
        </p:spPr>
        <p:txBody>
          <a:bodyPr lIns="0" tIns="0" rIns="0" bIns="0" rtlCol="0" anchor="t">
            <a:spAutoFit/>
          </a:bodyPr>
          <a:lstStyle/>
          <a:p>
            <a:pPr algn="l">
              <a:lnSpc>
                <a:spcPts val="3359"/>
              </a:lnSpc>
            </a:pPr>
            <a:r>
              <a:rPr lang="en-US" sz="2400">
                <a:solidFill>
                  <a:srgbClr val="DB6060"/>
                </a:solidFill>
                <a:latin typeface="TDTD가온"/>
                <a:ea typeface="TDTD가온"/>
                <a:cs typeface="TDTD가온"/>
                <a:sym typeface="TDTD가온"/>
              </a:rPr>
              <a:t>Usus Besar :</a:t>
            </a:r>
            <a:r>
              <a:rPr lang="en-US" sz="2400">
                <a:solidFill>
                  <a:srgbClr val="7A4C51"/>
                </a:solidFill>
                <a:latin typeface="TDTD가온"/>
                <a:ea typeface="TDTD가온"/>
                <a:cs typeface="TDTD가온"/>
                <a:sym typeface="TDTD가온"/>
              </a:rPr>
              <a:t> Berisi kolon, rektum, dan anus. Organ ini berfungsi menyerap air dan membentuk sisa makanan menjadi feses.</a:t>
            </a:r>
          </a:p>
        </p:txBody>
      </p:sp>
      <p:grpSp>
        <p:nvGrpSpPr>
          <p:cNvPr id="22" name="Group 22"/>
          <p:cNvGrpSpPr/>
          <p:nvPr/>
        </p:nvGrpSpPr>
        <p:grpSpPr>
          <a:xfrm>
            <a:off x="6213145" y="7403938"/>
            <a:ext cx="781083" cy="777240"/>
            <a:chOff x="0" y="0"/>
            <a:chExt cx="303502" cy="302008"/>
          </a:xfrm>
        </p:grpSpPr>
        <p:sp>
          <p:nvSpPr>
            <p:cNvPr id="23" name="Freeform 23"/>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FDCEA0"/>
            </a:solidFill>
          </p:spPr>
        </p:sp>
        <p:sp>
          <p:nvSpPr>
            <p:cNvPr id="24" name="TextBox 24"/>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25" name="TextBox 25"/>
          <p:cNvSpPr txBox="1"/>
          <p:nvPr/>
        </p:nvSpPr>
        <p:spPr>
          <a:xfrm>
            <a:off x="6306708" y="7432513"/>
            <a:ext cx="593958" cy="539115"/>
          </a:xfrm>
          <a:prstGeom prst="rect">
            <a:avLst/>
          </a:prstGeom>
        </p:spPr>
        <p:txBody>
          <a:bodyPr lIns="0" tIns="0" rIns="0" bIns="0" rtlCol="0" anchor="t">
            <a:spAutoFit/>
          </a:bodyPr>
          <a:lstStyle/>
          <a:p>
            <a:pPr algn="ctr">
              <a:lnSpc>
                <a:spcPts val="3359"/>
              </a:lnSpc>
            </a:pPr>
            <a:r>
              <a:rPr lang="en-US" sz="2400" b="1">
                <a:solidFill>
                  <a:srgbClr val="7A4C51"/>
                </a:solidFill>
                <a:latin typeface="Prachason Neue Mon Bold"/>
                <a:ea typeface="Prachason Neue Mon Bold"/>
                <a:cs typeface="Prachason Neue Mon Bold"/>
                <a:sym typeface="Prachason Neue Mon Bold"/>
              </a:rPr>
              <a:t>08.</a:t>
            </a:r>
          </a:p>
        </p:txBody>
      </p:sp>
      <p:sp>
        <p:nvSpPr>
          <p:cNvPr id="26" name="TextBox 26"/>
          <p:cNvSpPr txBox="1"/>
          <p:nvPr/>
        </p:nvSpPr>
        <p:spPr>
          <a:xfrm>
            <a:off x="7210531" y="7346788"/>
            <a:ext cx="8807420" cy="834390"/>
          </a:xfrm>
          <a:prstGeom prst="rect">
            <a:avLst/>
          </a:prstGeom>
        </p:spPr>
        <p:txBody>
          <a:bodyPr lIns="0" tIns="0" rIns="0" bIns="0" rtlCol="0" anchor="t">
            <a:spAutoFit/>
          </a:bodyPr>
          <a:lstStyle/>
          <a:p>
            <a:pPr algn="l">
              <a:lnSpc>
                <a:spcPts val="3359"/>
              </a:lnSpc>
            </a:pPr>
            <a:r>
              <a:rPr lang="en-US" sz="2400">
                <a:solidFill>
                  <a:srgbClr val="DB6060"/>
                </a:solidFill>
                <a:latin typeface="TDTD가온"/>
                <a:ea typeface="TDTD가온"/>
                <a:cs typeface="TDTD가온"/>
                <a:sym typeface="TDTD가온"/>
              </a:rPr>
              <a:t>Pankreas :</a:t>
            </a:r>
            <a:r>
              <a:rPr lang="en-US" sz="2400">
                <a:solidFill>
                  <a:srgbClr val="7A4C51"/>
                </a:solidFill>
                <a:latin typeface="TDTD가온"/>
                <a:ea typeface="TDTD가온"/>
                <a:cs typeface="TDTD가온"/>
                <a:sym typeface="TDTD가온"/>
              </a:rPr>
              <a:t> Menghasilkan enzim pencernaan (amilase, lipase, protease) dan hormon insulin untuk mengatur gula darah.</a:t>
            </a:r>
          </a:p>
        </p:txBody>
      </p:sp>
      <p:grpSp>
        <p:nvGrpSpPr>
          <p:cNvPr id="27" name="Group 27"/>
          <p:cNvGrpSpPr/>
          <p:nvPr/>
        </p:nvGrpSpPr>
        <p:grpSpPr>
          <a:xfrm>
            <a:off x="6213145" y="6390563"/>
            <a:ext cx="781083" cy="777240"/>
            <a:chOff x="0" y="0"/>
            <a:chExt cx="303502" cy="302008"/>
          </a:xfrm>
        </p:grpSpPr>
        <p:sp>
          <p:nvSpPr>
            <p:cNvPr id="28" name="Freeform 28"/>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E47A7A"/>
            </a:solidFill>
          </p:spPr>
        </p:sp>
        <p:sp>
          <p:nvSpPr>
            <p:cNvPr id="29" name="TextBox 29"/>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30" name="TextBox 30"/>
          <p:cNvSpPr txBox="1"/>
          <p:nvPr/>
        </p:nvSpPr>
        <p:spPr>
          <a:xfrm>
            <a:off x="6306708" y="6419138"/>
            <a:ext cx="593958" cy="539115"/>
          </a:xfrm>
          <a:prstGeom prst="rect">
            <a:avLst/>
          </a:prstGeom>
        </p:spPr>
        <p:txBody>
          <a:bodyPr lIns="0" tIns="0" rIns="0" bIns="0" rtlCol="0" anchor="t">
            <a:spAutoFit/>
          </a:bodyPr>
          <a:lstStyle/>
          <a:p>
            <a:pPr algn="ctr">
              <a:lnSpc>
                <a:spcPts val="3359"/>
              </a:lnSpc>
            </a:pPr>
            <a:r>
              <a:rPr lang="en-US" sz="2400" b="1">
                <a:solidFill>
                  <a:srgbClr val="FFFFFF"/>
                </a:solidFill>
                <a:latin typeface="Prachason Neue Mon Bold"/>
                <a:ea typeface="Prachason Neue Mon Bold"/>
                <a:cs typeface="Prachason Neue Mon Bold"/>
                <a:sym typeface="Prachason Neue Mon Bold"/>
              </a:rPr>
              <a:t>07.</a:t>
            </a:r>
          </a:p>
        </p:txBody>
      </p:sp>
      <p:sp>
        <p:nvSpPr>
          <p:cNvPr id="31" name="TextBox 31"/>
          <p:cNvSpPr txBox="1"/>
          <p:nvPr/>
        </p:nvSpPr>
        <p:spPr>
          <a:xfrm>
            <a:off x="7210531" y="6333413"/>
            <a:ext cx="8807420" cy="834390"/>
          </a:xfrm>
          <a:prstGeom prst="rect">
            <a:avLst/>
          </a:prstGeom>
        </p:spPr>
        <p:txBody>
          <a:bodyPr lIns="0" tIns="0" rIns="0" bIns="0" rtlCol="0" anchor="t">
            <a:spAutoFit/>
          </a:bodyPr>
          <a:lstStyle/>
          <a:p>
            <a:pPr algn="l">
              <a:lnSpc>
                <a:spcPts val="3359"/>
              </a:lnSpc>
            </a:pPr>
            <a:r>
              <a:rPr lang="en-US" sz="2400">
                <a:solidFill>
                  <a:srgbClr val="DB6060"/>
                </a:solidFill>
                <a:latin typeface="TDTD가온"/>
                <a:ea typeface="TDTD가온"/>
                <a:cs typeface="TDTD가온"/>
                <a:sym typeface="TDTD가온"/>
              </a:rPr>
              <a:t>Kantong Empedu :</a:t>
            </a:r>
            <a:r>
              <a:rPr lang="en-US" sz="2400">
                <a:solidFill>
                  <a:srgbClr val="7A4C51"/>
                </a:solidFill>
                <a:latin typeface="TDTD가온"/>
                <a:ea typeface="TDTD가온"/>
                <a:cs typeface="TDTD가온"/>
                <a:sym typeface="TDTD가온"/>
              </a:rPr>
              <a:t> Menyimpan empedu yang diproduksi oleh hati dan melepaskannya ke usus halus saat diperlukan.</a:t>
            </a:r>
          </a:p>
        </p:txBody>
      </p:sp>
      <p:grpSp>
        <p:nvGrpSpPr>
          <p:cNvPr id="32" name="Group 32"/>
          <p:cNvGrpSpPr/>
          <p:nvPr/>
        </p:nvGrpSpPr>
        <p:grpSpPr>
          <a:xfrm>
            <a:off x="6213145" y="5377188"/>
            <a:ext cx="781083" cy="777240"/>
            <a:chOff x="0" y="0"/>
            <a:chExt cx="303502" cy="302008"/>
          </a:xfrm>
        </p:grpSpPr>
        <p:sp>
          <p:nvSpPr>
            <p:cNvPr id="33" name="Freeform 33"/>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FDCEA0"/>
            </a:solidFill>
          </p:spPr>
        </p:sp>
        <p:sp>
          <p:nvSpPr>
            <p:cNvPr id="34" name="TextBox 34"/>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35" name="TextBox 35"/>
          <p:cNvSpPr txBox="1"/>
          <p:nvPr/>
        </p:nvSpPr>
        <p:spPr>
          <a:xfrm>
            <a:off x="6306708" y="5405763"/>
            <a:ext cx="593958" cy="539115"/>
          </a:xfrm>
          <a:prstGeom prst="rect">
            <a:avLst/>
          </a:prstGeom>
        </p:spPr>
        <p:txBody>
          <a:bodyPr lIns="0" tIns="0" rIns="0" bIns="0" rtlCol="0" anchor="t">
            <a:spAutoFit/>
          </a:bodyPr>
          <a:lstStyle/>
          <a:p>
            <a:pPr algn="ctr">
              <a:lnSpc>
                <a:spcPts val="3359"/>
              </a:lnSpc>
            </a:pPr>
            <a:r>
              <a:rPr lang="en-US" sz="2400" b="1">
                <a:solidFill>
                  <a:srgbClr val="7A4C51"/>
                </a:solidFill>
                <a:latin typeface="Prachason Neue Mon Bold"/>
                <a:ea typeface="Prachason Neue Mon Bold"/>
                <a:cs typeface="Prachason Neue Mon Bold"/>
                <a:sym typeface="Prachason Neue Mon Bold"/>
              </a:rPr>
              <a:t>06.</a:t>
            </a:r>
          </a:p>
        </p:txBody>
      </p:sp>
      <p:sp>
        <p:nvSpPr>
          <p:cNvPr id="36" name="TextBox 36"/>
          <p:cNvSpPr txBox="1"/>
          <p:nvPr/>
        </p:nvSpPr>
        <p:spPr>
          <a:xfrm>
            <a:off x="7210531" y="5320038"/>
            <a:ext cx="8807420" cy="834390"/>
          </a:xfrm>
          <a:prstGeom prst="rect">
            <a:avLst/>
          </a:prstGeom>
        </p:spPr>
        <p:txBody>
          <a:bodyPr lIns="0" tIns="0" rIns="0" bIns="0" rtlCol="0" anchor="t">
            <a:spAutoFit/>
          </a:bodyPr>
          <a:lstStyle/>
          <a:p>
            <a:pPr algn="l">
              <a:lnSpc>
                <a:spcPts val="3359"/>
              </a:lnSpc>
            </a:pPr>
            <a:r>
              <a:rPr lang="en-US" sz="2400">
                <a:solidFill>
                  <a:srgbClr val="DB6060"/>
                </a:solidFill>
                <a:latin typeface="TDTD가온"/>
                <a:ea typeface="TDTD가온"/>
                <a:cs typeface="TDTD가온"/>
                <a:sym typeface="TDTD가온"/>
              </a:rPr>
              <a:t>Hati :</a:t>
            </a:r>
            <a:r>
              <a:rPr lang="en-US" sz="2400">
                <a:solidFill>
                  <a:srgbClr val="7A4C51"/>
                </a:solidFill>
                <a:latin typeface="TDTD가온"/>
                <a:ea typeface="TDTD가온"/>
                <a:cs typeface="TDTD가온"/>
                <a:sym typeface="TDTD가온"/>
              </a:rPr>
              <a:t> Adalah tempat menghasilkan empedu untuk membantu pencernaan lemak dalam tubuh.</a:t>
            </a:r>
          </a:p>
        </p:txBody>
      </p:sp>
      <p:sp>
        <p:nvSpPr>
          <p:cNvPr id="37" name="Freeform 37"/>
          <p:cNvSpPr/>
          <p:nvPr/>
        </p:nvSpPr>
        <p:spPr>
          <a:xfrm>
            <a:off x="4825857" y="4750443"/>
            <a:ext cx="1387288" cy="2287770"/>
          </a:xfrm>
          <a:custGeom>
            <a:avLst/>
            <a:gdLst/>
            <a:ahLst/>
            <a:cxnLst/>
            <a:rect l="l" t="t" r="r" b="b"/>
            <a:pathLst>
              <a:path w="1387288" h="2287770">
                <a:moveTo>
                  <a:pt x="0" y="2287770"/>
                </a:moveTo>
                <a:lnTo>
                  <a:pt x="0" y="1372485"/>
                </a:lnTo>
                <a:cubicBezTo>
                  <a:pt x="0" y="1246233"/>
                  <a:pt x="102348" y="1143885"/>
                  <a:pt x="228600" y="1143885"/>
                </a:cubicBezTo>
                <a:lnTo>
                  <a:pt x="1158688" y="1143885"/>
                </a:lnTo>
                <a:cubicBezTo>
                  <a:pt x="1284941" y="1143885"/>
                  <a:pt x="1387288" y="1041538"/>
                  <a:pt x="1387288" y="915285"/>
                </a:cubicBezTo>
                <a:lnTo>
                  <a:pt x="1387288" y="0"/>
                </a:lnTo>
              </a:path>
            </a:pathLst>
          </a:custGeom>
          <a:ln w="28575" cap="rnd">
            <a:solidFill>
              <a:srgbClr val="593337"/>
            </a:solidFill>
            <a:prstDash val="lgDash"/>
            <a:headEnd type="oval" w="lg" len="lg"/>
            <a:tailEnd type="oval" w="lg" len="lg"/>
          </a:ln>
        </p:spPr>
      </p:sp>
      <p:sp>
        <p:nvSpPr>
          <p:cNvPr id="38" name="Freeform 38"/>
          <p:cNvSpPr/>
          <p:nvPr/>
        </p:nvSpPr>
        <p:spPr>
          <a:xfrm>
            <a:off x="4891431" y="5765808"/>
            <a:ext cx="1321714" cy="0"/>
          </a:xfrm>
          <a:custGeom>
            <a:avLst/>
            <a:gdLst/>
            <a:ahLst/>
            <a:cxnLst/>
            <a:rect l="l" t="t" r="r" b="b"/>
            <a:pathLst>
              <a:path w="1321714">
                <a:moveTo>
                  <a:pt x="0" y="0"/>
                </a:moveTo>
                <a:lnTo>
                  <a:pt x="1321714" y="0"/>
                </a:lnTo>
              </a:path>
            </a:pathLst>
          </a:custGeom>
          <a:ln w="28575" cap="rnd">
            <a:solidFill>
              <a:srgbClr val="593337"/>
            </a:solidFill>
            <a:prstDash val="lgDash"/>
            <a:headEnd type="oval" w="lg" len="lg"/>
            <a:tailEnd type="oval" w="lg" len="lg"/>
          </a:ln>
        </p:spPr>
      </p:sp>
      <p:sp>
        <p:nvSpPr>
          <p:cNvPr id="39" name="Freeform 39"/>
          <p:cNvSpPr/>
          <p:nvPr/>
        </p:nvSpPr>
        <p:spPr>
          <a:xfrm>
            <a:off x="3569717" y="5988335"/>
            <a:ext cx="2643429" cy="790848"/>
          </a:xfrm>
          <a:custGeom>
            <a:avLst/>
            <a:gdLst/>
            <a:ahLst/>
            <a:cxnLst/>
            <a:rect l="l" t="t" r="r" b="b"/>
            <a:pathLst>
              <a:path w="2643429" h="790848">
                <a:moveTo>
                  <a:pt x="0" y="0"/>
                </a:moveTo>
                <a:lnTo>
                  <a:pt x="1093114" y="0"/>
                </a:lnTo>
                <a:cubicBezTo>
                  <a:pt x="1219366" y="0"/>
                  <a:pt x="1321714" y="102348"/>
                  <a:pt x="1321714" y="228600"/>
                </a:cubicBezTo>
                <a:lnTo>
                  <a:pt x="1321714" y="562248"/>
                </a:lnTo>
                <a:cubicBezTo>
                  <a:pt x="1321714" y="688500"/>
                  <a:pt x="1424062" y="790848"/>
                  <a:pt x="1550314" y="790848"/>
                </a:cubicBezTo>
                <a:lnTo>
                  <a:pt x="2643428" y="790848"/>
                </a:lnTo>
              </a:path>
            </a:pathLst>
          </a:custGeom>
          <a:ln w="28575" cap="rnd">
            <a:solidFill>
              <a:srgbClr val="593337"/>
            </a:solidFill>
            <a:prstDash val="lgDash"/>
            <a:headEnd type="oval" w="lg" len="lg"/>
            <a:tailEnd type="oval" w="lg" len="lg"/>
          </a:ln>
        </p:spPr>
      </p:sp>
      <p:sp>
        <p:nvSpPr>
          <p:cNvPr id="40" name="Freeform 40"/>
          <p:cNvSpPr/>
          <p:nvPr/>
        </p:nvSpPr>
        <p:spPr>
          <a:xfrm>
            <a:off x="4275878" y="6321477"/>
            <a:ext cx="1937267" cy="1471081"/>
          </a:xfrm>
          <a:custGeom>
            <a:avLst/>
            <a:gdLst/>
            <a:ahLst/>
            <a:cxnLst/>
            <a:rect l="l" t="t" r="r" b="b"/>
            <a:pathLst>
              <a:path w="1937267" h="1471081">
                <a:moveTo>
                  <a:pt x="0" y="0"/>
                </a:moveTo>
                <a:lnTo>
                  <a:pt x="740034" y="0"/>
                </a:lnTo>
                <a:cubicBezTo>
                  <a:pt x="800662" y="0"/>
                  <a:pt x="858807" y="24084"/>
                  <a:pt x="901678" y="66955"/>
                </a:cubicBezTo>
                <a:cubicBezTo>
                  <a:pt x="944549" y="109826"/>
                  <a:pt x="968634" y="167971"/>
                  <a:pt x="968634" y="228600"/>
                </a:cubicBezTo>
                <a:lnTo>
                  <a:pt x="968634" y="1242481"/>
                </a:lnTo>
                <a:cubicBezTo>
                  <a:pt x="968634" y="1303110"/>
                  <a:pt x="992718" y="1361255"/>
                  <a:pt x="1035589" y="1404125"/>
                </a:cubicBezTo>
                <a:cubicBezTo>
                  <a:pt x="1078460" y="1446996"/>
                  <a:pt x="1136605" y="1471081"/>
                  <a:pt x="1197234" y="1471081"/>
                </a:cubicBezTo>
                <a:lnTo>
                  <a:pt x="1937267" y="1471081"/>
                </a:lnTo>
              </a:path>
            </a:pathLst>
          </a:custGeom>
          <a:ln w="28575" cap="rnd">
            <a:solidFill>
              <a:srgbClr val="593337"/>
            </a:solidFill>
            <a:prstDash val="lgDash"/>
            <a:headEnd type="oval" w="lg" len="lg"/>
            <a:tailEnd type="oval" w="lg" len="lg"/>
          </a:ln>
        </p:spPr>
      </p:sp>
      <p:grpSp>
        <p:nvGrpSpPr>
          <p:cNvPr id="41" name="Group 41"/>
          <p:cNvGrpSpPr/>
          <p:nvPr/>
        </p:nvGrpSpPr>
        <p:grpSpPr>
          <a:xfrm>
            <a:off x="-707956" y="9491426"/>
            <a:ext cx="19703911" cy="1472127"/>
            <a:chOff x="0" y="0"/>
            <a:chExt cx="7656247" cy="572017"/>
          </a:xfrm>
        </p:grpSpPr>
        <p:sp>
          <p:nvSpPr>
            <p:cNvPr id="42" name="Freeform 42"/>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43" name="TextBox 43"/>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1482440" y="1368428"/>
            <a:ext cx="8931653" cy="7550145"/>
            <a:chOff x="0" y="0"/>
            <a:chExt cx="3470526" cy="2933721"/>
          </a:xfrm>
        </p:grpSpPr>
        <p:sp>
          <p:nvSpPr>
            <p:cNvPr id="3" name="Freeform 3"/>
            <p:cNvSpPr/>
            <p:nvPr/>
          </p:nvSpPr>
          <p:spPr>
            <a:xfrm>
              <a:off x="0" y="0"/>
              <a:ext cx="3470526" cy="2933721"/>
            </a:xfrm>
            <a:custGeom>
              <a:avLst/>
              <a:gdLst/>
              <a:ahLst/>
              <a:cxnLst/>
              <a:rect l="l" t="t" r="r" b="b"/>
              <a:pathLst>
                <a:path w="3470526" h="2933721">
                  <a:moveTo>
                    <a:pt x="17336" y="0"/>
                  </a:moveTo>
                  <a:lnTo>
                    <a:pt x="3453190" y="0"/>
                  </a:lnTo>
                  <a:cubicBezTo>
                    <a:pt x="3457788" y="0"/>
                    <a:pt x="3462198" y="1826"/>
                    <a:pt x="3465449" y="5078"/>
                  </a:cubicBezTo>
                  <a:cubicBezTo>
                    <a:pt x="3468700" y="8329"/>
                    <a:pt x="3470526" y="12738"/>
                    <a:pt x="3470526" y="17336"/>
                  </a:cubicBezTo>
                  <a:lnTo>
                    <a:pt x="3470526" y="2916385"/>
                  </a:lnTo>
                  <a:cubicBezTo>
                    <a:pt x="3470526" y="2920983"/>
                    <a:pt x="3468700" y="2925392"/>
                    <a:pt x="3465449" y="2928643"/>
                  </a:cubicBezTo>
                  <a:cubicBezTo>
                    <a:pt x="3462198" y="2931894"/>
                    <a:pt x="3457788" y="2933721"/>
                    <a:pt x="3453190" y="2933721"/>
                  </a:cubicBezTo>
                  <a:lnTo>
                    <a:pt x="17336" y="2933721"/>
                  </a:lnTo>
                  <a:cubicBezTo>
                    <a:pt x="12738" y="2933721"/>
                    <a:pt x="8329" y="2931894"/>
                    <a:pt x="5078" y="2928643"/>
                  </a:cubicBezTo>
                  <a:cubicBezTo>
                    <a:pt x="1826" y="2925392"/>
                    <a:pt x="0" y="2920983"/>
                    <a:pt x="0" y="2916385"/>
                  </a:cubicBezTo>
                  <a:lnTo>
                    <a:pt x="0" y="17336"/>
                  </a:lnTo>
                  <a:cubicBezTo>
                    <a:pt x="0" y="12738"/>
                    <a:pt x="1826" y="8329"/>
                    <a:pt x="5078" y="5078"/>
                  </a:cubicBezTo>
                  <a:cubicBezTo>
                    <a:pt x="8329" y="1826"/>
                    <a:pt x="12738" y="0"/>
                    <a:pt x="17336" y="0"/>
                  </a:cubicBezTo>
                  <a:close/>
                </a:path>
              </a:pathLst>
            </a:custGeom>
            <a:solidFill>
              <a:srgbClr val="FFFFFF"/>
            </a:solidFill>
          </p:spPr>
        </p:sp>
        <p:sp>
          <p:nvSpPr>
            <p:cNvPr id="4" name="TextBox 4"/>
            <p:cNvSpPr txBox="1"/>
            <p:nvPr/>
          </p:nvSpPr>
          <p:spPr>
            <a:xfrm>
              <a:off x="0" y="-95250"/>
              <a:ext cx="3470526" cy="302897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832300" y="1708023"/>
            <a:ext cx="8231933" cy="6870954"/>
            <a:chOff x="0" y="0"/>
            <a:chExt cx="3198640" cy="2669811"/>
          </a:xfrm>
        </p:grpSpPr>
        <p:sp>
          <p:nvSpPr>
            <p:cNvPr id="6" name="Freeform 6"/>
            <p:cNvSpPr/>
            <p:nvPr/>
          </p:nvSpPr>
          <p:spPr>
            <a:xfrm>
              <a:off x="0" y="0"/>
              <a:ext cx="3198640" cy="2669811"/>
            </a:xfrm>
            <a:custGeom>
              <a:avLst/>
              <a:gdLst/>
              <a:ahLst/>
              <a:cxnLst/>
              <a:rect l="l" t="t" r="r" b="b"/>
              <a:pathLst>
                <a:path w="3198640" h="2669811">
                  <a:moveTo>
                    <a:pt x="18809" y="0"/>
                  </a:moveTo>
                  <a:lnTo>
                    <a:pt x="3179830" y="0"/>
                  </a:lnTo>
                  <a:cubicBezTo>
                    <a:pt x="3184819" y="0"/>
                    <a:pt x="3189603" y="1982"/>
                    <a:pt x="3193131" y="5509"/>
                  </a:cubicBezTo>
                  <a:cubicBezTo>
                    <a:pt x="3196658" y="9037"/>
                    <a:pt x="3198640" y="13821"/>
                    <a:pt x="3198640" y="18809"/>
                  </a:cubicBezTo>
                  <a:lnTo>
                    <a:pt x="3198640" y="2651002"/>
                  </a:lnTo>
                  <a:cubicBezTo>
                    <a:pt x="3198640" y="2661390"/>
                    <a:pt x="3190219" y="2669811"/>
                    <a:pt x="3179830" y="2669811"/>
                  </a:cubicBezTo>
                  <a:lnTo>
                    <a:pt x="18809" y="2669811"/>
                  </a:lnTo>
                  <a:cubicBezTo>
                    <a:pt x="13821" y="2669811"/>
                    <a:pt x="9037" y="2667829"/>
                    <a:pt x="5509" y="2664302"/>
                  </a:cubicBezTo>
                  <a:cubicBezTo>
                    <a:pt x="1982" y="2660774"/>
                    <a:pt x="0" y="2655990"/>
                    <a:pt x="0" y="2651002"/>
                  </a:cubicBezTo>
                  <a:lnTo>
                    <a:pt x="0" y="18809"/>
                  </a:lnTo>
                  <a:cubicBezTo>
                    <a:pt x="0" y="13821"/>
                    <a:pt x="1982" y="9037"/>
                    <a:pt x="5509" y="5509"/>
                  </a:cubicBezTo>
                  <a:cubicBezTo>
                    <a:pt x="9037" y="1982"/>
                    <a:pt x="13821" y="0"/>
                    <a:pt x="18809" y="0"/>
                  </a:cubicBezTo>
                  <a:close/>
                </a:path>
              </a:pathLst>
            </a:custGeom>
            <a:solidFill>
              <a:srgbClr val="FFFBF3"/>
            </a:solidFill>
            <a:ln w="47625" cap="sq">
              <a:solidFill>
                <a:srgbClr val="E8B19A"/>
              </a:solidFill>
              <a:prstDash val="lgDash"/>
              <a:miter/>
            </a:ln>
          </p:spPr>
        </p:sp>
        <p:sp>
          <p:nvSpPr>
            <p:cNvPr id="7" name="TextBox 7"/>
            <p:cNvSpPr txBox="1"/>
            <p:nvPr/>
          </p:nvSpPr>
          <p:spPr>
            <a:xfrm>
              <a:off x="0" y="-95250"/>
              <a:ext cx="3198640" cy="2765061"/>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10688028" y="1708023"/>
            <a:ext cx="6117532" cy="1998293"/>
            <a:chOff x="0" y="0"/>
            <a:chExt cx="2377058" cy="776466"/>
          </a:xfrm>
        </p:grpSpPr>
        <p:sp>
          <p:nvSpPr>
            <p:cNvPr id="9" name="Freeform 9"/>
            <p:cNvSpPr/>
            <p:nvPr/>
          </p:nvSpPr>
          <p:spPr>
            <a:xfrm>
              <a:off x="0" y="0"/>
              <a:ext cx="2377058" cy="776466"/>
            </a:xfrm>
            <a:custGeom>
              <a:avLst/>
              <a:gdLst/>
              <a:ahLst/>
              <a:cxnLst/>
              <a:rect l="l" t="t" r="r" b="b"/>
              <a:pathLst>
                <a:path w="2377058" h="776466">
                  <a:moveTo>
                    <a:pt x="25311" y="0"/>
                  </a:moveTo>
                  <a:lnTo>
                    <a:pt x="2351747" y="0"/>
                  </a:lnTo>
                  <a:cubicBezTo>
                    <a:pt x="2358460" y="0"/>
                    <a:pt x="2364898" y="2667"/>
                    <a:pt x="2369645" y="7413"/>
                  </a:cubicBezTo>
                  <a:cubicBezTo>
                    <a:pt x="2374391" y="12160"/>
                    <a:pt x="2377058" y="18598"/>
                    <a:pt x="2377058" y="25311"/>
                  </a:cubicBezTo>
                  <a:lnTo>
                    <a:pt x="2377058" y="751156"/>
                  </a:lnTo>
                  <a:cubicBezTo>
                    <a:pt x="2377058" y="765134"/>
                    <a:pt x="2365726" y="776466"/>
                    <a:pt x="2351747" y="776466"/>
                  </a:cubicBezTo>
                  <a:lnTo>
                    <a:pt x="25311" y="776466"/>
                  </a:lnTo>
                  <a:cubicBezTo>
                    <a:pt x="11332" y="776466"/>
                    <a:pt x="0" y="765134"/>
                    <a:pt x="0" y="751156"/>
                  </a:cubicBezTo>
                  <a:lnTo>
                    <a:pt x="0" y="25311"/>
                  </a:lnTo>
                  <a:cubicBezTo>
                    <a:pt x="0" y="11332"/>
                    <a:pt x="11332" y="0"/>
                    <a:pt x="25311" y="0"/>
                  </a:cubicBezTo>
                  <a:close/>
                </a:path>
              </a:pathLst>
            </a:custGeom>
            <a:solidFill>
              <a:srgbClr val="E47A7A"/>
            </a:solidFill>
          </p:spPr>
        </p:sp>
        <p:sp>
          <p:nvSpPr>
            <p:cNvPr id="10" name="TextBox 10"/>
            <p:cNvSpPr txBox="1"/>
            <p:nvPr/>
          </p:nvSpPr>
          <p:spPr>
            <a:xfrm>
              <a:off x="0" y="-95250"/>
              <a:ext cx="2377058" cy="871716"/>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11029995" y="1368428"/>
            <a:ext cx="5433598" cy="675737"/>
            <a:chOff x="0" y="0"/>
            <a:chExt cx="1431071" cy="177972"/>
          </a:xfrm>
        </p:grpSpPr>
        <p:sp>
          <p:nvSpPr>
            <p:cNvPr id="12" name="Freeform 12"/>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13" name="TextBox 13"/>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a:off x="10688028" y="3961526"/>
            <a:ext cx="6117532" cy="4957046"/>
            <a:chOff x="0" y="0"/>
            <a:chExt cx="2377058" cy="1926134"/>
          </a:xfrm>
        </p:grpSpPr>
        <p:sp>
          <p:nvSpPr>
            <p:cNvPr id="15" name="Freeform 15"/>
            <p:cNvSpPr/>
            <p:nvPr/>
          </p:nvSpPr>
          <p:spPr>
            <a:xfrm>
              <a:off x="0" y="0"/>
              <a:ext cx="2377058" cy="1926134"/>
            </a:xfrm>
            <a:custGeom>
              <a:avLst/>
              <a:gdLst/>
              <a:ahLst/>
              <a:cxnLst/>
              <a:rect l="l" t="t" r="r" b="b"/>
              <a:pathLst>
                <a:path w="2377058" h="1926134">
                  <a:moveTo>
                    <a:pt x="25311" y="0"/>
                  </a:moveTo>
                  <a:lnTo>
                    <a:pt x="2351747" y="0"/>
                  </a:lnTo>
                  <a:cubicBezTo>
                    <a:pt x="2358460" y="0"/>
                    <a:pt x="2364898" y="2667"/>
                    <a:pt x="2369645" y="7413"/>
                  </a:cubicBezTo>
                  <a:cubicBezTo>
                    <a:pt x="2374391" y="12160"/>
                    <a:pt x="2377058" y="18598"/>
                    <a:pt x="2377058" y="25311"/>
                  </a:cubicBezTo>
                  <a:lnTo>
                    <a:pt x="2377058" y="1900823"/>
                  </a:lnTo>
                  <a:cubicBezTo>
                    <a:pt x="2377058" y="1914802"/>
                    <a:pt x="2365726" y="1926134"/>
                    <a:pt x="2351747" y="1926134"/>
                  </a:cubicBezTo>
                  <a:lnTo>
                    <a:pt x="25311" y="1926134"/>
                  </a:lnTo>
                  <a:cubicBezTo>
                    <a:pt x="11332" y="1926134"/>
                    <a:pt x="0" y="1914802"/>
                    <a:pt x="0" y="1900823"/>
                  </a:cubicBezTo>
                  <a:lnTo>
                    <a:pt x="0" y="25311"/>
                  </a:lnTo>
                  <a:cubicBezTo>
                    <a:pt x="0" y="11332"/>
                    <a:pt x="11332" y="0"/>
                    <a:pt x="25311" y="0"/>
                  </a:cubicBezTo>
                  <a:close/>
                </a:path>
              </a:pathLst>
            </a:custGeom>
            <a:solidFill>
              <a:srgbClr val="FFFBF3"/>
            </a:solidFill>
            <a:ln w="47625" cap="sq">
              <a:solidFill>
                <a:srgbClr val="E8B19A"/>
              </a:solidFill>
              <a:prstDash val="solid"/>
              <a:miter/>
            </a:ln>
          </p:spPr>
        </p:sp>
        <p:sp>
          <p:nvSpPr>
            <p:cNvPr id="16" name="TextBox 16"/>
            <p:cNvSpPr txBox="1"/>
            <p:nvPr/>
          </p:nvSpPr>
          <p:spPr>
            <a:xfrm>
              <a:off x="0" y="-95250"/>
              <a:ext cx="2377058" cy="2021384"/>
            </a:xfrm>
            <a:prstGeom prst="rect">
              <a:avLst/>
            </a:prstGeom>
          </p:spPr>
          <p:txBody>
            <a:bodyPr lIns="50800" tIns="50800" rIns="50800" bIns="50800" rtlCol="0" anchor="ctr"/>
            <a:lstStyle/>
            <a:p>
              <a:pPr algn="ctr">
                <a:lnSpc>
                  <a:spcPts val="3359"/>
                </a:lnSpc>
              </a:pPr>
              <a:endParaRPr/>
            </a:p>
          </p:txBody>
        </p:sp>
      </p:grpSp>
      <p:sp>
        <p:nvSpPr>
          <p:cNvPr id="17" name="Freeform 17"/>
          <p:cNvSpPr/>
          <p:nvPr/>
        </p:nvSpPr>
        <p:spPr>
          <a:xfrm>
            <a:off x="11185768" y="4831085"/>
            <a:ext cx="575635" cy="624829"/>
          </a:xfrm>
          <a:custGeom>
            <a:avLst/>
            <a:gdLst/>
            <a:ahLst/>
            <a:cxnLst/>
            <a:rect l="l" t="t" r="r" b="b"/>
            <a:pathLst>
              <a:path w="575635" h="624829">
                <a:moveTo>
                  <a:pt x="0" y="0"/>
                </a:moveTo>
                <a:lnTo>
                  <a:pt x="575635" y="0"/>
                </a:lnTo>
                <a:lnTo>
                  <a:pt x="575635" y="624830"/>
                </a:lnTo>
                <a:lnTo>
                  <a:pt x="0" y="6248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a:off x="15732185" y="6905009"/>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9" name="Group 19"/>
          <p:cNvGrpSpPr/>
          <p:nvPr/>
        </p:nvGrpSpPr>
        <p:grpSpPr>
          <a:xfrm>
            <a:off x="2221883" y="4627646"/>
            <a:ext cx="2711207" cy="675737"/>
            <a:chOff x="0" y="0"/>
            <a:chExt cx="714063" cy="177972"/>
          </a:xfrm>
        </p:grpSpPr>
        <p:sp>
          <p:nvSpPr>
            <p:cNvPr id="20" name="Freeform 20"/>
            <p:cNvSpPr/>
            <p:nvPr/>
          </p:nvSpPr>
          <p:spPr>
            <a:xfrm>
              <a:off x="0" y="0"/>
              <a:ext cx="714063" cy="177972"/>
            </a:xfrm>
            <a:custGeom>
              <a:avLst/>
              <a:gdLst/>
              <a:ahLst/>
              <a:cxnLst/>
              <a:rect l="l" t="t" r="r" b="b"/>
              <a:pathLst>
                <a:path w="714063" h="177972">
                  <a:moveTo>
                    <a:pt x="88986" y="0"/>
                  </a:moveTo>
                  <a:lnTo>
                    <a:pt x="625077" y="0"/>
                  </a:lnTo>
                  <a:cubicBezTo>
                    <a:pt x="648677" y="0"/>
                    <a:pt x="671311" y="9375"/>
                    <a:pt x="687999" y="26063"/>
                  </a:cubicBezTo>
                  <a:cubicBezTo>
                    <a:pt x="704687" y="42751"/>
                    <a:pt x="714063" y="65385"/>
                    <a:pt x="714063" y="88986"/>
                  </a:cubicBezTo>
                  <a:lnTo>
                    <a:pt x="714063" y="88986"/>
                  </a:lnTo>
                  <a:cubicBezTo>
                    <a:pt x="714063" y="112586"/>
                    <a:pt x="704687" y="135220"/>
                    <a:pt x="687999" y="151908"/>
                  </a:cubicBezTo>
                  <a:cubicBezTo>
                    <a:pt x="671311" y="168597"/>
                    <a:pt x="648677" y="177972"/>
                    <a:pt x="625077"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E47A7A"/>
            </a:solidFill>
          </p:spPr>
        </p:sp>
        <p:sp>
          <p:nvSpPr>
            <p:cNvPr id="21" name="TextBox 21"/>
            <p:cNvSpPr txBox="1"/>
            <p:nvPr/>
          </p:nvSpPr>
          <p:spPr>
            <a:xfrm>
              <a:off x="0" y="-95250"/>
              <a:ext cx="714063" cy="273222"/>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2221883" y="6511809"/>
            <a:ext cx="2954352" cy="675737"/>
            <a:chOff x="0" y="0"/>
            <a:chExt cx="778101" cy="177972"/>
          </a:xfrm>
        </p:grpSpPr>
        <p:sp>
          <p:nvSpPr>
            <p:cNvPr id="23" name="Freeform 23"/>
            <p:cNvSpPr/>
            <p:nvPr/>
          </p:nvSpPr>
          <p:spPr>
            <a:xfrm>
              <a:off x="0" y="0"/>
              <a:ext cx="778101" cy="177972"/>
            </a:xfrm>
            <a:custGeom>
              <a:avLst/>
              <a:gdLst/>
              <a:ahLst/>
              <a:cxnLst/>
              <a:rect l="l" t="t" r="r" b="b"/>
              <a:pathLst>
                <a:path w="778101" h="177972">
                  <a:moveTo>
                    <a:pt x="88986" y="0"/>
                  </a:moveTo>
                  <a:lnTo>
                    <a:pt x="689115" y="0"/>
                  </a:lnTo>
                  <a:cubicBezTo>
                    <a:pt x="738261" y="0"/>
                    <a:pt x="778101" y="39840"/>
                    <a:pt x="778101" y="88986"/>
                  </a:cubicBezTo>
                  <a:lnTo>
                    <a:pt x="778101" y="88986"/>
                  </a:lnTo>
                  <a:cubicBezTo>
                    <a:pt x="778101" y="112586"/>
                    <a:pt x="768726" y="135220"/>
                    <a:pt x="752038" y="151908"/>
                  </a:cubicBezTo>
                  <a:cubicBezTo>
                    <a:pt x="735349" y="168597"/>
                    <a:pt x="712716" y="177972"/>
                    <a:pt x="68911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24" name="TextBox 24"/>
            <p:cNvSpPr txBox="1"/>
            <p:nvPr/>
          </p:nvSpPr>
          <p:spPr>
            <a:xfrm>
              <a:off x="0" y="-95250"/>
              <a:ext cx="778101" cy="273222"/>
            </a:xfrm>
            <a:prstGeom prst="rect">
              <a:avLst/>
            </a:prstGeom>
          </p:spPr>
          <p:txBody>
            <a:bodyPr lIns="50800" tIns="50800" rIns="50800" bIns="50800" rtlCol="0" anchor="ctr"/>
            <a:lstStyle/>
            <a:p>
              <a:pPr algn="ctr">
                <a:lnSpc>
                  <a:spcPts val="3359"/>
                </a:lnSpc>
              </a:pPr>
              <a:endParaRPr/>
            </a:p>
          </p:txBody>
        </p:sp>
      </p:grpSp>
      <p:grpSp>
        <p:nvGrpSpPr>
          <p:cNvPr id="25" name="Group 25"/>
          <p:cNvGrpSpPr/>
          <p:nvPr/>
        </p:nvGrpSpPr>
        <p:grpSpPr>
          <a:xfrm>
            <a:off x="-707956" y="9491426"/>
            <a:ext cx="19703911" cy="1472127"/>
            <a:chOff x="0" y="0"/>
            <a:chExt cx="7656247" cy="572017"/>
          </a:xfrm>
        </p:grpSpPr>
        <p:sp>
          <p:nvSpPr>
            <p:cNvPr id="26" name="Freeform 26"/>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27" name="TextBox 27"/>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
        <p:nvSpPr>
          <p:cNvPr id="28" name="Freeform 28"/>
          <p:cNvSpPr/>
          <p:nvPr/>
        </p:nvSpPr>
        <p:spPr>
          <a:xfrm>
            <a:off x="10746602" y="4192091"/>
            <a:ext cx="6058958" cy="4019089"/>
          </a:xfrm>
          <a:custGeom>
            <a:avLst/>
            <a:gdLst/>
            <a:ahLst/>
            <a:cxnLst/>
            <a:rect l="l" t="t" r="r" b="b"/>
            <a:pathLst>
              <a:path w="6058958" h="4019089">
                <a:moveTo>
                  <a:pt x="0" y="0"/>
                </a:moveTo>
                <a:lnTo>
                  <a:pt x="6058958" y="0"/>
                </a:lnTo>
                <a:lnTo>
                  <a:pt x="6058958" y="4019090"/>
                </a:lnTo>
                <a:lnTo>
                  <a:pt x="0" y="4019090"/>
                </a:lnTo>
                <a:lnTo>
                  <a:pt x="0" y="0"/>
                </a:lnTo>
                <a:close/>
              </a:path>
            </a:pathLst>
          </a:custGeom>
          <a:blipFill>
            <a:blip r:embed="rId4"/>
            <a:stretch>
              <a:fillRect l="-5774"/>
            </a:stretch>
          </a:blipFill>
        </p:spPr>
      </p:sp>
      <p:sp>
        <p:nvSpPr>
          <p:cNvPr id="29" name="TextBox 29"/>
          <p:cNvSpPr txBox="1"/>
          <p:nvPr/>
        </p:nvSpPr>
        <p:spPr>
          <a:xfrm>
            <a:off x="11342834" y="1470076"/>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30" name="TextBox 30"/>
          <p:cNvSpPr txBox="1"/>
          <p:nvPr/>
        </p:nvSpPr>
        <p:spPr>
          <a:xfrm>
            <a:off x="11029995" y="2398771"/>
            <a:ext cx="5433598" cy="971550"/>
          </a:xfrm>
          <a:prstGeom prst="rect">
            <a:avLst/>
          </a:prstGeom>
        </p:spPr>
        <p:txBody>
          <a:bodyPr lIns="0" tIns="0" rIns="0" bIns="0" rtlCol="0" anchor="t">
            <a:spAutoFit/>
          </a:bodyPr>
          <a:lstStyle/>
          <a:p>
            <a:pPr algn="ctr">
              <a:lnSpc>
                <a:spcPts val="6270"/>
              </a:lnSpc>
            </a:pPr>
            <a:r>
              <a:rPr lang="en-US" sz="6600" spc="-66">
                <a:solidFill>
                  <a:srgbClr val="FFFFFF"/>
                </a:solidFill>
                <a:latin typeface="Funtastic"/>
                <a:ea typeface="Funtastic"/>
                <a:cs typeface="Funtastic"/>
                <a:sym typeface="Funtastic"/>
              </a:rPr>
              <a:t>Mulut</a:t>
            </a:r>
          </a:p>
        </p:txBody>
      </p:sp>
      <p:sp>
        <p:nvSpPr>
          <p:cNvPr id="31" name="TextBox 31"/>
          <p:cNvSpPr txBox="1"/>
          <p:nvPr/>
        </p:nvSpPr>
        <p:spPr>
          <a:xfrm>
            <a:off x="2221883" y="2626089"/>
            <a:ext cx="7452767" cy="16725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Mulut adalah bagian awal dari saluran pencernaan pada manusia dan hewan yang berfungsi untuk mengunyah makanan, berbicara, serta juga sebagai tempat masuknya udara saat bernapas.</a:t>
            </a:r>
          </a:p>
        </p:txBody>
      </p:sp>
      <p:sp>
        <p:nvSpPr>
          <p:cNvPr id="32" name="TextBox 32"/>
          <p:cNvSpPr txBox="1"/>
          <p:nvPr/>
        </p:nvSpPr>
        <p:spPr>
          <a:xfrm>
            <a:off x="2221883" y="1969789"/>
            <a:ext cx="7452767" cy="539115"/>
          </a:xfrm>
          <a:prstGeom prst="rect">
            <a:avLst/>
          </a:prstGeom>
        </p:spPr>
        <p:txBody>
          <a:bodyPr lIns="0" tIns="0" rIns="0" bIns="0" rtlCol="0" anchor="t">
            <a:spAutoFit/>
          </a:bodyPr>
          <a:lstStyle/>
          <a:p>
            <a:pPr algn="l">
              <a:lnSpc>
                <a:spcPts val="3359"/>
              </a:lnSpc>
            </a:pPr>
            <a:r>
              <a:rPr lang="en-US" sz="2400" b="1">
                <a:solidFill>
                  <a:srgbClr val="593337"/>
                </a:solidFill>
                <a:latin typeface="Prachason Neue Mon Bold"/>
                <a:ea typeface="Prachason Neue Mon Bold"/>
                <a:cs typeface="Prachason Neue Mon Bold"/>
                <a:sym typeface="Prachason Neue Mon Bold"/>
              </a:rPr>
              <a:t>Pengertian Mulut :</a:t>
            </a:r>
          </a:p>
        </p:txBody>
      </p:sp>
      <p:sp>
        <p:nvSpPr>
          <p:cNvPr id="33" name="TextBox 33"/>
          <p:cNvSpPr txBox="1"/>
          <p:nvPr/>
        </p:nvSpPr>
        <p:spPr>
          <a:xfrm>
            <a:off x="2575974" y="4605469"/>
            <a:ext cx="2003025" cy="539115"/>
          </a:xfrm>
          <a:prstGeom prst="rect">
            <a:avLst/>
          </a:prstGeom>
        </p:spPr>
        <p:txBody>
          <a:bodyPr lIns="0" tIns="0" rIns="0" bIns="0" rtlCol="0" anchor="t">
            <a:spAutoFit/>
          </a:bodyPr>
          <a:lstStyle/>
          <a:p>
            <a:pPr algn="ctr">
              <a:lnSpc>
                <a:spcPts val="3359"/>
              </a:lnSpc>
            </a:pPr>
            <a:r>
              <a:rPr lang="en-US" sz="2400" b="1">
                <a:solidFill>
                  <a:srgbClr val="FFFFFF"/>
                </a:solidFill>
                <a:latin typeface="Prachason Neue Mon Bold"/>
                <a:ea typeface="Prachason Neue Mon Bold"/>
                <a:cs typeface="Prachason Neue Mon Bold"/>
                <a:sym typeface="Prachason Neue Mon Bold"/>
              </a:rPr>
              <a:t>Fungsi Gigi :</a:t>
            </a:r>
          </a:p>
        </p:txBody>
      </p:sp>
      <p:sp>
        <p:nvSpPr>
          <p:cNvPr id="34" name="TextBox 34"/>
          <p:cNvSpPr txBox="1"/>
          <p:nvPr/>
        </p:nvSpPr>
        <p:spPr>
          <a:xfrm>
            <a:off x="2221883" y="5417683"/>
            <a:ext cx="7452767" cy="8343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Struktur keras dalam mulut yang digunakan untuk memotong, mencabik, dan mengunyah makanan.</a:t>
            </a:r>
          </a:p>
        </p:txBody>
      </p:sp>
      <p:sp>
        <p:nvSpPr>
          <p:cNvPr id="35" name="TextBox 35"/>
          <p:cNvSpPr txBox="1"/>
          <p:nvPr/>
        </p:nvSpPr>
        <p:spPr>
          <a:xfrm>
            <a:off x="2553179" y="6489633"/>
            <a:ext cx="2291759" cy="539115"/>
          </a:xfrm>
          <a:prstGeom prst="rect">
            <a:avLst/>
          </a:prstGeom>
        </p:spPr>
        <p:txBody>
          <a:bodyPr lIns="0" tIns="0" rIns="0" bIns="0" rtlCol="0" anchor="t">
            <a:spAutoFit/>
          </a:bodyPr>
          <a:lstStyle/>
          <a:p>
            <a:pPr algn="ctr">
              <a:lnSpc>
                <a:spcPts val="3359"/>
              </a:lnSpc>
            </a:pPr>
            <a:r>
              <a:rPr lang="en-US" sz="2400" b="1">
                <a:solidFill>
                  <a:srgbClr val="593337"/>
                </a:solidFill>
                <a:latin typeface="Prachason Neue Mon Bold"/>
                <a:ea typeface="Prachason Neue Mon Bold"/>
                <a:cs typeface="Prachason Neue Mon Bold"/>
                <a:sym typeface="Prachason Neue Mon Bold"/>
              </a:rPr>
              <a:t>Fungsi Lidah :</a:t>
            </a:r>
          </a:p>
        </p:txBody>
      </p:sp>
      <p:sp>
        <p:nvSpPr>
          <p:cNvPr id="36" name="TextBox 36"/>
          <p:cNvSpPr txBox="1"/>
          <p:nvPr/>
        </p:nvSpPr>
        <p:spPr>
          <a:xfrm>
            <a:off x="2221883" y="7301846"/>
            <a:ext cx="7452767" cy="8343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Organ otot yang fleksibel, berperan dalam mengecap rasa, membantu mengunyah dan menelan makanan.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1367090" y="6954599"/>
            <a:ext cx="6418426" cy="1998293"/>
            <a:chOff x="0" y="0"/>
            <a:chExt cx="2493975" cy="776466"/>
          </a:xfrm>
        </p:grpSpPr>
        <p:sp>
          <p:nvSpPr>
            <p:cNvPr id="3" name="Freeform 3"/>
            <p:cNvSpPr/>
            <p:nvPr/>
          </p:nvSpPr>
          <p:spPr>
            <a:xfrm>
              <a:off x="0" y="0"/>
              <a:ext cx="2493975" cy="776466"/>
            </a:xfrm>
            <a:custGeom>
              <a:avLst/>
              <a:gdLst/>
              <a:ahLst/>
              <a:cxnLst/>
              <a:rect l="l" t="t" r="r" b="b"/>
              <a:pathLst>
                <a:path w="2493975" h="776466">
                  <a:moveTo>
                    <a:pt x="24124" y="0"/>
                  </a:moveTo>
                  <a:lnTo>
                    <a:pt x="2469851" y="0"/>
                  </a:lnTo>
                  <a:cubicBezTo>
                    <a:pt x="2476249" y="0"/>
                    <a:pt x="2482385" y="2542"/>
                    <a:pt x="2486909" y="7066"/>
                  </a:cubicBezTo>
                  <a:cubicBezTo>
                    <a:pt x="2491433" y="11590"/>
                    <a:pt x="2493975" y="17726"/>
                    <a:pt x="2493975" y="24124"/>
                  </a:cubicBezTo>
                  <a:lnTo>
                    <a:pt x="2493975" y="752342"/>
                  </a:lnTo>
                  <a:cubicBezTo>
                    <a:pt x="2493975" y="758741"/>
                    <a:pt x="2491433" y="764877"/>
                    <a:pt x="2486909" y="769401"/>
                  </a:cubicBezTo>
                  <a:cubicBezTo>
                    <a:pt x="2482385" y="773925"/>
                    <a:pt x="2476249" y="776466"/>
                    <a:pt x="2469851" y="776466"/>
                  </a:cubicBezTo>
                  <a:lnTo>
                    <a:pt x="24124" y="776466"/>
                  </a:lnTo>
                  <a:cubicBezTo>
                    <a:pt x="17726" y="776466"/>
                    <a:pt x="11590" y="773925"/>
                    <a:pt x="7066" y="769401"/>
                  </a:cubicBezTo>
                  <a:cubicBezTo>
                    <a:pt x="2542" y="764877"/>
                    <a:pt x="0" y="758741"/>
                    <a:pt x="0" y="752342"/>
                  </a:cubicBezTo>
                  <a:lnTo>
                    <a:pt x="0" y="24124"/>
                  </a:lnTo>
                  <a:cubicBezTo>
                    <a:pt x="0" y="17726"/>
                    <a:pt x="2542" y="11590"/>
                    <a:pt x="7066" y="7066"/>
                  </a:cubicBezTo>
                  <a:cubicBezTo>
                    <a:pt x="11590" y="2542"/>
                    <a:pt x="17726" y="0"/>
                    <a:pt x="24124" y="0"/>
                  </a:cubicBezTo>
                  <a:close/>
                </a:path>
              </a:pathLst>
            </a:custGeom>
            <a:solidFill>
              <a:srgbClr val="E47A7A"/>
            </a:solidFill>
          </p:spPr>
        </p:sp>
        <p:sp>
          <p:nvSpPr>
            <p:cNvPr id="4" name="TextBox 4"/>
            <p:cNvSpPr txBox="1"/>
            <p:nvPr/>
          </p:nvSpPr>
          <p:spPr>
            <a:xfrm>
              <a:off x="0" y="-95250"/>
              <a:ext cx="2493975" cy="87171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859504" y="6616094"/>
            <a:ext cx="5433598" cy="675737"/>
            <a:chOff x="0" y="0"/>
            <a:chExt cx="1431071" cy="177972"/>
          </a:xfrm>
        </p:grpSpPr>
        <p:sp>
          <p:nvSpPr>
            <p:cNvPr id="6" name="Freeform 6"/>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7" name="TextBox 7"/>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1367090" y="1334108"/>
            <a:ext cx="6418426" cy="4996237"/>
            <a:chOff x="0" y="0"/>
            <a:chExt cx="2493975" cy="1941362"/>
          </a:xfrm>
        </p:grpSpPr>
        <p:sp>
          <p:nvSpPr>
            <p:cNvPr id="9" name="Freeform 9"/>
            <p:cNvSpPr/>
            <p:nvPr/>
          </p:nvSpPr>
          <p:spPr>
            <a:xfrm>
              <a:off x="0" y="0"/>
              <a:ext cx="2493975" cy="1941362"/>
            </a:xfrm>
            <a:custGeom>
              <a:avLst/>
              <a:gdLst/>
              <a:ahLst/>
              <a:cxnLst/>
              <a:rect l="l" t="t" r="r" b="b"/>
              <a:pathLst>
                <a:path w="2493975" h="1941362">
                  <a:moveTo>
                    <a:pt x="24124" y="0"/>
                  </a:moveTo>
                  <a:lnTo>
                    <a:pt x="2469851" y="0"/>
                  </a:lnTo>
                  <a:cubicBezTo>
                    <a:pt x="2476249" y="0"/>
                    <a:pt x="2482385" y="2542"/>
                    <a:pt x="2486909" y="7066"/>
                  </a:cubicBezTo>
                  <a:cubicBezTo>
                    <a:pt x="2491433" y="11590"/>
                    <a:pt x="2493975" y="17726"/>
                    <a:pt x="2493975" y="24124"/>
                  </a:cubicBezTo>
                  <a:lnTo>
                    <a:pt x="2493975" y="1917238"/>
                  </a:lnTo>
                  <a:cubicBezTo>
                    <a:pt x="2493975" y="1923636"/>
                    <a:pt x="2491433" y="1929772"/>
                    <a:pt x="2486909" y="1934296"/>
                  </a:cubicBezTo>
                  <a:cubicBezTo>
                    <a:pt x="2482385" y="1938820"/>
                    <a:pt x="2476249" y="1941362"/>
                    <a:pt x="2469851" y="1941362"/>
                  </a:cubicBezTo>
                  <a:lnTo>
                    <a:pt x="24124" y="1941362"/>
                  </a:lnTo>
                  <a:cubicBezTo>
                    <a:pt x="17726" y="1941362"/>
                    <a:pt x="11590" y="1938820"/>
                    <a:pt x="7066" y="1934296"/>
                  </a:cubicBezTo>
                  <a:cubicBezTo>
                    <a:pt x="2542" y="1929772"/>
                    <a:pt x="0" y="1923636"/>
                    <a:pt x="0" y="1917238"/>
                  </a:cubicBezTo>
                  <a:lnTo>
                    <a:pt x="0" y="24124"/>
                  </a:lnTo>
                  <a:cubicBezTo>
                    <a:pt x="0" y="17726"/>
                    <a:pt x="2542" y="11590"/>
                    <a:pt x="7066" y="7066"/>
                  </a:cubicBezTo>
                  <a:cubicBezTo>
                    <a:pt x="11590" y="2542"/>
                    <a:pt x="17726" y="0"/>
                    <a:pt x="24124" y="0"/>
                  </a:cubicBezTo>
                  <a:close/>
                </a:path>
              </a:pathLst>
            </a:custGeom>
            <a:solidFill>
              <a:srgbClr val="FFFBF3"/>
            </a:solidFill>
            <a:ln w="47625" cap="sq">
              <a:solidFill>
                <a:srgbClr val="E8B19A"/>
              </a:solidFill>
              <a:prstDash val="solid"/>
              <a:miter/>
            </a:ln>
          </p:spPr>
        </p:sp>
        <p:sp>
          <p:nvSpPr>
            <p:cNvPr id="10" name="TextBox 10"/>
            <p:cNvSpPr txBox="1"/>
            <p:nvPr/>
          </p:nvSpPr>
          <p:spPr>
            <a:xfrm>
              <a:off x="0" y="-95250"/>
              <a:ext cx="2493975" cy="2036612"/>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8043974" y="1334108"/>
            <a:ext cx="8876936" cy="7618785"/>
            <a:chOff x="0" y="0"/>
            <a:chExt cx="3449265" cy="2960392"/>
          </a:xfrm>
        </p:grpSpPr>
        <p:sp>
          <p:nvSpPr>
            <p:cNvPr id="12" name="Freeform 12"/>
            <p:cNvSpPr/>
            <p:nvPr/>
          </p:nvSpPr>
          <p:spPr>
            <a:xfrm>
              <a:off x="0" y="0"/>
              <a:ext cx="3449265" cy="2960392"/>
            </a:xfrm>
            <a:custGeom>
              <a:avLst/>
              <a:gdLst/>
              <a:ahLst/>
              <a:cxnLst/>
              <a:rect l="l" t="t" r="r" b="b"/>
              <a:pathLst>
                <a:path w="3449265" h="2960392">
                  <a:moveTo>
                    <a:pt x="17443" y="0"/>
                  </a:moveTo>
                  <a:lnTo>
                    <a:pt x="3431822" y="0"/>
                  </a:lnTo>
                  <a:cubicBezTo>
                    <a:pt x="3436448" y="0"/>
                    <a:pt x="3440885" y="1838"/>
                    <a:pt x="3444156" y="5109"/>
                  </a:cubicBezTo>
                  <a:cubicBezTo>
                    <a:pt x="3447427" y="8380"/>
                    <a:pt x="3449265" y="12817"/>
                    <a:pt x="3449265" y="17443"/>
                  </a:cubicBezTo>
                  <a:lnTo>
                    <a:pt x="3449265" y="2942949"/>
                  </a:lnTo>
                  <a:cubicBezTo>
                    <a:pt x="3449265" y="2947575"/>
                    <a:pt x="3447427" y="2952012"/>
                    <a:pt x="3444156" y="2955283"/>
                  </a:cubicBezTo>
                  <a:cubicBezTo>
                    <a:pt x="3440885" y="2958554"/>
                    <a:pt x="3436448" y="2960392"/>
                    <a:pt x="3431822" y="2960392"/>
                  </a:cubicBezTo>
                  <a:lnTo>
                    <a:pt x="17443" y="2960392"/>
                  </a:lnTo>
                  <a:cubicBezTo>
                    <a:pt x="12817" y="2960392"/>
                    <a:pt x="8380" y="2958554"/>
                    <a:pt x="5109" y="2955283"/>
                  </a:cubicBezTo>
                  <a:cubicBezTo>
                    <a:pt x="1838" y="2952012"/>
                    <a:pt x="0" y="2947575"/>
                    <a:pt x="0" y="2942949"/>
                  </a:cubicBezTo>
                  <a:lnTo>
                    <a:pt x="0" y="17443"/>
                  </a:lnTo>
                  <a:cubicBezTo>
                    <a:pt x="0" y="12817"/>
                    <a:pt x="1838" y="8380"/>
                    <a:pt x="5109" y="5109"/>
                  </a:cubicBezTo>
                  <a:cubicBezTo>
                    <a:pt x="8380" y="1838"/>
                    <a:pt x="12817" y="0"/>
                    <a:pt x="17443" y="0"/>
                  </a:cubicBezTo>
                  <a:close/>
                </a:path>
              </a:pathLst>
            </a:custGeom>
            <a:solidFill>
              <a:srgbClr val="FFFFFF"/>
            </a:solidFill>
          </p:spPr>
        </p:sp>
        <p:sp>
          <p:nvSpPr>
            <p:cNvPr id="13" name="TextBox 13"/>
            <p:cNvSpPr txBox="1"/>
            <p:nvPr/>
          </p:nvSpPr>
          <p:spPr>
            <a:xfrm>
              <a:off x="0" y="-95250"/>
              <a:ext cx="3449265" cy="3055642"/>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a:off x="8401861" y="1708023"/>
            <a:ext cx="8161163" cy="6870954"/>
            <a:chOff x="0" y="0"/>
            <a:chExt cx="3171141" cy="2669811"/>
          </a:xfrm>
        </p:grpSpPr>
        <p:sp>
          <p:nvSpPr>
            <p:cNvPr id="15" name="Freeform 15"/>
            <p:cNvSpPr/>
            <p:nvPr/>
          </p:nvSpPr>
          <p:spPr>
            <a:xfrm>
              <a:off x="0" y="0"/>
              <a:ext cx="3171141" cy="2669811"/>
            </a:xfrm>
            <a:custGeom>
              <a:avLst/>
              <a:gdLst/>
              <a:ahLst/>
              <a:cxnLst/>
              <a:rect l="l" t="t" r="r" b="b"/>
              <a:pathLst>
                <a:path w="3171141" h="2669811">
                  <a:moveTo>
                    <a:pt x="18973" y="0"/>
                  </a:moveTo>
                  <a:lnTo>
                    <a:pt x="3152169" y="0"/>
                  </a:lnTo>
                  <a:cubicBezTo>
                    <a:pt x="3162647" y="0"/>
                    <a:pt x="3171141" y="8494"/>
                    <a:pt x="3171141" y="18973"/>
                  </a:cubicBezTo>
                  <a:lnTo>
                    <a:pt x="3171141" y="2650839"/>
                  </a:lnTo>
                  <a:cubicBezTo>
                    <a:pt x="3171141" y="2655870"/>
                    <a:pt x="3169142" y="2660696"/>
                    <a:pt x="3165584" y="2664254"/>
                  </a:cubicBezTo>
                  <a:cubicBezTo>
                    <a:pt x="3162026" y="2667812"/>
                    <a:pt x="3157200" y="2669811"/>
                    <a:pt x="3152169" y="2669811"/>
                  </a:cubicBezTo>
                  <a:lnTo>
                    <a:pt x="18973" y="2669811"/>
                  </a:lnTo>
                  <a:cubicBezTo>
                    <a:pt x="13941" y="2669811"/>
                    <a:pt x="9115" y="2667812"/>
                    <a:pt x="5557" y="2664254"/>
                  </a:cubicBezTo>
                  <a:cubicBezTo>
                    <a:pt x="1999" y="2660696"/>
                    <a:pt x="0" y="2655870"/>
                    <a:pt x="0" y="2650839"/>
                  </a:cubicBezTo>
                  <a:lnTo>
                    <a:pt x="0" y="18973"/>
                  </a:lnTo>
                  <a:cubicBezTo>
                    <a:pt x="0" y="13941"/>
                    <a:pt x="1999" y="9115"/>
                    <a:pt x="5557" y="5557"/>
                  </a:cubicBezTo>
                  <a:cubicBezTo>
                    <a:pt x="9115" y="1999"/>
                    <a:pt x="13941" y="0"/>
                    <a:pt x="18973" y="0"/>
                  </a:cubicBezTo>
                  <a:close/>
                </a:path>
              </a:pathLst>
            </a:custGeom>
            <a:solidFill>
              <a:srgbClr val="FFFBF3"/>
            </a:solidFill>
            <a:ln w="47625" cap="sq">
              <a:solidFill>
                <a:srgbClr val="E8B19A"/>
              </a:solidFill>
              <a:prstDash val="lgDash"/>
              <a:miter/>
            </a:ln>
          </p:spPr>
        </p:sp>
        <p:sp>
          <p:nvSpPr>
            <p:cNvPr id="16" name="TextBox 16"/>
            <p:cNvSpPr txBox="1"/>
            <p:nvPr/>
          </p:nvSpPr>
          <p:spPr>
            <a:xfrm>
              <a:off x="0" y="-95250"/>
              <a:ext cx="3171141" cy="2765061"/>
            </a:xfrm>
            <a:prstGeom prst="rect">
              <a:avLst/>
            </a:prstGeom>
          </p:spPr>
          <p:txBody>
            <a:bodyPr lIns="50800" tIns="50800" rIns="50800" bIns="50800" rtlCol="0" anchor="ctr"/>
            <a:lstStyle/>
            <a:p>
              <a:pPr algn="ctr">
                <a:lnSpc>
                  <a:spcPts val="3359"/>
                </a:lnSpc>
              </a:pPr>
              <a:endParaRPr/>
            </a:p>
          </p:txBody>
        </p:sp>
      </p:grpSp>
      <p:sp>
        <p:nvSpPr>
          <p:cNvPr id="17" name="Freeform 17"/>
          <p:cNvSpPr/>
          <p:nvPr/>
        </p:nvSpPr>
        <p:spPr>
          <a:xfrm>
            <a:off x="2487454" y="2628569"/>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a:off x="6089516" y="3693643"/>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9" name="Group 19"/>
          <p:cNvGrpSpPr/>
          <p:nvPr/>
        </p:nvGrpSpPr>
        <p:grpSpPr>
          <a:xfrm>
            <a:off x="8790602" y="4623027"/>
            <a:ext cx="3908300" cy="675737"/>
            <a:chOff x="0" y="0"/>
            <a:chExt cx="1029347" cy="177972"/>
          </a:xfrm>
        </p:grpSpPr>
        <p:sp>
          <p:nvSpPr>
            <p:cNvPr id="20" name="Freeform 20"/>
            <p:cNvSpPr/>
            <p:nvPr/>
          </p:nvSpPr>
          <p:spPr>
            <a:xfrm>
              <a:off x="0" y="0"/>
              <a:ext cx="1029347" cy="177972"/>
            </a:xfrm>
            <a:custGeom>
              <a:avLst/>
              <a:gdLst/>
              <a:ahLst/>
              <a:cxnLst/>
              <a:rect l="l" t="t" r="r" b="b"/>
              <a:pathLst>
                <a:path w="1029347" h="177972">
                  <a:moveTo>
                    <a:pt x="88986" y="0"/>
                  </a:moveTo>
                  <a:lnTo>
                    <a:pt x="940361" y="0"/>
                  </a:lnTo>
                  <a:cubicBezTo>
                    <a:pt x="963961" y="0"/>
                    <a:pt x="986595" y="9375"/>
                    <a:pt x="1003283" y="26063"/>
                  </a:cubicBezTo>
                  <a:cubicBezTo>
                    <a:pt x="1019971" y="42751"/>
                    <a:pt x="1029347" y="65385"/>
                    <a:pt x="1029347" y="88986"/>
                  </a:cubicBezTo>
                  <a:lnTo>
                    <a:pt x="1029347" y="88986"/>
                  </a:lnTo>
                  <a:cubicBezTo>
                    <a:pt x="1029347" y="138131"/>
                    <a:pt x="989506" y="177972"/>
                    <a:pt x="940361"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E47A7A"/>
            </a:solidFill>
          </p:spPr>
        </p:sp>
        <p:sp>
          <p:nvSpPr>
            <p:cNvPr id="21" name="TextBox 21"/>
            <p:cNvSpPr txBox="1"/>
            <p:nvPr/>
          </p:nvSpPr>
          <p:spPr>
            <a:xfrm>
              <a:off x="0" y="-95250"/>
              <a:ext cx="1029347" cy="273222"/>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8790602" y="6580829"/>
            <a:ext cx="3908300" cy="675737"/>
            <a:chOff x="0" y="0"/>
            <a:chExt cx="1029347" cy="177972"/>
          </a:xfrm>
        </p:grpSpPr>
        <p:sp>
          <p:nvSpPr>
            <p:cNvPr id="23" name="Freeform 23"/>
            <p:cNvSpPr/>
            <p:nvPr/>
          </p:nvSpPr>
          <p:spPr>
            <a:xfrm>
              <a:off x="0" y="0"/>
              <a:ext cx="1029347" cy="177972"/>
            </a:xfrm>
            <a:custGeom>
              <a:avLst/>
              <a:gdLst/>
              <a:ahLst/>
              <a:cxnLst/>
              <a:rect l="l" t="t" r="r" b="b"/>
              <a:pathLst>
                <a:path w="1029347" h="177972">
                  <a:moveTo>
                    <a:pt x="88986" y="0"/>
                  </a:moveTo>
                  <a:lnTo>
                    <a:pt x="940361" y="0"/>
                  </a:lnTo>
                  <a:cubicBezTo>
                    <a:pt x="963961" y="0"/>
                    <a:pt x="986595" y="9375"/>
                    <a:pt x="1003283" y="26063"/>
                  </a:cubicBezTo>
                  <a:cubicBezTo>
                    <a:pt x="1019971" y="42751"/>
                    <a:pt x="1029347" y="65385"/>
                    <a:pt x="1029347" y="88986"/>
                  </a:cubicBezTo>
                  <a:lnTo>
                    <a:pt x="1029347" y="88986"/>
                  </a:lnTo>
                  <a:cubicBezTo>
                    <a:pt x="1029347" y="138131"/>
                    <a:pt x="989506" y="177972"/>
                    <a:pt x="940361"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24" name="TextBox 24"/>
            <p:cNvSpPr txBox="1"/>
            <p:nvPr/>
          </p:nvSpPr>
          <p:spPr>
            <a:xfrm>
              <a:off x="0" y="-95250"/>
              <a:ext cx="1029347" cy="273222"/>
            </a:xfrm>
            <a:prstGeom prst="rect">
              <a:avLst/>
            </a:prstGeom>
          </p:spPr>
          <p:txBody>
            <a:bodyPr lIns="50800" tIns="50800" rIns="50800" bIns="50800" rtlCol="0" anchor="ctr"/>
            <a:lstStyle/>
            <a:p>
              <a:pPr algn="ctr">
                <a:lnSpc>
                  <a:spcPts val="3359"/>
                </a:lnSpc>
              </a:pPr>
              <a:endParaRPr/>
            </a:p>
          </p:txBody>
        </p:sp>
      </p:grpSp>
      <p:grpSp>
        <p:nvGrpSpPr>
          <p:cNvPr id="25" name="Group 25"/>
          <p:cNvGrpSpPr/>
          <p:nvPr/>
        </p:nvGrpSpPr>
        <p:grpSpPr>
          <a:xfrm>
            <a:off x="-707956" y="9491426"/>
            <a:ext cx="19703911" cy="1472127"/>
            <a:chOff x="0" y="0"/>
            <a:chExt cx="7656247" cy="572017"/>
          </a:xfrm>
        </p:grpSpPr>
        <p:sp>
          <p:nvSpPr>
            <p:cNvPr id="26" name="Freeform 26"/>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27" name="TextBox 27"/>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
        <p:nvSpPr>
          <p:cNvPr id="28" name="Freeform 28"/>
          <p:cNvSpPr/>
          <p:nvPr/>
        </p:nvSpPr>
        <p:spPr>
          <a:xfrm>
            <a:off x="0" y="1176637"/>
            <a:ext cx="8425225" cy="5311177"/>
          </a:xfrm>
          <a:custGeom>
            <a:avLst/>
            <a:gdLst/>
            <a:ahLst/>
            <a:cxnLst/>
            <a:rect l="l" t="t" r="r" b="b"/>
            <a:pathLst>
              <a:path w="8425225" h="5311177">
                <a:moveTo>
                  <a:pt x="0" y="0"/>
                </a:moveTo>
                <a:lnTo>
                  <a:pt x="8425225" y="0"/>
                </a:lnTo>
                <a:lnTo>
                  <a:pt x="8425225" y="5311178"/>
                </a:lnTo>
                <a:lnTo>
                  <a:pt x="0" y="5311178"/>
                </a:lnTo>
                <a:lnTo>
                  <a:pt x="0" y="0"/>
                </a:lnTo>
                <a:close/>
              </a:path>
            </a:pathLst>
          </a:custGeom>
          <a:blipFill>
            <a:blip r:embed="rId4"/>
            <a:stretch>
              <a:fillRect l="-309" r="-309"/>
            </a:stretch>
          </a:blipFill>
        </p:spPr>
      </p:sp>
      <p:sp>
        <p:nvSpPr>
          <p:cNvPr id="29" name="TextBox 29"/>
          <p:cNvSpPr txBox="1"/>
          <p:nvPr/>
        </p:nvSpPr>
        <p:spPr>
          <a:xfrm>
            <a:off x="2172342" y="6717743"/>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30" name="TextBox 30"/>
          <p:cNvSpPr txBox="1"/>
          <p:nvPr/>
        </p:nvSpPr>
        <p:spPr>
          <a:xfrm>
            <a:off x="1688520" y="7607427"/>
            <a:ext cx="5775565" cy="971550"/>
          </a:xfrm>
          <a:prstGeom prst="rect">
            <a:avLst/>
          </a:prstGeom>
        </p:spPr>
        <p:txBody>
          <a:bodyPr lIns="0" tIns="0" rIns="0" bIns="0" rtlCol="0" anchor="t">
            <a:spAutoFit/>
          </a:bodyPr>
          <a:lstStyle/>
          <a:p>
            <a:pPr algn="ctr">
              <a:lnSpc>
                <a:spcPts val="6270"/>
              </a:lnSpc>
            </a:pPr>
            <a:r>
              <a:rPr lang="en-US" sz="6600" spc="-66">
                <a:solidFill>
                  <a:srgbClr val="FFFFFF"/>
                </a:solidFill>
                <a:latin typeface="Funtastic"/>
                <a:ea typeface="Funtastic"/>
                <a:cs typeface="Funtastic"/>
                <a:sym typeface="Funtastic"/>
              </a:rPr>
              <a:t>Kerongkongan</a:t>
            </a:r>
          </a:p>
        </p:txBody>
      </p:sp>
      <p:sp>
        <p:nvSpPr>
          <p:cNvPr id="31" name="TextBox 31"/>
          <p:cNvSpPr txBox="1"/>
          <p:nvPr/>
        </p:nvSpPr>
        <p:spPr>
          <a:xfrm>
            <a:off x="8790602" y="2557070"/>
            <a:ext cx="7383681" cy="16725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Kerongkongan adalah sebuah bagian dari saluran pencernaan yang berbentuk tabung panjang dan berfungsi sebagai penghubung antara organ faring (tenggorokan) dengan lambung.</a:t>
            </a:r>
          </a:p>
        </p:txBody>
      </p:sp>
      <p:sp>
        <p:nvSpPr>
          <p:cNvPr id="32" name="TextBox 32"/>
          <p:cNvSpPr txBox="1"/>
          <p:nvPr/>
        </p:nvSpPr>
        <p:spPr>
          <a:xfrm>
            <a:off x="8790602" y="1900769"/>
            <a:ext cx="7383681" cy="539115"/>
          </a:xfrm>
          <a:prstGeom prst="rect">
            <a:avLst/>
          </a:prstGeom>
        </p:spPr>
        <p:txBody>
          <a:bodyPr lIns="0" tIns="0" rIns="0" bIns="0" rtlCol="0" anchor="t">
            <a:spAutoFit/>
          </a:bodyPr>
          <a:lstStyle/>
          <a:p>
            <a:pPr algn="l">
              <a:lnSpc>
                <a:spcPts val="3359"/>
              </a:lnSpc>
            </a:pPr>
            <a:r>
              <a:rPr lang="en-US" sz="2400" b="1">
                <a:solidFill>
                  <a:srgbClr val="593337"/>
                </a:solidFill>
                <a:latin typeface="Prachason Neue Mon Bold"/>
                <a:ea typeface="Prachason Neue Mon Bold"/>
                <a:cs typeface="Prachason Neue Mon Bold"/>
                <a:sym typeface="Prachason Neue Mon Bold"/>
              </a:rPr>
              <a:t>Pengertian Kerongkongan :</a:t>
            </a:r>
          </a:p>
        </p:txBody>
      </p:sp>
      <p:sp>
        <p:nvSpPr>
          <p:cNvPr id="33" name="TextBox 33"/>
          <p:cNvSpPr txBox="1"/>
          <p:nvPr/>
        </p:nvSpPr>
        <p:spPr>
          <a:xfrm>
            <a:off x="8790602" y="5413064"/>
            <a:ext cx="7383681" cy="8343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Terdiri dari otot rangka di bagian atas dan otot polos di bawah untuk mendukung gerakan peristaltik.</a:t>
            </a:r>
          </a:p>
        </p:txBody>
      </p:sp>
      <p:sp>
        <p:nvSpPr>
          <p:cNvPr id="34" name="TextBox 34"/>
          <p:cNvSpPr txBox="1"/>
          <p:nvPr/>
        </p:nvSpPr>
        <p:spPr>
          <a:xfrm>
            <a:off x="9075870" y="4600850"/>
            <a:ext cx="3337763" cy="539115"/>
          </a:xfrm>
          <a:prstGeom prst="rect">
            <a:avLst/>
          </a:prstGeom>
        </p:spPr>
        <p:txBody>
          <a:bodyPr lIns="0" tIns="0" rIns="0" bIns="0" rtlCol="0" anchor="t">
            <a:spAutoFit/>
          </a:bodyPr>
          <a:lstStyle/>
          <a:p>
            <a:pPr algn="ctr">
              <a:lnSpc>
                <a:spcPts val="3359"/>
              </a:lnSpc>
            </a:pPr>
            <a:r>
              <a:rPr lang="en-US" sz="2400" b="1">
                <a:solidFill>
                  <a:srgbClr val="FFFFFF"/>
                </a:solidFill>
                <a:latin typeface="Prachason Neue Mon Bold"/>
                <a:ea typeface="Prachason Neue Mon Bold"/>
                <a:cs typeface="Prachason Neue Mon Bold"/>
                <a:sym typeface="Prachason Neue Mon Bold"/>
              </a:rPr>
              <a:t>Fungsi Lapisan Otot :</a:t>
            </a:r>
          </a:p>
        </p:txBody>
      </p:sp>
      <p:sp>
        <p:nvSpPr>
          <p:cNvPr id="35" name="TextBox 35"/>
          <p:cNvSpPr txBox="1"/>
          <p:nvPr/>
        </p:nvSpPr>
        <p:spPr>
          <a:xfrm>
            <a:off x="8790602" y="7370866"/>
            <a:ext cx="7383681" cy="8343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Sebuah lapisan paling dalam yang melindungi dinding dari sebuah gesekan dari makanan.</a:t>
            </a:r>
          </a:p>
        </p:txBody>
      </p:sp>
      <p:sp>
        <p:nvSpPr>
          <p:cNvPr id="36" name="TextBox 36"/>
          <p:cNvSpPr txBox="1"/>
          <p:nvPr/>
        </p:nvSpPr>
        <p:spPr>
          <a:xfrm>
            <a:off x="9342431" y="6558652"/>
            <a:ext cx="2804642" cy="539115"/>
          </a:xfrm>
          <a:prstGeom prst="rect">
            <a:avLst/>
          </a:prstGeom>
        </p:spPr>
        <p:txBody>
          <a:bodyPr lIns="0" tIns="0" rIns="0" bIns="0" rtlCol="0" anchor="t">
            <a:spAutoFit/>
          </a:bodyPr>
          <a:lstStyle/>
          <a:p>
            <a:pPr algn="ctr">
              <a:lnSpc>
                <a:spcPts val="3359"/>
              </a:lnSpc>
            </a:pPr>
            <a:r>
              <a:rPr lang="en-US" sz="2400" b="1">
                <a:solidFill>
                  <a:srgbClr val="593337"/>
                </a:solidFill>
                <a:latin typeface="Prachason Neue Mon Bold"/>
                <a:ea typeface="Prachason Neue Mon Bold"/>
                <a:cs typeface="Prachason Neue Mon Bold"/>
                <a:sym typeface="Prachason Neue Mon Bold"/>
              </a:rPr>
              <a:t>Fungsi Mukosa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1482440" y="1368428"/>
            <a:ext cx="8931653" cy="7550145"/>
            <a:chOff x="0" y="0"/>
            <a:chExt cx="3470526" cy="2933721"/>
          </a:xfrm>
        </p:grpSpPr>
        <p:sp>
          <p:nvSpPr>
            <p:cNvPr id="3" name="Freeform 3"/>
            <p:cNvSpPr/>
            <p:nvPr/>
          </p:nvSpPr>
          <p:spPr>
            <a:xfrm>
              <a:off x="0" y="0"/>
              <a:ext cx="3470526" cy="2933721"/>
            </a:xfrm>
            <a:custGeom>
              <a:avLst/>
              <a:gdLst/>
              <a:ahLst/>
              <a:cxnLst/>
              <a:rect l="l" t="t" r="r" b="b"/>
              <a:pathLst>
                <a:path w="3470526" h="2933721">
                  <a:moveTo>
                    <a:pt x="17336" y="0"/>
                  </a:moveTo>
                  <a:lnTo>
                    <a:pt x="3453190" y="0"/>
                  </a:lnTo>
                  <a:cubicBezTo>
                    <a:pt x="3457788" y="0"/>
                    <a:pt x="3462198" y="1826"/>
                    <a:pt x="3465449" y="5078"/>
                  </a:cubicBezTo>
                  <a:cubicBezTo>
                    <a:pt x="3468700" y="8329"/>
                    <a:pt x="3470526" y="12738"/>
                    <a:pt x="3470526" y="17336"/>
                  </a:cubicBezTo>
                  <a:lnTo>
                    <a:pt x="3470526" y="2916385"/>
                  </a:lnTo>
                  <a:cubicBezTo>
                    <a:pt x="3470526" y="2920983"/>
                    <a:pt x="3468700" y="2925392"/>
                    <a:pt x="3465449" y="2928643"/>
                  </a:cubicBezTo>
                  <a:cubicBezTo>
                    <a:pt x="3462198" y="2931894"/>
                    <a:pt x="3457788" y="2933721"/>
                    <a:pt x="3453190" y="2933721"/>
                  </a:cubicBezTo>
                  <a:lnTo>
                    <a:pt x="17336" y="2933721"/>
                  </a:lnTo>
                  <a:cubicBezTo>
                    <a:pt x="12738" y="2933721"/>
                    <a:pt x="8329" y="2931894"/>
                    <a:pt x="5078" y="2928643"/>
                  </a:cubicBezTo>
                  <a:cubicBezTo>
                    <a:pt x="1826" y="2925392"/>
                    <a:pt x="0" y="2920983"/>
                    <a:pt x="0" y="2916385"/>
                  </a:cubicBezTo>
                  <a:lnTo>
                    <a:pt x="0" y="17336"/>
                  </a:lnTo>
                  <a:cubicBezTo>
                    <a:pt x="0" y="12738"/>
                    <a:pt x="1826" y="8329"/>
                    <a:pt x="5078" y="5078"/>
                  </a:cubicBezTo>
                  <a:cubicBezTo>
                    <a:pt x="8329" y="1826"/>
                    <a:pt x="12738" y="0"/>
                    <a:pt x="17336" y="0"/>
                  </a:cubicBezTo>
                  <a:close/>
                </a:path>
              </a:pathLst>
            </a:custGeom>
            <a:solidFill>
              <a:srgbClr val="FFFFFF"/>
            </a:solidFill>
          </p:spPr>
        </p:sp>
        <p:sp>
          <p:nvSpPr>
            <p:cNvPr id="4" name="TextBox 4"/>
            <p:cNvSpPr txBox="1"/>
            <p:nvPr/>
          </p:nvSpPr>
          <p:spPr>
            <a:xfrm>
              <a:off x="0" y="-95250"/>
              <a:ext cx="3470526" cy="302897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832300" y="1708023"/>
            <a:ext cx="8231933" cy="6870954"/>
            <a:chOff x="0" y="0"/>
            <a:chExt cx="3198640" cy="2669811"/>
          </a:xfrm>
        </p:grpSpPr>
        <p:sp>
          <p:nvSpPr>
            <p:cNvPr id="6" name="Freeform 6"/>
            <p:cNvSpPr/>
            <p:nvPr/>
          </p:nvSpPr>
          <p:spPr>
            <a:xfrm>
              <a:off x="0" y="0"/>
              <a:ext cx="3198640" cy="2669811"/>
            </a:xfrm>
            <a:custGeom>
              <a:avLst/>
              <a:gdLst/>
              <a:ahLst/>
              <a:cxnLst/>
              <a:rect l="l" t="t" r="r" b="b"/>
              <a:pathLst>
                <a:path w="3198640" h="2669811">
                  <a:moveTo>
                    <a:pt x="18809" y="0"/>
                  </a:moveTo>
                  <a:lnTo>
                    <a:pt x="3179830" y="0"/>
                  </a:lnTo>
                  <a:cubicBezTo>
                    <a:pt x="3184819" y="0"/>
                    <a:pt x="3189603" y="1982"/>
                    <a:pt x="3193131" y="5509"/>
                  </a:cubicBezTo>
                  <a:cubicBezTo>
                    <a:pt x="3196658" y="9037"/>
                    <a:pt x="3198640" y="13821"/>
                    <a:pt x="3198640" y="18809"/>
                  </a:cubicBezTo>
                  <a:lnTo>
                    <a:pt x="3198640" y="2651002"/>
                  </a:lnTo>
                  <a:cubicBezTo>
                    <a:pt x="3198640" y="2661390"/>
                    <a:pt x="3190219" y="2669811"/>
                    <a:pt x="3179830" y="2669811"/>
                  </a:cubicBezTo>
                  <a:lnTo>
                    <a:pt x="18809" y="2669811"/>
                  </a:lnTo>
                  <a:cubicBezTo>
                    <a:pt x="13821" y="2669811"/>
                    <a:pt x="9037" y="2667829"/>
                    <a:pt x="5509" y="2664302"/>
                  </a:cubicBezTo>
                  <a:cubicBezTo>
                    <a:pt x="1982" y="2660774"/>
                    <a:pt x="0" y="2655990"/>
                    <a:pt x="0" y="2651002"/>
                  </a:cubicBezTo>
                  <a:lnTo>
                    <a:pt x="0" y="18809"/>
                  </a:lnTo>
                  <a:cubicBezTo>
                    <a:pt x="0" y="13821"/>
                    <a:pt x="1982" y="9037"/>
                    <a:pt x="5509" y="5509"/>
                  </a:cubicBezTo>
                  <a:cubicBezTo>
                    <a:pt x="9037" y="1982"/>
                    <a:pt x="13821" y="0"/>
                    <a:pt x="18809" y="0"/>
                  </a:cubicBezTo>
                  <a:close/>
                </a:path>
              </a:pathLst>
            </a:custGeom>
            <a:solidFill>
              <a:srgbClr val="FFFBF3"/>
            </a:solidFill>
            <a:ln w="47625" cap="sq">
              <a:solidFill>
                <a:srgbClr val="E8B19A"/>
              </a:solidFill>
              <a:prstDash val="lgDash"/>
              <a:miter/>
            </a:ln>
          </p:spPr>
        </p:sp>
        <p:sp>
          <p:nvSpPr>
            <p:cNvPr id="7" name="TextBox 7"/>
            <p:cNvSpPr txBox="1"/>
            <p:nvPr/>
          </p:nvSpPr>
          <p:spPr>
            <a:xfrm>
              <a:off x="0" y="-95250"/>
              <a:ext cx="3198640" cy="2765061"/>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10688028" y="1708023"/>
            <a:ext cx="6117532" cy="1998293"/>
            <a:chOff x="0" y="0"/>
            <a:chExt cx="2377058" cy="776466"/>
          </a:xfrm>
        </p:grpSpPr>
        <p:sp>
          <p:nvSpPr>
            <p:cNvPr id="9" name="Freeform 9"/>
            <p:cNvSpPr/>
            <p:nvPr/>
          </p:nvSpPr>
          <p:spPr>
            <a:xfrm>
              <a:off x="0" y="0"/>
              <a:ext cx="2377058" cy="776466"/>
            </a:xfrm>
            <a:custGeom>
              <a:avLst/>
              <a:gdLst/>
              <a:ahLst/>
              <a:cxnLst/>
              <a:rect l="l" t="t" r="r" b="b"/>
              <a:pathLst>
                <a:path w="2377058" h="776466">
                  <a:moveTo>
                    <a:pt x="25311" y="0"/>
                  </a:moveTo>
                  <a:lnTo>
                    <a:pt x="2351747" y="0"/>
                  </a:lnTo>
                  <a:cubicBezTo>
                    <a:pt x="2358460" y="0"/>
                    <a:pt x="2364898" y="2667"/>
                    <a:pt x="2369645" y="7413"/>
                  </a:cubicBezTo>
                  <a:cubicBezTo>
                    <a:pt x="2374391" y="12160"/>
                    <a:pt x="2377058" y="18598"/>
                    <a:pt x="2377058" y="25311"/>
                  </a:cubicBezTo>
                  <a:lnTo>
                    <a:pt x="2377058" y="751156"/>
                  </a:lnTo>
                  <a:cubicBezTo>
                    <a:pt x="2377058" y="765134"/>
                    <a:pt x="2365726" y="776466"/>
                    <a:pt x="2351747" y="776466"/>
                  </a:cubicBezTo>
                  <a:lnTo>
                    <a:pt x="25311" y="776466"/>
                  </a:lnTo>
                  <a:cubicBezTo>
                    <a:pt x="11332" y="776466"/>
                    <a:pt x="0" y="765134"/>
                    <a:pt x="0" y="751156"/>
                  </a:cubicBezTo>
                  <a:lnTo>
                    <a:pt x="0" y="25311"/>
                  </a:lnTo>
                  <a:cubicBezTo>
                    <a:pt x="0" y="11332"/>
                    <a:pt x="11332" y="0"/>
                    <a:pt x="25311" y="0"/>
                  </a:cubicBezTo>
                  <a:close/>
                </a:path>
              </a:pathLst>
            </a:custGeom>
            <a:solidFill>
              <a:srgbClr val="E47A7A"/>
            </a:solidFill>
          </p:spPr>
        </p:sp>
        <p:sp>
          <p:nvSpPr>
            <p:cNvPr id="10" name="TextBox 10"/>
            <p:cNvSpPr txBox="1"/>
            <p:nvPr/>
          </p:nvSpPr>
          <p:spPr>
            <a:xfrm>
              <a:off x="0" y="-95250"/>
              <a:ext cx="2377058" cy="871716"/>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11029995" y="1368428"/>
            <a:ext cx="5433598" cy="675737"/>
            <a:chOff x="0" y="0"/>
            <a:chExt cx="1431071" cy="177972"/>
          </a:xfrm>
        </p:grpSpPr>
        <p:sp>
          <p:nvSpPr>
            <p:cNvPr id="12" name="Freeform 12"/>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13" name="TextBox 13"/>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a:off x="10688028" y="3961526"/>
            <a:ext cx="6117532" cy="4957046"/>
            <a:chOff x="0" y="0"/>
            <a:chExt cx="2377058" cy="1926134"/>
          </a:xfrm>
        </p:grpSpPr>
        <p:sp>
          <p:nvSpPr>
            <p:cNvPr id="15" name="Freeform 15"/>
            <p:cNvSpPr/>
            <p:nvPr/>
          </p:nvSpPr>
          <p:spPr>
            <a:xfrm>
              <a:off x="0" y="0"/>
              <a:ext cx="2377058" cy="1926134"/>
            </a:xfrm>
            <a:custGeom>
              <a:avLst/>
              <a:gdLst/>
              <a:ahLst/>
              <a:cxnLst/>
              <a:rect l="l" t="t" r="r" b="b"/>
              <a:pathLst>
                <a:path w="2377058" h="1926134">
                  <a:moveTo>
                    <a:pt x="25311" y="0"/>
                  </a:moveTo>
                  <a:lnTo>
                    <a:pt x="2351747" y="0"/>
                  </a:lnTo>
                  <a:cubicBezTo>
                    <a:pt x="2358460" y="0"/>
                    <a:pt x="2364898" y="2667"/>
                    <a:pt x="2369645" y="7413"/>
                  </a:cubicBezTo>
                  <a:cubicBezTo>
                    <a:pt x="2374391" y="12160"/>
                    <a:pt x="2377058" y="18598"/>
                    <a:pt x="2377058" y="25311"/>
                  </a:cubicBezTo>
                  <a:lnTo>
                    <a:pt x="2377058" y="1900823"/>
                  </a:lnTo>
                  <a:cubicBezTo>
                    <a:pt x="2377058" y="1914802"/>
                    <a:pt x="2365726" y="1926134"/>
                    <a:pt x="2351747" y="1926134"/>
                  </a:cubicBezTo>
                  <a:lnTo>
                    <a:pt x="25311" y="1926134"/>
                  </a:lnTo>
                  <a:cubicBezTo>
                    <a:pt x="11332" y="1926134"/>
                    <a:pt x="0" y="1914802"/>
                    <a:pt x="0" y="1900823"/>
                  </a:cubicBezTo>
                  <a:lnTo>
                    <a:pt x="0" y="25311"/>
                  </a:lnTo>
                  <a:cubicBezTo>
                    <a:pt x="0" y="11332"/>
                    <a:pt x="11332" y="0"/>
                    <a:pt x="25311" y="0"/>
                  </a:cubicBezTo>
                  <a:close/>
                </a:path>
              </a:pathLst>
            </a:custGeom>
            <a:solidFill>
              <a:srgbClr val="FFFBF3"/>
            </a:solidFill>
            <a:ln w="47625" cap="sq">
              <a:solidFill>
                <a:srgbClr val="E8B19A"/>
              </a:solidFill>
              <a:prstDash val="solid"/>
              <a:miter/>
            </a:ln>
          </p:spPr>
        </p:sp>
        <p:sp>
          <p:nvSpPr>
            <p:cNvPr id="16" name="TextBox 16"/>
            <p:cNvSpPr txBox="1"/>
            <p:nvPr/>
          </p:nvSpPr>
          <p:spPr>
            <a:xfrm>
              <a:off x="0" y="-95250"/>
              <a:ext cx="2377058" cy="2021384"/>
            </a:xfrm>
            <a:prstGeom prst="rect">
              <a:avLst/>
            </a:prstGeom>
          </p:spPr>
          <p:txBody>
            <a:bodyPr lIns="50800" tIns="50800" rIns="50800" bIns="50800" rtlCol="0" anchor="ctr"/>
            <a:lstStyle/>
            <a:p>
              <a:pPr algn="ctr">
                <a:lnSpc>
                  <a:spcPts val="3359"/>
                </a:lnSpc>
              </a:pPr>
              <a:endParaRPr/>
            </a:p>
          </p:txBody>
        </p:sp>
      </p:grpSp>
      <p:grpSp>
        <p:nvGrpSpPr>
          <p:cNvPr id="17" name="Group 17"/>
          <p:cNvGrpSpPr/>
          <p:nvPr/>
        </p:nvGrpSpPr>
        <p:grpSpPr>
          <a:xfrm>
            <a:off x="2221883" y="4627646"/>
            <a:ext cx="3160127" cy="675737"/>
            <a:chOff x="0" y="0"/>
            <a:chExt cx="832297" cy="177972"/>
          </a:xfrm>
        </p:grpSpPr>
        <p:sp>
          <p:nvSpPr>
            <p:cNvPr id="18" name="Freeform 18"/>
            <p:cNvSpPr/>
            <p:nvPr/>
          </p:nvSpPr>
          <p:spPr>
            <a:xfrm>
              <a:off x="0" y="0"/>
              <a:ext cx="832297" cy="177972"/>
            </a:xfrm>
            <a:custGeom>
              <a:avLst/>
              <a:gdLst/>
              <a:ahLst/>
              <a:cxnLst/>
              <a:rect l="l" t="t" r="r" b="b"/>
              <a:pathLst>
                <a:path w="832297" h="177972">
                  <a:moveTo>
                    <a:pt x="88986" y="0"/>
                  </a:moveTo>
                  <a:lnTo>
                    <a:pt x="743311" y="0"/>
                  </a:lnTo>
                  <a:cubicBezTo>
                    <a:pt x="766911" y="0"/>
                    <a:pt x="789545" y="9375"/>
                    <a:pt x="806233" y="26063"/>
                  </a:cubicBezTo>
                  <a:cubicBezTo>
                    <a:pt x="822921" y="42751"/>
                    <a:pt x="832297" y="65385"/>
                    <a:pt x="832297" y="88986"/>
                  </a:cubicBezTo>
                  <a:lnTo>
                    <a:pt x="832297" y="88986"/>
                  </a:lnTo>
                  <a:cubicBezTo>
                    <a:pt x="832297" y="138131"/>
                    <a:pt x="792456" y="177972"/>
                    <a:pt x="743311"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E47A7A"/>
            </a:solidFill>
          </p:spPr>
        </p:sp>
        <p:sp>
          <p:nvSpPr>
            <p:cNvPr id="19" name="TextBox 19"/>
            <p:cNvSpPr txBox="1"/>
            <p:nvPr/>
          </p:nvSpPr>
          <p:spPr>
            <a:xfrm>
              <a:off x="0" y="-95250"/>
              <a:ext cx="832297" cy="273222"/>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a:off x="2221883" y="6511809"/>
            <a:ext cx="3160127" cy="675737"/>
            <a:chOff x="0" y="0"/>
            <a:chExt cx="832297" cy="177972"/>
          </a:xfrm>
        </p:grpSpPr>
        <p:sp>
          <p:nvSpPr>
            <p:cNvPr id="21" name="Freeform 21"/>
            <p:cNvSpPr/>
            <p:nvPr/>
          </p:nvSpPr>
          <p:spPr>
            <a:xfrm>
              <a:off x="0" y="0"/>
              <a:ext cx="832297" cy="177972"/>
            </a:xfrm>
            <a:custGeom>
              <a:avLst/>
              <a:gdLst/>
              <a:ahLst/>
              <a:cxnLst/>
              <a:rect l="l" t="t" r="r" b="b"/>
              <a:pathLst>
                <a:path w="832297" h="177972">
                  <a:moveTo>
                    <a:pt x="88986" y="0"/>
                  </a:moveTo>
                  <a:lnTo>
                    <a:pt x="743311" y="0"/>
                  </a:lnTo>
                  <a:cubicBezTo>
                    <a:pt x="766911" y="0"/>
                    <a:pt x="789545" y="9375"/>
                    <a:pt x="806233" y="26063"/>
                  </a:cubicBezTo>
                  <a:cubicBezTo>
                    <a:pt x="822921" y="42751"/>
                    <a:pt x="832297" y="65385"/>
                    <a:pt x="832297" y="88986"/>
                  </a:cubicBezTo>
                  <a:lnTo>
                    <a:pt x="832297" y="88986"/>
                  </a:lnTo>
                  <a:cubicBezTo>
                    <a:pt x="832297" y="138131"/>
                    <a:pt x="792456" y="177972"/>
                    <a:pt x="743311"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22" name="TextBox 22"/>
            <p:cNvSpPr txBox="1"/>
            <p:nvPr/>
          </p:nvSpPr>
          <p:spPr>
            <a:xfrm>
              <a:off x="0" y="-95250"/>
              <a:ext cx="832297" cy="273222"/>
            </a:xfrm>
            <a:prstGeom prst="rect">
              <a:avLst/>
            </a:prstGeom>
          </p:spPr>
          <p:txBody>
            <a:bodyPr lIns="50800" tIns="50800" rIns="50800" bIns="50800" rtlCol="0" anchor="ctr"/>
            <a:lstStyle/>
            <a:p>
              <a:pPr algn="ctr">
                <a:lnSpc>
                  <a:spcPts val="3359"/>
                </a:lnSpc>
              </a:pPr>
              <a:endParaRPr/>
            </a:p>
          </p:txBody>
        </p:sp>
      </p:grpSp>
      <p:sp>
        <p:nvSpPr>
          <p:cNvPr id="23" name="Freeform 23"/>
          <p:cNvSpPr/>
          <p:nvPr/>
        </p:nvSpPr>
        <p:spPr>
          <a:xfrm>
            <a:off x="12185152" y="5303383"/>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p:cNvSpPr/>
          <p:nvPr/>
        </p:nvSpPr>
        <p:spPr>
          <a:xfrm>
            <a:off x="15575119" y="7028748"/>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5" name="Group 25"/>
          <p:cNvGrpSpPr/>
          <p:nvPr/>
        </p:nvGrpSpPr>
        <p:grpSpPr>
          <a:xfrm>
            <a:off x="-707956" y="9491426"/>
            <a:ext cx="19703911" cy="1472127"/>
            <a:chOff x="0" y="0"/>
            <a:chExt cx="7656247" cy="572017"/>
          </a:xfrm>
        </p:grpSpPr>
        <p:sp>
          <p:nvSpPr>
            <p:cNvPr id="26" name="Freeform 26"/>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27" name="TextBox 27"/>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
        <p:nvSpPr>
          <p:cNvPr id="28" name="Freeform 28"/>
          <p:cNvSpPr/>
          <p:nvPr/>
        </p:nvSpPr>
        <p:spPr>
          <a:xfrm>
            <a:off x="11029995" y="4030166"/>
            <a:ext cx="5951422" cy="4478495"/>
          </a:xfrm>
          <a:custGeom>
            <a:avLst/>
            <a:gdLst/>
            <a:ahLst/>
            <a:cxnLst/>
            <a:rect l="l" t="t" r="r" b="b"/>
            <a:pathLst>
              <a:path w="5951422" h="4478495">
                <a:moveTo>
                  <a:pt x="0" y="0"/>
                </a:moveTo>
                <a:lnTo>
                  <a:pt x="5951422" y="0"/>
                </a:lnTo>
                <a:lnTo>
                  <a:pt x="5951422" y="4478495"/>
                </a:lnTo>
                <a:lnTo>
                  <a:pt x="0" y="4478495"/>
                </a:lnTo>
                <a:lnTo>
                  <a:pt x="0" y="0"/>
                </a:lnTo>
                <a:close/>
              </a:path>
            </a:pathLst>
          </a:custGeom>
          <a:blipFill>
            <a:blip r:embed="rId4"/>
            <a:stretch>
              <a:fillRect/>
            </a:stretch>
          </a:blipFill>
        </p:spPr>
      </p:sp>
      <p:sp>
        <p:nvSpPr>
          <p:cNvPr id="29" name="TextBox 29"/>
          <p:cNvSpPr txBox="1"/>
          <p:nvPr/>
        </p:nvSpPr>
        <p:spPr>
          <a:xfrm>
            <a:off x="11342834" y="1470076"/>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30" name="TextBox 30"/>
          <p:cNvSpPr txBox="1"/>
          <p:nvPr/>
        </p:nvSpPr>
        <p:spPr>
          <a:xfrm>
            <a:off x="11029995" y="2398771"/>
            <a:ext cx="5433598" cy="971550"/>
          </a:xfrm>
          <a:prstGeom prst="rect">
            <a:avLst/>
          </a:prstGeom>
        </p:spPr>
        <p:txBody>
          <a:bodyPr lIns="0" tIns="0" rIns="0" bIns="0" rtlCol="0" anchor="t">
            <a:spAutoFit/>
          </a:bodyPr>
          <a:lstStyle/>
          <a:p>
            <a:pPr algn="ctr">
              <a:lnSpc>
                <a:spcPts val="6270"/>
              </a:lnSpc>
            </a:pPr>
            <a:r>
              <a:rPr lang="en-US" sz="6600" spc="-66">
                <a:solidFill>
                  <a:srgbClr val="FFFFFF"/>
                </a:solidFill>
                <a:latin typeface="Funtastic"/>
                <a:ea typeface="Funtastic"/>
                <a:cs typeface="Funtastic"/>
                <a:sym typeface="Funtastic"/>
              </a:rPr>
              <a:t>Lambung</a:t>
            </a:r>
          </a:p>
        </p:txBody>
      </p:sp>
      <p:sp>
        <p:nvSpPr>
          <p:cNvPr id="31" name="TextBox 31"/>
          <p:cNvSpPr txBox="1"/>
          <p:nvPr/>
        </p:nvSpPr>
        <p:spPr>
          <a:xfrm>
            <a:off x="2221883" y="2626089"/>
            <a:ext cx="7452767" cy="16725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Lambung adalah organ berbentuk kantung yang merupakan bagian dari sistem pencernaan manusia. Lambung berfungsi sebagai tempat mencerna makanan secara mekanik dan juga secara kimiawi.</a:t>
            </a:r>
          </a:p>
        </p:txBody>
      </p:sp>
      <p:sp>
        <p:nvSpPr>
          <p:cNvPr id="32" name="TextBox 32"/>
          <p:cNvSpPr txBox="1"/>
          <p:nvPr/>
        </p:nvSpPr>
        <p:spPr>
          <a:xfrm>
            <a:off x="2221883" y="1969789"/>
            <a:ext cx="7452767" cy="539115"/>
          </a:xfrm>
          <a:prstGeom prst="rect">
            <a:avLst/>
          </a:prstGeom>
        </p:spPr>
        <p:txBody>
          <a:bodyPr lIns="0" tIns="0" rIns="0" bIns="0" rtlCol="0" anchor="t">
            <a:spAutoFit/>
          </a:bodyPr>
          <a:lstStyle/>
          <a:p>
            <a:pPr algn="l">
              <a:lnSpc>
                <a:spcPts val="3359"/>
              </a:lnSpc>
            </a:pPr>
            <a:r>
              <a:rPr lang="en-US" sz="2400" b="1">
                <a:solidFill>
                  <a:srgbClr val="593337"/>
                </a:solidFill>
                <a:latin typeface="Prachason Neue Mon Bold"/>
                <a:ea typeface="Prachason Neue Mon Bold"/>
                <a:cs typeface="Prachason Neue Mon Bold"/>
                <a:sym typeface="Prachason Neue Mon Bold"/>
              </a:rPr>
              <a:t>Pengertian Lambung :</a:t>
            </a:r>
          </a:p>
        </p:txBody>
      </p:sp>
      <p:sp>
        <p:nvSpPr>
          <p:cNvPr id="33" name="TextBox 33"/>
          <p:cNvSpPr txBox="1"/>
          <p:nvPr/>
        </p:nvSpPr>
        <p:spPr>
          <a:xfrm>
            <a:off x="2569907" y="4605469"/>
            <a:ext cx="2464078" cy="539115"/>
          </a:xfrm>
          <a:prstGeom prst="rect">
            <a:avLst/>
          </a:prstGeom>
        </p:spPr>
        <p:txBody>
          <a:bodyPr lIns="0" tIns="0" rIns="0" bIns="0" rtlCol="0" anchor="t">
            <a:spAutoFit/>
          </a:bodyPr>
          <a:lstStyle/>
          <a:p>
            <a:pPr algn="ctr">
              <a:lnSpc>
                <a:spcPts val="3359"/>
              </a:lnSpc>
            </a:pPr>
            <a:r>
              <a:rPr lang="en-US" sz="2400" b="1">
                <a:solidFill>
                  <a:srgbClr val="FFFFFF"/>
                </a:solidFill>
                <a:latin typeface="Prachason Neue Mon Bold"/>
                <a:ea typeface="Prachason Neue Mon Bold"/>
                <a:cs typeface="Prachason Neue Mon Bold"/>
                <a:sym typeface="Prachason Neue Mon Bold"/>
              </a:rPr>
              <a:t>Fungsi Fundus :</a:t>
            </a:r>
          </a:p>
        </p:txBody>
      </p:sp>
      <p:sp>
        <p:nvSpPr>
          <p:cNvPr id="34" name="TextBox 34"/>
          <p:cNvSpPr txBox="1"/>
          <p:nvPr/>
        </p:nvSpPr>
        <p:spPr>
          <a:xfrm>
            <a:off x="2221883" y="5417683"/>
            <a:ext cx="7452767" cy="8343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Fundus berfungsi sebagai tempat penyimpanan udara atau juga gas yang tertelan bersama makanan.</a:t>
            </a:r>
          </a:p>
        </p:txBody>
      </p:sp>
      <p:sp>
        <p:nvSpPr>
          <p:cNvPr id="35" name="TextBox 35"/>
          <p:cNvSpPr txBox="1"/>
          <p:nvPr/>
        </p:nvSpPr>
        <p:spPr>
          <a:xfrm>
            <a:off x="2656066" y="6489633"/>
            <a:ext cx="2291759" cy="539115"/>
          </a:xfrm>
          <a:prstGeom prst="rect">
            <a:avLst/>
          </a:prstGeom>
        </p:spPr>
        <p:txBody>
          <a:bodyPr lIns="0" tIns="0" rIns="0" bIns="0" rtlCol="0" anchor="t">
            <a:spAutoFit/>
          </a:bodyPr>
          <a:lstStyle/>
          <a:p>
            <a:pPr algn="ctr">
              <a:lnSpc>
                <a:spcPts val="3359"/>
              </a:lnSpc>
            </a:pPr>
            <a:r>
              <a:rPr lang="en-US" sz="2400" b="1">
                <a:solidFill>
                  <a:srgbClr val="593337"/>
                </a:solidFill>
                <a:latin typeface="Prachason Neue Mon Bold"/>
                <a:ea typeface="Prachason Neue Mon Bold"/>
                <a:cs typeface="Prachason Neue Mon Bold"/>
                <a:sym typeface="Prachason Neue Mon Bold"/>
              </a:rPr>
              <a:t>Fungsi Pilorus :</a:t>
            </a:r>
          </a:p>
        </p:txBody>
      </p:sp>
      <p:sp>
        <p:nvSpPr>
          <p:cNvPr id="36" name="TextBox 36"/>
          <p:cNvSpPr txBox="1"/>
          <p:nvPr/>
        </p:nvSpPr>
        <p:spPr>
          <a:xfrm>
            <a:off x="2221883" y="7301846"/>
            <a:ext cx="7452767" cy="8343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Pilorus berfungsi untuk mengatur aliran chyme dari lambung ke usus halus melalui sfingter pilorus.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1367090" y="6954599"/>
            <a:ext cx="6418426" cy="1998293"/>
            <a:chOff x="0" y="0"/>
            <a:chExt cx="2493975" cy="776466"/>
          </a:xfrm>
        </p:grpSpPr>
        <p:sp>
          <p:nvSpPr>
            <p:cNvPr id="3" name="Freeform 3"/>
            <p:cNvSpPr/>
            <p:nvPr/>
          </p:nvSpPr>
          <p:spPr>
            <a:xfrm>
              <a:off x="0" y="0"/>
              <a:ext cx="2493975" cy="776466"/>
            </a:xfrm>
            <a:custGeom>
              <a:avLst/>
              <a:gdLst/>
              <a:ahLst/>
              <a:cxnLst/>
              <a:rect l="l" t="t" r="r" b="b"/>
              <a:pathLst>
                <a:path w="2493975" h="776466">
                  <a:moveTo>
                    <a:pt x="24124" y="0"/>
                  </a:moveTo>
                  <a:lnTo>
                    <a:pt x="2469851" y="0"/>
                  </a:lnTo>
                  <a:cubicBezTo>
                    <a:pt x="2476249" y="0"/>
                    <a:pt x="2482385" y="2542"/>
                    <a:pt x="2486909" y="7066"/>
                  </a:cubicBezTo>
                  <a:cubicBezTo>
                    <a:pt x="2491433" y="11590"/>
                    <a:pt x="2493975" y="17726"/>
                    <a:pt x="2493975" y="24124"/>
                  </a:cubicBezTo>
                  <a:lnTo>
                    <a:pt x="2493975" y="752342"/>
                  </a:lnTo>
                  <a:cubicBezTo>
                    <a:pt x="2493975" y="758741"/>
                    <a:pt x="2491433" y="764877"/>
                    <a:pt x="2486909" y="769401"/>
                  </a:cubicBezTo>
                  <a:cubicBezTo>
                    <a:pt x="2482385" y="773925"/>
                    <a:pt x="2476249" y="776466"/>
                    <a:pt x="2469851" y="776466"/>
                  </a:cubicBezTo>
                  <a:lnTo>
                    <a:pt x="24124" y="776466"/>
                  </a:lnTo>
                  <a:cubicBezTo>
                    <a:pt x="17726" y="776466"/>
                    <a:pt x="11590" y="773925"/>
                    <a:pt x="7066" y="769401"/>
                  </a:cubicBezTo>
                  <a:cubicBezTo>
                    <a:pt x="2542" y="764877"/>
                    <a:pt x="0" y="758741"/>
                    <a:pt x="0" y="752342"/>
                  </a:cubicBezTo>
                  <a:lnTo>
                    <a:pt x="0" y="24124"/>
                  </a:lnTo>
                  <a:cubicBezTo>
                    <a:pt x="0" y="17726"/>
                    <a:pt x="2542" y="11590"/>
                    <a:pt x="7066" y="7066"/>
                  </a:cubicBezTo>
                  <a:cubicBezTo>
                    <a:pt x="11590" y="2542"/>
                    <a:pt x="17726" y="0"/>
                    <a:pt x="24124" y="0"/>
                  </a:cubicBezTo>
                  <a:close/>
                </a:path>
              </a:pathLst>
            </a:custGeom>
            <a:solidFill>
              <a:srgbClr val="E47A7A"/>
            </a:solidFill>
          </p:spPr>
        </p:sp>
        <p:sp>
          <p:nvSpPr>
            <p:cNvPr id="4" name="TextBox 4"/>
            <p:cNvSpPr txBox="1"/>
            <p:nvPr/>
          </p:nvSpPr>
          <p:spPr>
            <a:xfrm>
              <a:off x="0" y="-95250"/>
              <a:ext cx="2493975" cy="87171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859504" y="6616094"/>
            <a:ext cx="5433598" cy="675737"/>
            <a:chOff x="0" y="0"/>
            <a:chExt cx="1431071" cy="177972"/>
          </a:xfrm>
        </p:grpSpPr>
        <p:sp>
          <p:nvSpPr>
            <p:cNvPr id="6" name="Freeform 6"/>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7" name="TextBox 7"/>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1367090" y="1334108"/>
            <a:ext cx="6418426" cy="4996237"/>
            <a:chOff x="0" y="0"/>
            <a:chExt cx="2493975" cy="1941362"/>
          </a:xfrm>
        </p:grpSpPr>
        <p:sp>
          <p:nvSpPr>
            <p:cNvPr id="9" name="Freeform 9"/>
            <p:cNvSpPr/>
            <p:nvPr/>
          </p:nvSpPr>
          <p:spPr>
            <a:xfrm>
              <a:off x="0" y="0"/>
              <a:ext cx="2493975" cy="1941362"/>
            </a:xfrm>
            <a:custGeom>
              <a:avLst/>
              <a:gdLst/>
              <a:ahLst/>
              <a:cxnLst/>
              <a:rect l="l" t="t" r="r" b="b"/>
              <a:pathLst>
                <a:path w="2493975" h="1941362">
                  <a:moveTo>
                    <a:pt x="24124" y="0"/>
                  </a:moveTo>
                  <a:lnTo>
                    <a:pt x="2469851" y="0"/>
                  </a:lnTo>
                  <a:cubicBezTo>
                    <a:pt x="2476249" y="0"/>
                    <a:pt x="2482385" y="2542"/>
                    <a:pt x="2486909" y="7066"/>
                  </a:cubicBezTo>
                  <a:cubicBezTo>
                    <a:pt x="2491433" y="11590"/>
                    <a:pt x="2493975" y="17726"/>
                    <a:pt x="2493975" y="24124"/>
                  </a:cubicBezTo>
                  <a:lnTo>
                    <a:pt x="2493975" y="1917238"/>
                  </a:lnTo>
                  <a:cubicBezTo>
                    <a:pt x="2493975" y="1923636"/>
                    <a:pt x="2491433" y="1929772"/>
                    <a:pt x="2486909" y="1934296"/>
                  </a:cubicBezTo>
                  <a:cubicBezTo>
                    <a:pt x="2482385" y="1938820"/>
                    <a:pt x="2476249" y="1941362"/>
                    <a:pt x="2469851" y="1941362"/>
                  </a:cubicBezTo>
                  <a:lnTo>
                    <a:pt x="24124" y="1941362"/>
                  </a:lnTo>
                  <a:cubicBezTo>
                    <a:pt x="17726" y="1941362"/>
                    <a:pt x="11590" y="1938820"/>
                    <a:pt x="7066" y="1934296"/>
                  </a:cubicBezTo>
                  <a:cubicBezTo>
                    <a:pt x="2542" y="1929772"/>
                    <a:pt x="0" y="1923636"/>
                    <a:pt x="0" y="1917238"/>
                  </a:cubicBezTo>
                  <a:lnTo>
                    <a:pt x="0" y="24124"/>
                  </a:lnTo>
                  <a:cubicBezTo>
                    <a:pt x="0" y="17726"/>
                    <a:pt x="2542" y="11590"/>
                    <a:pt x="7066" y="7066"/>
                  </a:cubicBezTo>
                  <a:cubicBezTo>
                    <a:pt x="11590" y="2542"/>
                    <a:pt x="17726" y="0"/>
                    <a:pt x="24124" y="0"/>
                  </a:cubicBezTo>
                  <a:close/>
                </a:path>
              </a:pathLst>
            </a:custGeom>
            <a:solidFill>
              <a:srgbClr val="FFFBF3"/>
            </a:solidFill>
            <a:ln w="47625" cap="sq">
              <a:solidFill>
                <a:srgbClr val="E8B19A"/>
              </a:solidFill>
              <a:prstDash val="solid"/>
              <a:miter/>
            </a:ln>
          </p:spPr>
        </p:sp>
        <p:sp>
          <p:nvSpPr>
            <p:cNvPr id="10" name="TextBox 10"/>
            <p:cNvSpPr txBox="1"/>
            <p:nvPr/>
          </p:nvSpPr>
          <p:spPr>
            <a:xfrm>
              <a:off x="0" y="-95250"/>
              <a:ext cx="2493975" cy="2036612"/>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8043974" y="1334108"/>
            <a:ext cx="8876936" cy="7618785"/>
            <a:chOff x="0" y="0"/>
            <a:chExt cx="3449265" cy="2960392"/>
          </a:xfrm>
        </p:grpSpPr>
        <p:sp>
          <p:nvSpPr>
            <p:cNvPr id="12" name="Freeform 12"/>
            <p:cNvSpPr/>
            <p:nvPr/>
          </p:nvSpPr>
          <p:spPr>
            <a:xfrm>
              <a:off x="0" y="0"/>
              <a:ext cx="3449265" cy="2960392"/>
            </a:xfrm>
            <a:custGeom>
              <a:avLst/>
              <a:gdLst/>
              <a:ahLst/>
              <a:cxnLst/>
              <a:rect l="l" t="t" r="r" b="b"/>
              <a:pathLst>
                <a:path w="3449265" h="2960392">
                  <a:moveTo>
                    <a:pt x="17443" y="0"/>
                  </a:moveTo>
                  <a:lnTo>
                    <a:pt x="3431822" y="0"/>
                  </a:lnTo>
                  <a:cubicBezTo>
                    <a:pt x="3436448" y="0"/>
                    <a:pt x="3440885" y="1838"/>
                    <a:pt x="3444156" y="5109"/>
                  </a:cubicBezTo>
                  <a:cubicBezTo>
                    <a:pt x="3447427" y="8380"/>
                    <a:pt x="3449265" y="12817"/>
                    <a:pt x="3449265" y="17443"/>
                  </a:cubicBezTo>
                  <a:lnTo>
                    <a:pt x="3449265" y="2942949"/>
                  </a:lnTo>
                  <a:cubicBezTo>
                    <a:pt x="3449265" y="2947575"/>
                    <a:pt x="3447427" y="2952012"/>
                    <a:pt x="3444156" y="2955283"/>
                  </a:cubicBezTo>
                  <a:cubicBezTo>
                    <a:pt x="3440885" y="2958554"/>
                    <a:pt x="3436448" y="2960392"/>
                    <a:pt x="3431822" y="2960392"/>
                  </a:cubicBezTo>
                  <a:lnTo>
                    <a:pt x="17443" y="2960392"/>
                  </a:lnTo>
                  <a:cubicBezTo>
                    <a:pt x="12817" y="2960392"/>
                    <a:pt x="8380" y="2958554"/>
                    <a:pt x="5109" y="2955283"/>
                  </a:cubicBezTo>
                  <a:cubicBezTo>
                    <a:pt x="1838" y="2952012"/>
                    <a:pt x="0" y="2947575"/>
                    <a:pt x="0" y="2942949"/>
                  </a:cubicBezTo>
                  <a:lnTo>
                    <a:pt x="0" y="17443"/>
                  </a:lnTo>
                  <a:cubicBezTo>
                    <a:pt x="0" y="12817"/>
                    <a:pt x="1838" y="8380"/>
                    <a:pt x="5109" y="5109"/>
                  </a:cubicBezTo>
                  <a:cubicBezTo>
                    <a:pt x="8380" y="1838"/>
                    <a:pt x="12817" y="0"/>
                    <a:pt x="17443" y="0"/>
                  </a:cubicBezTo>
                  <a:close/>
                </a:path>
              </a:pathLst>
            </a:custGeom>
            <a:solidFill>
              <a:srgbClr val="FFFFFF"/>
            </a:solidFill>
          </p:spPr>
        </p:sp>
        <p:sp>
          <p:nvSpPr>
            <p:cNvPr id="13" name="TextBox 13"/>
            <p:cNvSpPr txBox="1"/>
            <p:nvPr/>
          </p:nvSpPr>
          <p:spPr>
            <a:xfrm>
              <a:off x="0" y="-95250"/>
              <a:ext cx="3449265" cy="3055642"/>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a:off x="8401861" y="1708023"/>
            <a:ext cx="8161163" cy="6870954"/>
            <a:chOff x="0" y="0"/>
            <a:chExt cx="3171141" cy="2669811"/>
          </a:xfrm>
        </p:grpSpPr>
        <p:sp>
          <p:nvSpPr>
            <p:cNvPr id="15" name="Freeform 15"/>
            <p:cNvSpPr/>
            <p:nvPr/>
          </p:nvSpPr>
          <p:spPr>
            <a:xfrm>
              <a:off x="0" y="0"/>
              <a:ext cx="3171141" cy="2669811"/>
            </a:xfrm>
            <a:custGeom>
              <a:avLst/>
              <a:gdLst/>
              <a:ahLst/>
              <a:cxnLst/>
              <a:rect l="l" t="t" r="r" b="b"/>
              <a:pathLst>
                <a:path w="3171141" h="2669811">
                  <a:moveTo>
                    <a:pt x="18973" y="0"/>
                  </a:moveTo>
                  <a:lnTo>
                    <a:pt x="3152169" y="0"/>
                  </a:lnTo>
                  <a:cubicBezTo>
                    <a:pt x="3162647" y="0"/>
                    <a:pt x="3171141" y="8494"/>
                    <a:pt x="3171141" y="18973"/>
                  </a:cubicBezTo>
                  <a:lnTo>
                    <a:pt x="3171141" y="2650839"/>
                  </a:lnTo>
                  <a:cubicBezTo>
                    <a:pt x="3171141" y="2655870"/>
                    <a:pt x="3169142" y="2660696"/>
                    <a:pt x="3165584" y="2664254"/>
                  </a:cubicBezTo>
                  <a:cubicBezTo>
                    <a:pt x="3162026" y="2667812"/>
                    <a:pt x="3157200" y="2669811"/>
                    <a:pt x="3152169" y="2669811"/>
                  </a:cubicBezTo>
                  <a:lnTo>
                    <a:pt x="18973" y="2669811"/>
                  </a:lnTo>
                  <a:cubicBezTo>
                    <a:pt x="13941" y="2669811"/>
                    <a:pt x="9115" y="2667812"/>
                    <a:pt x="5557" y="2664254"/>
                  </a:cubicBezTo>
                  <a:cubicBezTo>
                    <a:pt x="1999" y="2660696"/>
                    <a:pt x="0" y="2655870"/>
                    <a:pt x="0" y="2650839"/>
                  </a:cubicBezTo>
                  <a:lnTo>
                    <a:pt x="0" y="18973"/>
                  </a:lnTo>
                  <a:cubicBezTo>
                    <a:pt x="0" y="13941"/>
                    <a:pt x="1999" y="9115"/>
                    <a:pt x="5557" y="5557"/>
                  </a:cubicBezTo>
                  <a:cubicBezTo>
                    <a:pt x="9115" y="1999"/>
                    <a:pt x="13941" y="0"/>
                    <a:pt x="18973" y="0"/>
                  </a:cubicBezTo>
                  <a:close/>
                </a:path>
              </a:pathLst>
            </a:custGeom>
            <a:solidFill>
              <a:srgbClr val="FFFBF3"/>
            </a:solidFill>
            <a:ln w="47625" cap="sq">
              <a:solidFill>
                <a:srgbClr val="E8B19A"/>
              </a:solidFill>
              <a:prstDash val="lgDash"/>
              <a:miter/>
            </a:ln>
          </p:spPr>
        </p:sp>
        <p:sp>
          <p:nvSpPr>
            <p:cNvPr id="16" name="TextBox 16"/>
            <p:cNvSpPr txBox="1"/>
            <p:nvPr/>
          </p:nvSpPr>
          <p:spPr>
            <a:xfrm>
              <a:off x="0" y="-95250"/>
              <a:ext cx="3171141" cy="2765061"/>
            </a:xfrm>
            <a:prstGeom prst="rect">
              <a:avLst/>
            </a:prstGeom>
          </p:spPr>
          <p:txBody>
            <a:bodyPr lIns="50800" tIns="50800" rIns="50800" bIns="50800" rtlCol="0" anchor="ctr"/>
            <a:lstStyle/>
            <a:p>
              <a:pPr algn="ctr">
                <a:lnSpc>
                  <a:spcPts val="3359"/>
                </a:lnSpc>
              </a:pPr>
              <a:endParaRPr/>
            </a:p>
          </p:txBody>
        </p:sp>
      </p:grpSp>
      <p:grpSp>
        <p:nvGrpSpPr>
          <p:cNvPr id="17" name="Group 17"/>
          <p:cNvGrpSpPr/>
          <p:nvPr/>
        </p:nvGrpSpPr>
        <p:grpSpPr>
          <a:xfrm>
            <a:off x="8790602" y="4623027"/>
            <a:ext cx="3908300" cy="675737"/>
            <a:chOff x="0" y="0"/>
            <a:chExt cx="1029347" cy="177972"/>
          </a:xfrm>
        </p:grpSpPr>
        <p:sp>
          <p:nvSpPr>
            <p:cNvPr id="18" name="Freeform 18"/>
            <p:cNvSpPr/>
            <p:nvPr/>
          </p:nvSpPr>
          <p:spPr>
            <a:xfrm>
              <a:off x="0" y="0"/>
              <a:ext cx="1029347" cy="177972"/>
            </a:xfrm>
            <a:custGeom>
              <a:avLst/>
              <a:gdLst/>
              <a:ahLst/>
              <a:cxnLst/>
              <a:rect l="l" t="t" r="r" b="b"/>
              <a:pathLst>
                <a:path w="1029347" h="177972">
                  <a:moveTo>
                    <a:pt x="88986" y="0"/>
                  </a:moveTo>
                  <a:lnTo>
                    <a:pt x="940361" y="0"/>
                  </a:lnTo>
                  <a:cubicBezTo>
                    <a:pt x="963961" y="0"/>
                    <a:pt x="986595" y="9375"/>
                    <a:pt x="1003283" y="26063"/>
                  </a:cubicBezTo>
                  <a:cubicBezTo>
                    <a:pt x="1019971" y="42751"/>
                    <a:pt x="1029347" y="65385"/>
                    <a:pt x="1029347" y="88986"/>
                  </a:cubicBezTo>
                  <a:lnTo>
                    <a:pt x="1029347" y="88986"/>
                  </a:lnTo>
                  <a:cubicBezTo>
                    <a:pt x="1029347" y="138131"/>
                    <a:pt x="989506" y="177972"/>
                    <a:pt x="940361"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E47A7A"/>
            </a:solidFill>
          </p:spPr>
        </p:sp>
        <p:sp>
          <p:nvSpPr>
            <p:cNvPr id="19" name="TextBox 19"/>
            <p:cNvSpPr txBox="1"/>
            <p:nvPr/>
          </p:nvSpPr>
          <p:spPr>
            <a:xfrm>
              <a:off x="0" y="-95250"/>
              <a:ext cx="1029347" cy="273222"/>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a:off x="8790602" y="6580829"/>
            <a:ext cx="3908300" cy="675737"/>
            <a:chOff x="0" y="0"/>
            <a:chExt cx="1029347" cy="177972"/>
          </a:xfrm>
        </p:grpSpPr>
        <p:sp>
          <p:nvSpPr>
            <p:cNvPr id="21" name="Freeform 21"/>
            <p:cNvSpPr/>
            <p:nvPr/>
          </p:nvSpPr>
          <p:spPr>
            <a:xfrm>
              <a:off x="0" y="0"/>
              <a:ext cx="1029347" cy="177972"/>
            </a:xfrm>
            <a:custGeom>
              <a:avLst/>
              <a:gdLst/>
              <a:ahLst/>
              <a:cxnLst/>
              <a:rect l="l" t="t" r="r" b="b"/>
              <a:pathLst>
                <a:path w="1029347" h="177972">
                  <a:moveTo>
                    <a:pt x="88986" y="0"/>
                  </a:moveTo>
                  <a:lnTo>
                    <a:pt x="940361" y="0"/>
                  </a:lnTo>
                  <a:cubicBezTo>
                    <a:pt x="963961" y="0"/>
                    <a:pt x="986595" y="9375"/>
                    <a:pt x="1003283" y="26063"/>
                  </a:cubicBezTo>
                  <a:cubicBezTo>
                    <a:pt x="1019971" y="42751"/>
                    <a:pt x="1029347" y="65385"/>
                    <a:pt x="1029347" y="88986"/>
                  </a:cubicBezTo>
                  <a:lnTo>
                    <a:pt x="1029347" y="88986"/>
                  </a:lnTo>
                  <a:cubicBezTo>
                    <a:pt x="1029347" y="138131"/>
                    <a:pt x="989506" y="177972"/>
                    <a:pt x="940361"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22" name="TextBox 22"/>
            <p:cNvSpPr txBox="1"/>
            <p:nvPr/>
          </p:nvSpPr>
          <p:spPr>
            <a:xfrm>
              <a:off x="0" y="-95250"/>
              <a:ext cx="1029347" cy="273222"/>
            </a:xfrm>
            <a:prstGeom prst="rect">
              <a:avLst/>
            </a:prstGeom>
          </p:spPr>
          <p:txBody>
            <a:bodyPr lIns="50800" tIns="50800" rIns="50800" bIns="50800" rtlCol="0" anchor="ctr"/>
            <a:lstStyle/>
            <a:p>
              <a:pPr algn="ctr">
                <a:lnSpc>
                  <a:spcPts val="3359"/>
                </a:lnSpc>
              </a:pPr>
              <a:endParaRPr/>
            </a:p>
          </p:txBody>
        </p:sp>
      </p:grpSp>
      <p:sp>
        <p:nvSpPr>
          <p:cNvPr id="23" name="Freeform 23"/>
          <p:cNvSpPr/>
          <p:nvPr/>
        </p:nvSpPr>
        <p:spPr>
          <a:xfrm>
            <a:off x="2241222" y="4845385"/>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p:cNvSpPr/>
          <p:nvPr/>
        </p:nvSpPr>
        <p:spPr>
          <a:xfrm>
            <a:off x="6335748" y="2439884"/>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5" name="Group 25"/>
          <p:cNvGrpSpPr/>
          <p:nvPr/>
        </p:nvGrpSpPr>
        <p:grpSpPr>
          <a:xfrm>
            <a:off x="-707956" y="9491426"/>
            <a:ext cx="19703911" cy="1472127"/>
            <a:chOff x="0" y="0"/>
            <a:chExt cx="7656247" cy="572017"/>
          </a:xfrm>
        </p:grpSpPr>
        <p:sp>
          <p:nvSpPr>
            <p:cNvPr id="26" name="Freeform 26"/>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27" name="TextBox 27"/>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
        <p:nvSpPr>
          <p:cNvPr id="28" name="Freeform 28"/>
          <p:cNvSpPr/>
          <p:nvPr/>
        </p:nvSpPr>
        <p:spPr>
          <a:xfrm>
            <a:off x="106728" y="1394082"/>
            <a:ext cx="7678787" cy="4936262"/>
          </a:xfrm>
          <a:custGeom>
            <a:avLst/>
            <a:gdLst/>
            <a:ahLst/>
            <a:cxnLst/>
            <a:rect l="l" t="t" r="r" b="b"/>
            <a:pathLst>
              <a:path w="7678787" h="4936262">
                <a:moveTo>
                  <a:pt x="0" y="0"/>
                </a:moveTo>
                <a:lnTo>
                  <a:pt x="7678788" y="0"/>
                </a:lnTo>
                <a:lnTo>
                  <a:pt x="7678788" y="4936262"/>
                </a:lnTo>
                <a:lnTo>
                  <a:pt x="0" y="4936262"/>
                </a:lnTo>
                <a:lnTo>
                  <a:pt x="0" y="0"/>
                </a:lnTo>
                <a:close/>
              </a:path>
            </a:pathLst>
          </a:custGeom>
          <a:blipFill>
            <a:blip r:embed="rId4"/>
            <a:stretch>
              <a:fillRect l="-7296" r="-7296"/>
            </a:stretch>
          </a:blipFill>
        </p:spPr>
      </p:sp>
      <p:sp>
        <p:nvSpPr>
          <p:cNvPr id="29" name="TextBox 29"/>
          <p:cNvSpPr txBox="1"/>
          <p:nvPr/>
        </p:nvSpPr>
        <p:spPr>
          <a:xfrm>
            <a:off x="2172342" y="6717743"/>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30" name="TextBox 30"/>
          <p:cNvSpPr txBox="1"/>
          <p:nvPr/>
        </p:nvSpPr>
        <p:spPr>
          <a:xfrm>
            <a:off x="1688520" y="7607427"/>
            <a:ext cx="5775565" cy="971550"/>
          </a:xfrm>
          <a:prstGeom prst="rect">
            <a:avLst/>
          </a:prstGeom>
        </p:spPr>
        <p:txBody>
          <a:bodyPr lIns="0" tIns="0" rIns="0" bIns="0" rtlCol="0" anchor="t">
            <a:spAutoFit/>
          </a:bodyPr>
          <a:lstStyle/>
          <a:p>
            <a:pPr algn="ctr">
              <a:lnSpc>
                <a:spcPts val="6270"/>
              </a:lnSpc>
            </a:pPr>
            <a:r>
              <a:rPr lang="en-US" sz="6600" spc="-66">
                <a:solidFill>
                  <a:srgbClr val="FFFFFF"/>
                </a:solidFill>
                <a:latin typeface="Funtastic"/>
                <a:ea typeface="Funtastic"/>
                <a:cs typeface="Funtastic"/>
                <a:sym typeface="Funtastic"/>
              </a:rPr>
              <a:t>Usus Halus</a:t>
            </a:r>
          </a:p>
        </p:txBody>
      </p:sp>
      <p:sp>
        <p:nvSpPr>
          <p:cNvPr id="31" name="TextBox 31"/>
          <p:cNvSpPr txBox="1"/>
          <p:nvPr/>
        </p:nvSpPr>
        <p:spPr>
          <a:xfrm>
            <a:off x="8790602" y="2557070"/>
            <a:ext cx="7383681" cy="16725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Usus halus adalah bagian dari sistem pencernaan manusia yang berupa saluran panjang berbentuk tabung yang terletak di antara lambung dan usus besar. Usus ini berfungsi untuk mencerna makanan.</a:t>
            </a:r>
          </a:p>
        </p:txBody>
      </p:sp>
      <p:sp>
        <p:nvSpPr>
          <p:cNvPr id="32" name="TextBox 32"/>
          <p:cNvSpPr txBox="1"/>
          <p:nvPr/>
        </p:nvSpPr>
        <p:spPr>
          <a:xfrm>
            <a:off x="8790602" y="1900769"/>
            <a:ext cx="7383681" cy="539115"/>
          </a:xfrm>
          <a:prstGeom prst="rect">
            <a:avLst/>
          </a:prstGeom>
        </p:spPr>
        <p:txBody>
          <a:bodyPr lIns="0" tIns="0" rIns="0" bIns="0" rtlCol="0" anchor="t">
            <a:spAutoFit/>
          </a:bodyPr>
          <a:lstStyle/>
          <a:p>
            <a:pPr algn="l">
              <a:lnSpc>
                <a:spcPts val="3359"/>
              </a:lnSpc>
            </a:pPr>
            <a:r>
              <a:rPr lang="en-US" sz="2400" b="1">
                <a:solidFill>
                  <a:srgbClr val="593337"/>
                </a:solidFill>
                <a:latin typeface="Prachason Neue Mon Bold"/>
                <a:ea typeface="Prachason Neue Mon Bold"/>
                <a:cs typeface="Prachason Neue Mon Bold"/>
                <a:sym typeface="Prachason Neue Mon Bold"/>
              </a:rPr>
              <a:t>Pengertian Usus Halus :</a:t>
            </a:r>
          </a:p>
        </p:txBody>
      </p:sp>
      <p:sp>
        <p:nvSpPr>
          <p:cNvPr id="33" name="TextBox 33"/>
          <p:cNvSpPr txBox="1"/>
          <p:nvPr/>
        </p:nvSpPr>
        <p:spPr>
          <a:xfrm>
            <a:off x="8790602" y="5413064"/>
            <a:ext cx="7383681" cy="8343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Duodenum berfungsi untuk melanjutkan pencernaan makanan, khususnya untuk pencernaan kimiawi.</a:t>
            </a:r>
          </a:p>
        </p:txBody>
      </p:sp>
      <p:sp>
        <p:nvSpPr>
          <p:cNvPr id="34" name="TextBox 34"/>
          <p:cNvSpPr txBox="1"/>
          <p:nvPr/>
        </p:nvSpPr>
        <p:spPr>
          <a:xfrm>
            <a:off x="9075870" y="4600850"/>
            <a:ext cx="3337763" cy="539115"/>
          </a:xfrm>
          <a:prstGeom prst="rect">
            <a:avLst/>
          </a:prstGeom>
        </p:spPr>
        <p:txBody>
          <a:bodyPr lIns="0" tIns="0" rIns="0" bIns="0" rtlCol="0" anchor="t">
            <a:spAutoFit/>
          </a:bodyPr>
          <a:lstStyle/>
          <a:p>
            <a:pPr algn="ctr">
              <a:lnSpc>
                <a:spcPts val="3359"/>
              </a:lnSpc>
            </a:pPr>
            <a:r>
              <a:rPr lang="en-US" sz="2400" b="1">
                <a:solidFill>
                  <a:srgbClr val="FFFFFF"/>
                </a:solidFill>
                <a:latin typeface="Prachason Neue Mon Bold"/>
                <a:ea typeface="Prachason Neue Mon Bold"/>
                <a:cs typeface="Prachason Neue Mon Bold"/>
                <a:sym typeface="Prachason Neue Mon Bold"/>
              </a:rPr>
              <a:t>Fungsi Duodenum :</a:t>
            </a:r>
          </a:p>
        </p:txBody>
      </p:sp>
      <p:sp>
        <p:nvSpPr>
          <p:cNvPr id="35" name="TextBox 35"/>
          <p:cNvSpPr txBox="1"/>
          <p:nvPr/>
        </p:nvSpPr>
        <p:spPr>
          <a:xfrm>
            <a:off x="8790602" y="7370866"/>
            <a:ext cx="7383681" cy="8343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Fungsi Jejunum adalah untuk menyerap sebagian besar nutrisi dari makanan yang sudah dicerna.</a:t>
            </a:r>
          </a:p>
        </p:txBody>
      </p:sp>
      <p:sp>
        <p:nvSpPr>
          <p:cNvPr id="36" name="TextBox 36"/>
          <p:cNvSpPr txBox="1"/>
          <p:nvPr/>
        </p:nvSpPr>
        <p:spPr>
          <a:xfrm>
            <a:off x="9342431" y="6558652"/>
            <a:ext cx="2804642" cy="539115"/>
          </a:xfrm>
          <a:prstGeom prst="rect">
            <a:avLst/>
          </a:prstGeom>
        </p:spPr>
        <p:txBody>
          <a:bodyPr lIns="0" tIns="0" rIns="0" bIns="0" rtlCol="0" anchor="t">
            <a:spAutoFit/>
          </a:bodyPr>
          <a:lstStyle/>
          <a:p>
            <a:pPr algn="ctr">
              <a:lnSpc>
                <a:spcPts val="3359"/>
              </a:lnSpc>
            </a:pPr>
            <a:r>
              <a:rPr lang="en-US" sz="2400" b="1">
                <a:solidFill>
                  <a:srgbClr val="593337"/>
                </a:solidFill>
                <a:latin typeface="Prachason Neue Mon Bold"/>
                <a:ea typeface="Prachason Neue Mon Bold"/>
                <a:cs typeface="Prachason Neue Mon Bold"/>
                <a:sym typeface="Prachason Neue Mon Bold"/>
              </a:rPr>
              <a:t>Fungsi Jejunum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1482440" y="1368428"/>
            <a:ext cx="8931653" cy="7550145"/>
            <a:chOff x="0" y="0"/>
            <a:chExt cx="3470526" cy="2933721"/>
          </a:xfrm>
        </p:grpSpPr>
        <p:sp>
          <p:nvSpPr>
            <p:cNvPr id="3" name="Freeform 3"/>
            <p:cNvSpPr/>
            <p:nvPr/>
          </p:nvSpPr>
          <p:spPr>
            <a:xfrm>
              <a:off x="0" y="0"/>
              <a:ext cx="3470526" cy="2933721"/>
            </a:xfrm>
            <a:custGeom>
              <a:avLst/>
              <a:gdLst/>
              <a:ahLst/>
              <a:cxnLst/>
              <a:rect l="l" t="t" r="r" b="b"/>
              <a:pathLst>
                <a:path w="3470526" h="2933721">
                  <a:moveTo>
                    <a:pt x="17336" y="0"/>
                  </a:moveTo>
                  <a:lnTo>
                    <a:pt x="3453190" y="0"/>
                  </a:lnTo>
                  <a:cubicBezTo>
                    <a:pt x="3457788" y="0"/>
                    <a:pt x="3462198" y="1826"/>
                    <a:pt x="3465449" y="5078"/>
                  </a:cubicBezTo>
                  <a:cubicBezTo>
                    <a:pt x="3468700" y="8329"/>
                    <a:pt x="3470526" y="12738"/>
                    <a:pt x="3470526" y="17336"/>
                  </a:cubicBezTo>
                  <a:lnTo>
                    <a:pt x="3470526" y="2916385"/>
                  </a:lnTo>
                  <a:cubicBezTo>
                    <a:pt x="3470526" y="2920983"/>
                    <a:pt x="3468700" y="2925392"/>
                    <a:pt x="3465449" y="2928643"/>
                  </a:cubicBezTo>
                  <a:cubicBezTo>
                    <a:pt x="3462198" y="2931894"/>
                    <a:pt x="3457788" y="2933721"/>
                    <a:pt x="3453190" y="2933721"/>
                  </a:cubicBezTo>
                  <a:lnTo>
                    <a:pt x="17336" y="2933721"/>
                  </a:lnTo>
                  <a:cubicBezTo>
                    <a:pt x="12738" y="2933721"/>
                    <a:pt x="8329" y="2931894"/>
                    <a:pt x="5078" y="2928643"/>
                  </a:cubicBezTo>
                  <a:cubicBezTo>
                    <a:pt x="1826" y="2925392"/>
                    <a:pt x="0" y="2920983"/>
                    <a:pt x="0" y="2916385"/>
                  </a:cubicBezTo>
                  <a:lnTo>
                    <a:pt x="0" y="17336"/>
                  </a:lnTo>
                  <a:cubicBezTo>
                    <a:pt x="0" y="12738"/>
                    <a:pt x="1826" y="8329"/>
                    <a:pt x="5078" y="5078"/>
                  </a:cubicBezTo>
                  <a:cubicBezTo>
                    <a:pt x="8329" y="1826"/>
                    <a:pt x="12738" y="0"/>
                    <a:pt x="17336" y="0"/>
                  </a:cubicBezTo>
                  <a:close/>
                </a:path>
              </a:pathLst>
            </a:custGeom>
            <a:solidFill>
              <a:srgbClr val="FFFFFF"/>
            </a:solidFill>
          </p:spPr>
        </p:sp>
        <p:sp>
          <p:nvSpPr>
            <p:cNvPr id="4" name="TextBox 4"/>
            <p:cNvSpPr txBox="1"/>
            <p:nvPr/>
          </p:nvSpPr>
          <p:spPr>
            <a:xfrm>
              <a:off x="0" y="-95250"/>
              <a:ext cx="3470526" cy="3028971"/>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832300" y="1708023"/>
            <a:ext cx="8231933" cy="6870954"/>
            <a:chOff x="0" y="0"/>
            <a:chExt cx="3198640" cy="2669811"/>
          </a:xfrm>
        </p:grpSpPr>
        <p:sp>
          <p:nvSpPr>
            <p:cNvPr id="6" name="Freeform 6"/>
            <p:cNvSpPr/>
            <p:nvPr/>
          </p:nvSpPr>
          <p:spPr>
            <a:xfrm>
              <a:off x="0" y="0"/>
              <a:ext cx="3198640" cy="2669811"/>
            </a:xfrm>
            <a:custGeom>
              <a:avLst/>
              <a:gdLst/>
              <a:ahLst/>
              <a:cxnLst/>
              <a:rect l="l" t="t" r="r" b="b"/>
              <a:pathLst>
                <a:path w="3198640" h="2669811">
                  <a:moveTo>
                    <a:pt x="18809" y="0"/>
                  </a:moveTo>
                  <a:lnTo>
                    <a:pt x="3179830" y="0"/>
                  </a:lnTo>
                  <a:cubicBezTo>
                    <a:pt x="3184819" y="0"/>
                    <a:pt x="3189603" y="1982"/>
                    <a:pt x="3193131" y="5509"/>
                  </a:cubicBezTo>
                  <a:cubicBezTo>
                    <a:pt x="3196658" y="9037"/>
                    <a:pt x="3198640" y="13821"/>
                    <a:pt x="3198640" y="18809"/>
                  </a:cubicBezTo>
                  <a:lnTo>
                    <a:pt x="3198640" y="2651002"/>
                  </a:lnTo>
                  <a:cubicBezTo>
                    <a:pt x="3198640" y="2661390"/>
                    <a:pt x="3190219" y="2669811"/>
                    <a:pt x="3179830" y="2669811"/>
                  </a:cubicBezTo>
                  <a:lnTo>
                    <a:pt x="18809" y="2669811"/>
                  </a:lnTo>
                  <a:cubicBezTo>
                    <a:pt x="13821" y="2669811"/>
                    <a:pt x="9037" y="2667829"/>
                    <a:pt x="5509" y="2664302"/>
                  </a:cubicBezTo>
                  <a:cubicBezTo>
                    <a:pt x="1982" y="2660774"/>
                    <a:pt x="0" y="2655990"/>
                    <a:pt x="0" y="2651002"/>
                  </a:cubicBezTo>
                  <a:lnTo>
                    <a:pt x="0" y="18809"/>
                  </a:lnTo>
                  <a:cubicBezTo>
                    <a:pt x="0" y="13821"/>
                    <a:pt x="1982" y="9037"/>
                    <a:pt x="5509" y="5509"/>
                  </a:cubicBezTo>
                  <a:cubicBezTo>
                    <a:pt x="9037" y="1982"/>
                    <a:pt x="13821" y="0"/>
                    <a:pt x="18809" y="0"/>
                  </a:cubicBezTo>
                  <a:close/>
                </a:path>
              </a:pathLst>
            </a:custGeom>
            <a:solidFill>
              <a:srgbClr val="FFFBF3"/>
            </a:solidFill>
            <a:ln w="47625" cap="sq">
              <a:solidFill>
                <a:srgbClr val="E8B19A"/>
              </a:solidFill>
              <a:prstDash val="lgDash"/>
              <a:miter/>
            </a:ln>
          </p:spPr>
        </p:sp>
        <p:sp>
          <p:nvSpPr>
            <p:cNvPr id="7" name="TextBox 7"/>
            <p:cNvSpPr txBox="1"/>
            <p:nvPr/>
          </p:nvSpPr>
          <p:spPr>
            <a:xfrm>
              <a:off x="0" y="-95250"/>
              <a:ext cx="3198640" cy="2765061"/>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10688028" y="1708023"/>
            <a:ext cx="6117532" cy="1998293"/>
            <a:chOff x="0" y="0"/>
            <a:chExt cx="2377058" cy="776466"/>
          </a:xfrm>
        </p:grpSpPr>
        <p:sp>
          <p:nvSpPr>
            <p:cNvPr id="9" name="Freeform 9"/>
            <p:cNvSpPr/>
            <p:nvPr/>
          </p:nvSpPr>
          <p:spPr>
            <a:xfrm>
              <a:off x="0" y="0"/>
              <a:ext cx="2377058" cy="776466"/>
            </a:xfrm>
            <a:custGeom>
              <a:avLst/>
              <a:gdLst/>
              <a:ahLst/>
              <a:cxnLst/>
              <a:rect l="l" t="t" r="r" b="b"/>
              <a:pathLst>
                <a:path w="2377058" h="776466">
                  <a:moveTo>
                    <a:pt x="25311" y="0"/>
                  </a:moveTo>
                  <a:lnTo>
                    <a:pt x="2351747" y="0"/>
                  </a:lnTo>
                  <a:cubicBezTo>
                    <a:pt x="2358460" y="0"/>
                    <a:pt x="2364898" y="2667"/>
                    <a:pt x="2369645" y="7413"/>
                  </a:cubicBezTo>
                  <a:cubicBezTo>
                    <a:pt x="2374391" y="12160"/>
                    <a:pt x="2377058" y="18598"/>
                    <a:pt x="2377058" y="25311"/>
                  </a:cubicBezTo>
                  <a:lnTo>
                    <a:pt x="2377058" y="751156"/>
                  </a:lnTo>
                  <a:cubicBezTo>
                    <a:pt x="2377058" y="765134"/>
                    <a:pt x="2365726" y="776466"/>
                    <a:pt x="2351747" y="776466"/>
                  </a:cubicBezTo>
                  <a:lnTo>
                    <a:pt x="25311" y="776466"/>
                  </a:lnTo>
                  <a:cubicBezTo>
                    <a:pt x="11332" y="776466"/>
                    <a:pt x="0" y="765134"/>
                    <a:pt x="0" y="751156"/>
                  </a:cubicBezTo>
                  <a:lnTo>
                    <a:pt x="0" y="25311"/>
                  </a:lnTo>
                  <a:cubicBezTo>
                    <a:pt x="0" y="11332"/>
                    <a:pt x="11332" y="0"/>
                    <a:pt x="25311" y="0"/>
                  </a:cubicBezTo>
                  <a:close/>
                </a:path>
              </a:pathLst>
            </a:custGeom>
            <a:solidFill>
              <a:srgbClr val="E47A7A"/>
            </a:solidFill>
          </p:spPr>
        </p:sp>
        <p:sp>
          <p:nvSpPr>
            <p:cNvPr id="10" name="TextBox 10"/>
            <p:cNvSpPr txBox="1"/>
            <p:nvPr/>
          </p:nvSpPr>
          <p:spPr>
            <a:xfrm>
              <a:off x="0" y="-95250"/>
              <a:ext cx="2377058" cy="871716"/>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11029995" y="1368428"/>
            <a:ext cx="5433598" cy="675737"/>
            <a:chOff x="0" y="0"/>
            <a:chExt cx="1431071" cy="177972"/>
          </a:xfrm>
        </p:grpSpPr>
        <p:sp>
          <p:nvSpPr>
            <p:cNvPr id="12" name="Freeform 12"/>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13" name="TextBox 13"/>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a:off x="10688028" y="3961526"/>
            <a:ext cx="6117532" cy="4957046"/>
            <a:chOff x="0" y="0"/>
            <a:chExt cx="2377058" cy="1926134"/>
          </a:xfrm>
        </p:grpSpPr>
        <p:sp>
          <p:nvSpPr>
            <p:cNvPr id="15" name="Freeform 15"/>
            <p:cNvSpPr/>
            <p:nvPr/>
          </p:nvSpPr>
          <p:spPr>
            <a:xfrm>
              <a:off x="0" y="0"/>
              <a:ext cx="2377058" cy="1926134"/>
            </a:xfrm>
            <a:custGeom>
              <a:avLst/>
              <a:gdLst/>
              <a:ahLst/>
              <a:cxnLst/>
              <a:rect l="l" t="t" r="r" b="b"/>
              <a:pathLst>
                <a:path w="2377058" h="1926134">
                  <a:moveTo>
                    <a:pt x="25311" y="0"/>
                  </a:moveTo>
                  <a:lnTo>
                    <a:pt x="2351747" y="0"/>
                  </a:lnTo>
                  <a:cubicBezTo>
                    <a:pt x="2358460" y="0"/>
                    <a:pt x="2364898" y="2667"/>
                    <a:pt x="2369645" y="7413"/>
                  </a:cubicBezTo>
                  <a:cubicBezTo>
                    <a:pt x="2374391" y="12160"/>
                    <a:pt x="2377058" y="18598"/>
                    <a:pt x="2377058" y="25311"/>
                  </a:cubicBezTo>
                  <a:lnTo>
                    <a:pt x="2377058" y="1900823"/>
                  </a:lnTo>
                  <a:cubicBezTo>
                    <a:pt x="2377058" y="1914802"/>
                    <a:pt x="2365726" y="1926134"/>
                    <a:pt x="2351747" y="1926134"/>
                  </a:cubicBezTo>
                  <a:lnTo>
                    <a:pt x="25311" y="1926134"/>
                  </a:lnTo>
                  <a:cubicBezTo>
                    <a:pt x="11332" y="1926134"/>
                    <a:pt x="0" y="1914802"/>
                    <a:pt x="0" y="1900823"/>
                  </a:cubicBezTo>
                  <a:lnTo>
                    <a:pt x="0" y="25311"/>
                  </a:lnTo>
                  <a:cubicBezTo>
                    <a:pt x="0" y="11332"/>
                    <a:pt x="11332" y="0"/>
                    <a:pt x="25311" y="0"/>
                  </a:cubicBezTo>
                  <a:close/>
                </a:path>
              </a:pathLst>
            </a:custGeom>
            <a:solidFill>
              <a:srgbClr val="FFFBF3"/>
            </a:solidFill>
            <a:ln w="47625" cap="sq">
              <a:solidFill>
                <a:srgbClr val="E8B19A"/>
              </a:solidFill>
              <a:prstDash val="solid"/>
              <a:miter/>
            </a:ln>
          </p:spPr>
        </p:sp>
        <p:sp>
          <p:nvSpPr>
            <p:cNvPr id="16" name="TextBox 16"/>
            <p:cNvSpPr txBox="1"/>
            <p:nvPr/>
          </p:nvSpPr>
          <p:spPr>
            <a:xfrm>
              <a:off x="0" y="-95250"/>
              <a:ext cx="2377058" cy="2021384"/>
            </a:xfrm>
            <a:prstGeom prst="rect">
              <a:avLst/>
            </a:prstGeom>
          </p:spPr>
          <p:txBody>
            <a:bodyPr lIns="50800" tIns="50800" rIns="50800" bIns="50800" rtlCol="0" anchor="ctr"/>
            <a:lstStyle/>
            <a:p>
              <a:pPr algn="ctr">
                <a:lnSpc>
                  <a:spcPts val="3359"/>
                </a:lnSpc>
              </a:pPr>
              <a:endParaRPr/>
            </a:p>
          </p:txBody>
        </p:sp>
      </p:grpSp>
      <p:grpSp>
        <p:nvGrpSpPr>
          <p:cNvPr id="17" name="Group 17"/>
          <p:cNvGrpSpPr/>
          <p:nvPr/>
        </p:nvGrpSpPr>
        <p:grpSpPr>
          <a:xfrm>
            <a:off x="2221883" y="4627646"/>
            <a:ext cx="3107489" cy="675737"/>
            <a:chOff x="0" y="0"/>
            <a:chExt cx="818433" cy="177972"/>
          </a:xfrm>
        </p:grpSpPr>
        <p:sp>
          <p:nvSpPr>
            <p:cNvPr id="18" name="Freeform 18"/>
            <p:cNvSpPr/>
            <p:nvPr/>
          </p:nvSpPr>
          <p:spPr>
            <a:xfrm>
              <a:off x="0" y="0"/>
              <a:ext cx="818433" cy="177972"/>
            </a:xfrm>
            <a:custGeom>
              <a:avLst/>
              <a:gdLst/>
              <a:ahLst/>
              <a:cxnLst/>
              <a:rect l="l" t="t" r="r" b="b"/>
              <a:pathLst>
                <a:path w="818433" h="177972">
                  <a:moveTo>
                    <a:pt x="88986" y="0"/>
                  </a:moveTo>
                  <a:lnTo>
                    <a:pt x="729447" y="0"/>
                  </a:lnTo>
                  <a:cubicBezTo>
                    <a:pt x="753048" y="0"/>
                    <a:pt x="775682" y="9375"/>
                    <a:pt x="792370" y="26063"/>
                  </a:cubicBezTo>
                  <a:cubicBezTo>
                    <a:pt x="809058" y="42751"/>
                    <a:pt x="818433" y="65385"/>
                    <a:pt x="818433" y="88986"/>
                  </a:cubicBezTo>
                  <a:lnTo>
                    <a:pt x="818433" y="88986"/>
                  </a:lnTo>
                  <a:cubicBezTo>
                    <a:pt x="818433" y="138131"/>
                    <a:pt x="778593" y="177972"/>
                    <a:pt x="729447"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E47A7A"/>
            </a:solidFill>
          </p:spPr>
        </p:sp>
        <p:sp>
          <p:nvSpPr>
            <p:cNvPr id="19" name="TextBox 19"/>
            <p:cNvSpPr txBox="1"/>
            <p:nvPr/>
          </p:nvSpPr>
          <p:spPr>
            <a:xfrm>
              <a:off x="0" y="-95250"/>
              <a:ext cx="818433" cy="273222"/>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a:off x="2221883" y="6511809"/>
            <a:ext cx="3107489" cy="675737"/>
            <a:chOff x="0" y="0"/>
            <a:chExt cx="818433" cy="177972"/>
          </a:xfrm>
        </p:grpSpPr>
        <p:sp>
          <p:nvSpPr>
            <p:cNvPr id="21" name="Freeform 21"/>
            <p:cNvSpPr/>
            <p:nvPr/>
          </p:nvSpPr>
          <p:spPr>
            <a:xfrm>
              <a:off x="0" y="0"/>
              <a:ext cx="818433" cy="177972"/>
            </a:xfrm>
            <a:custGeom>
              <a:avLst/>
              <a:gdLst/>
              <a:ahLst/>
              <a:cxnLst/>
              <a:rect l="l" t="t" r="r" b="b"/>
              <a:pathLst>
                <a:path w="818433" h="177972">
                  <a:moveTo>
                    <a:pt x="88986" y="0"/>
                  </a:moveTo>
                  <a:lnTo>
                    <a:pt x="729447" y="0"/>
                  </a:lnTo>
                  <a:cubicBezTo>
                    <a:pt x="753048" y="0"/>
                    <a:pt x="775682" y="9375"/>
                    <a:pt x="792370" y="26063"/>
                  </a:cubicBezTo>
                  <a:cubicBezTo>
                    <a:pt x="809058" y="42751"/>
                    <a:pt x="818433" y="65385"/>
                    <a:pt x="818433" y="88986"/>
                  </a:cubicBezTo>
                  <a:lnTo>
                    <a:pt x="818433" y="88986"/>
                  </a:lnTo>
                  <a:cubicBezTo>
                    <a:pt x="818433" y="138131"/>
                    <a:pt x="778593" y="177972"/>
                    <a:pt x="729447"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22" name="TextBox 22"/>
            <p:cNvSpPr txBox="1"/>
            <p:nvPr/>
          </p:nvSpPr>
          <p:spPr>
            <a:xfrm>
              <a:off x="0" y="-95250"/>
              <a:ext cx="818433" cy="273222"/>
            </a:xfrm>
            <a:prstGeom prst="rect">
              <a:avLst/>
            </a:prstGeom>
          </p:spPr>
          <p:txBody>
            <a:bodyPr lIns="50800" tIns="50800" rIns="50800" bIns="50800" rtlCol="0" anchor="ctr"/>
            <a:lstStyle/>
            <a:p>
              <a:pPr algn="ctr">
                <a:lnSpc>
                  <a:spcPts val="3359"/>
                </a:lnSpc>
              </a:pPr>
              <a:endParaRPr/>
            </a:p>
          </p:txBody>
        </p:sp>
      </p:grpSp>
      <p:sp>
        <p:nvSpPr>
          <p:cNvPr id="23" name="Freeform 23"/>
          <p:cNvSpPr/>
          <p:nvPr/>
        </p:nvSpPr>
        <p:spPr>
          <a:xfrm>
            <a:off x="11256703" y="4831085"/>
            <a:ext cx="575635" cy="624829"/>
          </a:xfrm>
          <a:custGeom>
            <a:avLst/>
            <a:gdLst/>
            <a:ahLst/>
            <a:cxnLst/>
            <a:rect l="l" t="t" r="r" b="b"/>
            <a:pathLst>
              <a:path w="575635" h="624829">
                <a:moveTo>
                  <a:pt x="0" y="0"/>
                </a:moveTo>
                <a:lnTo>
                  <a:pt x="575635" y="0"/>
                </a:lnTo>
                <a:lnTo>
                  <a:pt x="575635" y="624830"/>
                </a:lnTo>
                <a:lnTo>
                  <a:pt x="0" y="6248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p:cNvSpPr/>
          <p:nvPr/>
        </p:nvSpPr>
        <p:spPr>
          <a:xfrm>
            <a:off x="15661250" y="6875132"/>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5" name="Group 25"/>
          <p:cNvGrpSpPr/>
          <p:nvPr/>
        </p:nvGrpSpPr>
        <p:grpSpPr>
          <a:xfrm>
            <a:off x="-707956" y="9491426"/>
            <a:ext cx="19703911" cy="1472127"/>
            <a:chOff x="0" y="0"/>
            <a:chExt cx="7656247" cy="572017"/>
          </a:xfrm>
        </p:grpSpPr>
        <p:sp>
          <p:nvSpPr>
            <p:cNvPr id="26" name="Freeform 26"/>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27" name="TextBox 27"/>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
        <p:nvSpPr>
          <p:cNvPr id="28" name="Freeform 28"/>
          <p:cNvSpPr/>
          <p:nvPr/>
        </p:nvSpPr>
        <p:spPr>
          <a:xfrm>
            <a:off x="10688028" y="3961526"/>
            <a:ext cx="7028472" cy="4957046"/>
          </a:xfrm>
          <a:custGeom>
            <a:avLst/>
            <a:gdLst/>
            <a:ahLst/>
            <a:cxnLst/>
            <a:rect l="l" t="t" r="r" b="b"/>
            <a:pathLst>
              <a:path w="7028472" h="4957046">
                <a:moveTo>
                  <a:pt x="0" y="0"/>
                </a:moveTo>
                <a:lnTo>
                  <a:pt x="7028472" y="0"/>
                </a:lnTo>
                <a:lnTo>
                  <a:pt x="7028472" y="4957046"/>
                </a:lnTo>
                <a:lnTo>
                  <a:pt x="0" y="4957046"/>
                </a:lnTo>
                <a:lnTo>
                  <a:pt x="0" y="0"/>
                </a:lnTo>
                <a:close/>
              </a:path>
            </a:pathLst>
          </a:custGeom>
          <a:blipFill>
            <a:blip r:embed="rId4"/>
            <a:stretch>
              <a:fillRect l="-5288" t="-650" b="-650"/>
            </a:stretch>
          </a:blipFill>
        </p:spPr>
      </p:sp>
      <p:sp>
        <p:nvSpPr>
          <p:cNvPr id="29" name="TextBox 29"/>
          <p:cNvSpPr txBox="1"/>
          <p:nvPr/>
        </p:nvSpPr>
        <p:spPr>
          <a:xfrm>
            <a:off x="11342834" y="1470076"/>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30" name="TextBox 30"/>
          <p:cNvSpPr txBox="1"/>
          <p:nvPr/>
        </p:nvSpPr>
        <p:spPr>
          <a:xfrm>
            <a:off x="11029995" y="2398771"/>
            <a:ext cx="5433598" cy="971550"/>
          </a:xfrm>
          <a:prstGeom prst="rect">
            <a:avLst/>
          </a:prstGeom>
        </p:spPr>
        <p:txBody>
          <a:bodyPr lIns="0" tIns="0" rIns="0" bIns="0" rtlCol="0" anchor="t">
            <a:spAutoFit/>
          </a:bodyPr>
          <a:lstStyle/>
          <a:p>
            <a:pPr algn="ctr">
              <a:lnSpc>
                <a:spcPts val="6270"/>
              </a:lnSpc>
            </a:pPr>
            <a:r>
              <a:rPr lang="en-US" sz="6600" spc="-66">
                <a:solidFill>
                  <a:srgbClr val="FFFFFF"/>
                </a:solidFill>
                <a:latin typeface="Funtastic"/>
                <a:ea typeface="Funtastic"/>
                <a:cs typeface="Funtastic"/>
                <a:sym typeface="Funtastic"/>
              </a:rPr>
              <a:t>Usus Besar</a:t>
            </a:r>
          </a:p>
        </p:txBody>
      </p:sp>
      <p:sp>
        <p:nvSpPr>
          <p:cNvPr id="31" name="TextBox 31"/>
          <p:cNvSpPr txBox="1"/>
          <p:nvPr/>
        </p:nvSpPr>
        <p:spPr>
          <a:xfrm>
            <a:off x="2221883" y="2626089"/>
            <a:ext cx="7452767" cy="16725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Usus besar adalah akhir dari saluran pencernaan manusia yang berfungsi untuk menyerap air dan juga elektrolit dari sisa makanan serta membentuk dan menyimpan feses sebelum dikeluarkan melalui anus. </a:t>
            </a:r>
          </a:p>
        </p:txBody>
      </p:sp>
      <p:sp>
        <p:nvSpPr>
          <p:cNvPr id="32" name="TextBox 32"/>
          <p:cNvSpPr txBox="1"/>
          <p:nvPr/>
        </p:nvSpPr>
        <p:spPr>
          <a:xfrm>
            <a:off x="2221883" y="1969789"/>
            <a:ext cx="7452767" cy="539115"/>
          </a:xfrm>
          <a:prstGeom prst="rect">
            <a:avLst/>
          </a:prstGeom>
        </p:spPr>
        <p:txBody>
          <a:bodyPr lIns="0" tIns="0" rIns="0" bIns="0" rtlCol="0" anchor="t">
            <a:spAutoFit/>
          </a:bodyPr>
          <a:lstStyle/>
          <a:p>
            <a:pPr algn="l">
              <a:lnSpc>
                <a:spcPts val="3359"/>
              </a:lnSpc>
            </a:pPr>
            <a:r>
              <a:rPr lang="en-US" sz="2400" b="1">
                <a:solidFill>
                  <a:srgbClr val="593337"/>
                </a:solidFill>
                <a:latin typeface="Prachason Neue Mon Bold"/>
                <a:ea typeface="Prachason Neue Mon Bold"/>
                <a:cs typeface="Prachason Neue Mon Bold"/>
                <a:sym typeface="Prachason Neue Mon Bold"/>
              </a:rPr>
              <a:t>Pengertian Usus Besar :</a:t>
            </a:r>
          </a:p>
        </p:txBody>
      </p:sp>
      <p:sp>
        <p:nvSpPr>
          <p:cNvPr id="33" name="TextBox 33"/>
          <p:cNvSpPr txBox="1"/>
          <p:nvPr/>
        </p:nvSpPr>
        <p:spPr>
          <a:xfrm>
            <a:off x="2504258" y="4605469"/>
            <a:ext cx="2542738" cy="539115"/>
          </a:xfrm>
          <a:prstGeom prst="rect">
            <a:avLst/>
          </a:prstGeom>
        </p:spPr>
        <p:txBody>
          <a:bodyPr lIns="0" tIns="0" rIns="0" bIns="0" rtlCol="0" anchor="t">
            <a:spAutoFit/>
          </a:bodyPr>
          <a:lstStyle/>
          <a:p>
            <a:pPr algn="ctr">
              <a:lnSpc>
                <a:spcPts val="3359"/>
              </a:lnSpc>
            </a:pPr>
            <a:r>
              <a:rPr lang="en-US" sz="2400" b="1">
                <a:solidFill>
                  <a:srgbClr val="FFFFFF"/>
                </a:solidFill>
                <a:latin typeface="Prachason Neue Mon Bold"/>
                <a:ea typeface="Prachason Neue Mon Bold"/>
                <a:cs typeface="Prachason Neue Mon Bold"/>
                <a:sym typeface="Prachason Neue Mon Bold"/>
              </a:rPr>
              <a:t>Fungsi Kolon :</a:t>
            </a:r>
          </a:p>
        </p:txBody>
      </p:sp>
      <p:sp>
        <p:nvSpPr>
          <p:cNvPr id="34" name="TextBox 34"/>
          <p:cNvSpPr txBox="1"/>
          <p:nvPr/>
        </p:nvSpPr>
        <p:spPr>
          <a:xfrm>
            <a:off x="2221883" y="5417683"/>
            <a:ext cx="7452767" cy="8343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Kolon berfungsi untuk menyerap air dan garam dari sisa makanan serta membantu pembentukan feses.</a:t>
            </a:r>
          </a:p>
        </p:txBody>
      </p:sp>
      <p:sp>
        <p:nvSpPr>
          <p:cNvPr id="35" name="TextBox 35"/>
          <p:cNvSpPr txBox="1"/>
          <p:nvPr/>
        </p:nvSpPr>
        <p:spPr>
          <a:xfrm>
            <a:off x="2504258" y="6489633"/>
            <a:ext cx="2542738" cy="539115"/>
          </a:xfrm>
          <a:prstGeom prst="rect">
            <a:avLst/>
          </a:prstGeom>
        </p:spPr>
        <p:txBody>
          <a:bodyPr lIns="0" tIns="0" rIns="0" bIns="0" rtlCol="0" anchor="t">
            <a:spAutoFit/>
          </a:bodyPr>
          <a:lstStyle/>
          <a:p>
            <a:pPr algn="ctr">
              <a:lnSpc>
                <a:spcPts val="3359"/>
              </a:lnSpc>
            </a:pPr>
            <a:r>
              <a:rPr lang="en-US" sz="2400" b="1">
                <a:solidFill>
                  <a:srgbClr val="593337"/>
                </a:solidFill>
                <a:latin typeface="Prachason Neue Mon Bold"/>
                <a:ea typeface="Prachason Neue Mon Bold"/>
                <a:cs typeface="Prachason Neue Mon Bold"/>
                <a:sym typeface="Prachason Neue Mon Bold"/>
              </a:rPr>
              <a:t>Fungsi Rektum :</a:t>
            </a:r>
          </a:p>
        </p:txBody>
      </p:sp>
      <p:sp>
        <p:nvSpPr>
          <p:cNvPr id="36" name="TextBox 36"/>
          <p:cNvSpPr txBox="1"/>
          <p:nvPr/>
        </p:nvSpPr>
        <p:spPr>
          <a:xfrm>
            <a:off x="2221883" y="7301846"/>
            <a:ext cx="7452767" cy="8343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Rektum berfungsi sebagai tempat penyimpanan sementara feses sebelum dikeluarkan melalui anus.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787959" y="1576174"/>
            <a:ext cx="12284233" cy="1818683"/>
            <a:chOff x="0" y="0"/>
            <a:chExt cx="4773221" cy="706676"/>
          </a:xfrm>
        </p:grpSpPr>
        <p:sp>
          <p:nvSpPr>
            <p:cNvPr id="3" name="Freeform 3"/>
            <p:cNvSpPr/>
            <p:nvPr/>
          </p:nvSpPr>
          <p:spPr>
            <a:xfrm>
              <a:off x="0" y="0"/>
              <a:ext cx="4773221" cy="706676"/>
            </a:xfrm>
            <a:custGeom>
              <a:avLst/>
              <a:gdLst/>
              <a:ahLst/>
              <a:cxnLst/>
              <a:rect l="l" t="t" r="r" b="b"/>
              <a:pathLst>
                <a:path w="4773221" h="706676">
                  <a:moveTo>
                    <a:pt x="63023" y="0"/>
                  </a:moveTo>
                  <a:lnTo>
                    <a:pt x="4710198" y="0"/>
                  </a:lnTo>
                  <a:cubicBezTo>
                    <a:pt x="4726913" y="0"/>
                    <a:pt x="4742943" y="6640"/>
                    <a:pt x="4754762" y="18459"/>
                  </a:cubicBezTo>
                  <a:cubicBezTo>
                    <a:pt x="4766581" y="30278"/>
                    <a:pt x="4773221" y="46308"/>
                    <a:pt x="4773221" y="63023"/>
                  </a:cubicBezTo>
                  <a:lnTo>
                    <a:pt x="4773221" y="643653"/>
                  </a:lnTo>
                  <a:cubicBezTo>
                    <a:pt x="4773221" y="678460"/>
                    <a:pt x="4745005" y="706676"/>
                    <a:pt x="4710198" y="706676"/>
                  </a:cubicBezTo>
                  <a:lnTo>
                    <a:pt x="63023" y="706676"/>
                  </a:lnTo>
                  <a:cubicBezTo>
                    <a:pt x="46308" y="706676"/>
                    <a:pt x="30278" y="700036"/>
                    <a:pt x="18459" y="688217"/>
                  </a:cubicBezTo>
                  <a:cubicBezTo>
                    <a:pt x="6640" y="676398"/>
                    <a:pt x="0" y="660368"/>
                    <a:pt x="0" y="643653"/>
                  </a:cubicBezTo>
                  <a:lnTo>
                    <a:pt x="0" y="63023"/>
                  </a:lnTo>
                  <a:cubicBezTo>
                    <a:pt x="0" y="46308"/>
                    <a:pt x="6640" y="30278"/>
                    <a:pt x="18459" y="18459"/>
                  </a:cubicBezTo>
                  <a:cubicBezTo>
                    <a:pt x="30278" y="6640"/>
                    <a:pt x="46308" y="0"/>
                    <a:pt x="63023" y="0"/>
                  </a:cubicBezTo>
                  <a:close/>
                </a:path>
              </a:pathLst>
            </a:custGeom>
            <a:solidFill>
              <a:srgbClr val="E47A7A"/>
            </a:solidFill>
          </p:spPr>
        </p:sp>
        <p:sp>
          <p:nvSpPr>
            <p:cNvPr id="4" name="TextBox 4"/>
            <p:cNvSpPr txBox="1"/>
            <p:nvPr/>
          </p:nvSpPr>
          <p:spPr>
            <a:xfrm>
              <a:off x="0" y="-95250"/>
              <a:ext cx="4773221" cy="80192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537962" y="1238306"/>
            <a:ext cx="5433598" cy="675737"/>
            <a:chOff x="0" y="0"/>
            <a:chExt cx="1431071" cy="177972"/>
          </a:xfrm>
        </p:grpSpPr>
        <p:sp>
          <p:nvSpPr>
            <p:cNvPr id="6" name="Freeform 6"/>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7" name="TextBox 7"/>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10096222" y="2130011"/>
            <a:ext cx="661333" cy="1000125"/>
          </a:xfrm>
          <a:custGeom>
            <a:avLst/>
            <a:gdLst/>
            <a:ahLst/>
            <a:cxnLst/>
            <a:rect l="l" t="t" r="r" b="b"/>
            <a:pathLst>
              <a:path w="661333" h="1000125">
                <a:moveTo>
                  <a:pt x="0" y="0"/>
                </a:moveTo>
                <a:lnTo>
                  <a:pt x="661333" y="0"/>
                </a:lnTo>
                <a:lnTo>
                  <a:pt x="661333" y="1000125"/>
                </a:lnTo>
                <a:lnTo>
                  <a:pt x="0" y="10001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492608" y="3813957"/>
            <a:ext cx="15302783" cy="5234738"/>
            <a:chOff x="0" y="0"/>
            <a:chExt cx="5946124" cy="2034035"/>
          </a:xfrm>
        </p:grpSpPr>
        <p:sp>
          <p:nvSpPr>
            <p:cNvPr id="10" name="Freeform 10"/>
            <p:cNvSpPr/>
            <p:nvPr/>
          </p:nvSpPr>
          <p:spPr>
            <a:xfrm>
              <a:off x="0" y="0"/>
              <a:ext cx="5946123" cy="2034035"/>
            </a:xfrm>
            <a:custGeom>
              <a:avLst/>
              <a:gdLst/>
              <a:ahLst/>
              <a:cxnLst/>
              <a:rect l="l" t="t" r="r" b="b"/>
              <a:pathLst>
                <a:path w="5946123" h="2034035">
                  <a:moveTo>
                    <a:pt x="10118" y="0"/>
                  </a:moveTo>
                  <a:lnTo>
                    <a:pt x="5936005" y="0"/>
                  </a:lnTo>
                  <a:cubicBezTo>
                    <a:pt x="5941594" y="0"/>
                    <a:pt x="5946123" y="4530"/>
                    <a:pt x="5946123" y="10118"/>
                  </a:cubicBezTo>
                  <a:lnTo>
                    <a:pt x="5946123" y="2023917"/>
                  </a:lnTo>
                  <a:cubicBezTo>
                    <a:pt x="5946123" y="2029505"/>
                    <a:pt x="5941594" y="2034035"/>
                    <a:pt x="5936005" y="2034035"/>
                  </a:cubicBezTo>
                  <a:lnTo>
                    <a:pt x="10118" y="2034035"/>
                  </a:lnTo>
                  <a:cubicBezTo>
                    <a:pt x="4530" y="2034035"/>
                    <a:pt x="0" y="2029505"/>
                    <a:pt x="0" y="2023917"/>
                  </a:cubicBezTo>
                  <a:lnTo>
                    <a:pt x="0" y="10118"/>
                  </a:lnTo>
                  <a:cubicBezTo>
                    <a:pt x="0" y="4530"/>
                    <a:pt x="4530" y="0"/>
                    <a:pt x="10118" y="0"/>
                  </a:cubicBezTo>
                  <a:close/>
                </a:path>
              </a:pathLst>
            </a:custGeom>
            <a:solidFill>
              <a:srgbClr val="FFFFFF"/>
            </a:solidFill>
          </p:spPr>
        </p:sp>
        <p:sp>
          <p:nvSpPr>
            <p:cNvPr id="11" name="TextBox 11"/>
            <p:cNvSpPr txBox="1"/>
            <p:nvPr/>
          </p:nvSpPr>
          <p:spPr>
            <a:xfrm>
              <a:off x="0" y="-95250"/>
              <a:ext cx="5946124" cy="2129285"/>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1537962" y="2158586"/>
            <a:ext cx="8558260" cy="971550"/>
          </a:xfrm>
          <a:prstGeom prst="rect">
            <a:avLst/>
          </a:prstGeom>
        </p:spPr>
        <p:txBody>
          <a:bodyPr lIns="0" tIns="0" rIns="0" bIns="0" rtlCol="0" anchor="t">
            <a:spAutoFit/>
          </a:bodyPr>
          <a:lstStyle/>
          <a:p>
            <a:pPr algn="l">
              <a:lnSpc>
                <a:spcPts val="6270"/>
              </a:lnSpc>
            </a:pPr>
            <a:r>
              <a:rPr lang="en-US" sz="6600" spc="-66">
                <a:solidFill>
                  <a:srgbClr val="FFFFFF"/>
                </a:solidFill>
                <a:latin typeface="Funtastic"/>
                <a:ea typeface="Funtastic"/>
                <a:cs typeface="Funtastic"/>
                <a:sym typeface="Funtastic"/>
              </a:rPr>
              <a:t>Enzim Pencernaan </a:t>
            </a:r>
          </a:p>
        </p:txBody>
      </p:sp>
      <p:sp>
        <p:nvSpPr>
          <p:cNvPr id="13" name="TextBox 13"/>
          <p:cNvSpPr txBox="1"/>
          <p:nvPr/>
        </p:nvSpPr>
        <p:spPr>
          <a:xfrm>
            <a:off x="1850801" y="1339954"/>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14" name="Freeform 14"/>
          <p:cNvSpPr/>
          <p:nvPr/>
        </p:nvSpPr>
        <p:spPr>
          <a:xfrm>
            <a:off x="12432630" y="1238306"/>
            <a:ext cx="2937441" cy="3167053"/>
          </a:xfrm>
          <a:custGeom>
            <a:avLst/>
            <a:gdLst/>
            <a:ahLst/>
            <a:cxnLst/>
            <a:rect l="l" t="t" r="r" b="b"/>
            <a:pathLst>
              <a:path w="2937441" h="3167053">
                <a:moveTo>
                  <a:pt x="0" y="0"/>
                </a:moveTo>
                <a:lnTo>
                  <a:pt x="2937442" y="0"/>
                </a:lnTo>
                <a:lnTo>
                  <a:pt x="2937442" y="3167052"/>
                </a:lnTo>
                <a:lnTo>
                  <a:pt x="0" y="31670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5" name="Group 15"/>
          <p:cNvGrpSpPr/>
          <p:nvPr/>
        </p:nvGrpSpPr>
        <p:grpSpPr>
          <a:xfrm>
            <a:off x="1755657" y="4071575"/>
            <a:ext cx="14776686" cy="4719502"/>
            <a:chOff x="0" y="0"/>
            <a:chExt cx="5741701" cy="1833833"/>
          </a:xfrm>
        </p:grpSpPr>
        <p:sp>
          <p:nvSpPr>
            <p:cNvPr id="16" name="Freeform 16"/>
            <p:cNvSpPr/>
            <p:nvPr/>
          </p:nvSpPr>
          <p:spPr>
            <a:xfrm>
              <a:off x="0" y="0"/>
              <a:ext cx="5741701" cy="1833833"/>
            </a:xfrm>
            <a:custGeom>
              <a:avLst/>
              <a:gdLst/>
              <a:ahLst/>
              <a:cxnLst/>
              <a:rect l="l" t="t" r="r" b="b"/>
              <a:pathLst>
                <a:path w="5741701" h="1833833">
                  <a:moveTo>
                    <a:pt x="10479" y="0"/>
                  </a:moveTo>
                  <a:lnTo>
                    <a:pt x="5731222" y="0"/>
                  </a:lnTo>
                  <a:cubicBezTo>
                    <a:pt x="5737009" y="0"/>
                    <a:pt x="5741701" y="4691"/>
                    <a:pt x="5741701" y="10479"/>
                  </a:cubicBezTo>
                  <a:lnTo>
                    <a:pt x="5741701" y="1823354"/>
                  </a:lnTo>
                  <a:cubicBezTo>
                    <a:pt x="5741701" y="1829141"/>
                    <a:pt x="5737009" y="1833833"/>
                    <a:pt x="5731222" y="1833833"/>
                  </a:cubicBezTo>
                  <a:lnTo>
                    <a:pt x="10479" y="1833833"/>
                  </a:lnTo>
                  <a:cubicBezTo>
                    <a:pt x="7699" y="1833833"/>
                    <a:pt x="5034" y="1832729"/>
                    <a:pt x="3069" y="1830764"/>
                  </a:cubicBezTo>
                  <a:cubicBezTo>
                    <a:pt x="1104" y="1828798"/>
                    <a:pt x="0" y="1826133"/>
                    <a:pt x="0" y="1823354"/>
                  </a:cubicBezTo>
                  <a:lnTo>
                    <a:pt x="0" y="10479"/>
                  </a:lnTo>
                  <a:cubicBezTo>
                    <a:pt x="0" y="4691"/>
                    <a:pt x="4691" y="0"/>
                    <a:pt x="10479" y="0"/>
                  </a:cubicBezTo>
                  <a:close/>
                </a:path>
              </a:pathLst>
            </a:custGeom>
            <a:solidFill>
              <a:srgbClr val="FFFBF3"/>
            </a:solidFill>
            <a:ln w="47625" cap="sq">
              <a:solidFill>
                <a:srgbClr val="E8B19A"/>
              </a:solidFill>
              <a:prstDash val="lgDash"/>
              <a:miter/>
            </a:ln>
          </p:spPr>
        </p:sp>
        <p:sp>
          <p:nvSpPr>
            <p:cNvPr id="17" name="TextBox 17"/>
            <p:cNvSpPr txBox="1"/>
            <p:nvPr/>
          </p:nvSpPr>
          <p:spPr>
            <a:xfrm>
              <a:off x="0" y="-95250"/>
              <a:ext cx="5741701" cy="1929083"/>
            </a:xfrm>
            <a:prstGeom prst="rect">
              <a:avLst/>
            </a:prstGeom>
          </p:spPr>
          <p:txBody>
            <a:bodyPr lIns="50800" tIns="50800" rIns="50800" bIns="50800" rtlCol="0" anchor="ctr"/>
            <a:lstStyle/>
            <a:p>
              <a:pPr algn="ctr">
                <a:lnSpc>
                  <a:spcPts val="3359"/>
                </a:lnSpc>
              </a:pPr>
              <a:endParaRPr/>
            </a:p>
          </p:txBody>
        </p:sp>
      </p:grpSp>
      <p:grpSp>
        <p:nvGrpSpPr>
          <p:cNvPr id="18" name="Group 18"/>
          <p:cNvGrpSpPr/>
          <p:nvPr/>
        </p:nvGrpSpPr>
        <p:grpSpPr>
          <a:xfrm>
            <a:off x="2149559" y="4405358"/>
            <a:ext cx="781083" cy="777240"/>
            <a:chOff x="0" y="0"/>
            <a:chExt cx="303502" cy="302008"/>
          </a:xfrm>
        </p:grpSpPr>
        <p:sp>
          <p:nvSpPr>
            <p:cNvPr id="19" name="Freeform 19"/>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EF897E"/>
            </a:solidFill>
          </p:spPr>
        </p:sp>
        <p:sp>
          <p:nvSpPr>
            <p:cNvPr id="20" name="TextBox 20"/>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21" name="TextBox 21"/>
          <p:cNvSpPr txBox="1"/>
          <p:nvPr/>
        </p:nvSpPr>
        <p:spPr>
          <a:xfrm>
            <a:off x="3188995" y="4348208"/>
            <a:ext cx="12949447" cy="12534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Mulut :</a:t>
            </a:r>
          </a:p>
          <a:p>
            <a:pPr algn="l">
              <a:lnSpc>
                <a:spcPts val="3359"/>
              </a:lnSpc>
            </a:pPr>
            <a:r>
              <a:rPr lang="en-US" sz="2400">
                <a:solidFill>
                  <a:srgbClr val="7A4C51"/>
                </a:solidFill>
                <a:latin typeface="TDTD가온"/>
                <a:ea typeface="TDTD가온"/>
                <a:cs typeface="TDTD가온"/>
                <a:sym typeface="TDTD가온"/>
              </a:rPr>
              <a:t>Amilase (Ptialin): Mengubah zat pati (karbohidrat) menjadi gula sederhana atau maltosa. </a:t>
            </a:r>
          </a:p>
          <a:p>
            <a:pPr algn="l">
              <a:lnSpc>
                <a:spcPts val="3359"/>
              </a:lnSpc>
            </a:pPr>
            <a:endParaRPr lang="en-US" sz="2400">
              <a:solidFill>
                <a:srgbClr val="7A4C51"/>
              </a:solidFill>
              <a:latin typeface="TDTD가온"/>
              <a:ea typeface="TDTD가온"/>
              <a:cs typeface="TDTD가온"/>
              <a:sym typeface="TDTD가온"/>
            </a:endParaRPr>
          </a:p>
        </p:txBody>
      </p:sp>
      <p:sp>
        <p:nvSpPr>
          <p:cNvPr id="22" name="TextBox 22"/>
          <p:cNvSpPr txBox="1"/>
          <p:nvPr/>
        </p:nvSpPr>
        <p:spPr>
          <a:xfrm>
            <a:off x="2243121" y="4327253"/>
            <a:ext cx="593958" cy="695325"/>
          </a:xfrm>
          <a:prstGeom prst="rect">
            <a:avLst/>
          </a:prstGeom>
        </p:spPr>
        <p:txBody>
          <a:bodyPr lIns="0" tIns="0" rIns="0" bIns="0" rtlCol="0" anchor="t">
            <a:spAutoFit/>
          </a:bodyPr>
          <a:lstStyle/>
          <a:p>
            <a:pPr algn="ctr">
              <a:lnSpc>
                <a:spcPts val="4200"/>
              </a:lnSpc>
            </a:pPr>
            <a:r>
              <a:rPr lang="en-US" sz="3000" b="1">
                <a:solidFill>
                  <a:srgbClr val="FFFFFF"/>
                </a:solidFill>
                <a:latin typeface="Prachason Neue Mon Bold"/>
                <a:ea typeface="Prachason Neue Mon Bold"/>
                <a:cs typeface="Prachason Neue Mon Bold"/>
                <a:sym typeface="Prachason Neue Mon Bold"/>
              </a:rPr>
              <a:t>01.</a:t>
            </a:r>
          </a:p>
        </p:txBody>
      </p:sp>
      <p:grpSp>
        <p:nvGrpSpPr>
          <p:cNvPr id="23" name="Group 23"/>
          <p:cNvGrpSpPr/>
          <p:nvPr/>
        </p:nvGrpSpPr>
        <p:grpSpPr>
          <a:xfrm>
            <a:off x="2149559" y="6588488"/>
            <a:ext cx="781083" cy="777240"/>
            <a:chOff x="0" y="0"/>
            <a:chExt cx="303502" cy="302008"/>
          </a:xfrm>
        </p:grpSpPr>
        <p:sp>
          <p:nvSpPr>
            <p:cNvPr id="24" name="Freeform 24"/>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E47A7A"/>
            </a:solidFill>
          </p:spPr>
        </p:sp>
        <p:sp>
          <p:nvSpPr>
            <p:cNvPr id="25" name="TextBox 25"/>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26" name="TextBox 26"/>
          <p:cNvSpPr txBox="1"/>
          <p:nvPr/>
        </p:nvSpPr>
        <p:spPr>
          <a:xfrm>
            <a:off x="3188995" y="6531338"/>
            <a:ext cx="12949447" cy="25107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Lambung :</a:t>
            </a:r>
          </a:p>
          <a:p>
            <a:pPr marL="518160" lvl="1" indent="-259080" algn="l">
              <a:lnSpc>
                <a:spcPts val="3359"/>
              </a:lnSpc>
              <a:buFont typeface="Arial"/>
              <a:buChar char="•"/>
            </a:pPr>
            <a:r>
              <a:rPr lang="en-US" sz="2400">
                <a:solidFill>
                  <a:srgbClr val="7A4C51"/>
                </a:solidFill>
                <a:latin typeface="TDTD가온"/>
                <a:ea typeface="TDTD가온"/>
                <a:cs typeface="TDTD가온"/>
                <a:sym typeface="TDTD가온"/>
              </a:rPr>
              <a:t>Pepsin: Memecah protein menjadi pepton atau asam amino.</a:t>
            </a:r>
          </a:p>
          <a:p>
            <a:pPr marL="518160" lvl="1" indent="-259080" algn="l">
              <a:lnSpc>
                <a:spcPts val="3359"/>
              </a:lnSpc>
              <a:buFont typeface="Arial"/>
              <a:buChar char="•"/>
            </a:pPr>
            <a:r>
              <a:rPr lang="en-US" sz="2400">
                <a:solidFill>
                  <a:srgbClr val="7A4C51"/>
                </a:solidFill>
                <a:latin typeface="TDTD가온"/>
                <a:ea typeface="TDTD가온"/>
                <a:cs typeface="TDTD가온"/>
                <a:sym typeface="TDTD가온"/>
              </a:rPr>
              <a:t>Renin: Menggumpalkan protein susu (kasein) dari air susu.</a:t>
            </a:r>
          </a:p>
          <a:p>
            <a:pPr marL="518160" lvl="1" indent="-259080" algn="l">
              <a:lnSpc>
                <a:spcPts val="3359"/>
              </a:lnSpc>
              <a:buFont typeface="Arial"/>
              <a:buChar char="•"/>
            </a:pPr>
            <a:r>
              <a:rPr lang="en-US" sz="2400">
                <a:solidFill>
                  <a:srgbClr val="7A4C51"/>
                </a:solidFill>
                <a:latin typeface="TDTD가온"/>
                <a:ea typeface="TDTD가온"/>
                <a:cs typeface="TDTD가온"/>
                <a:sym typeface="TDTD가온"/>
              </a:rPr>
              <a:t>Asam Klorida (HCl): Mengaktifkan pepsin dan membunuh kuman</a:t>
            </a:r>
          </a:p>
          <a:p>
            <a:pPr algn="l">
              <a:lnSpc>
                <a:spcPts val="3359"/>
              </a:lnSpc>
            </a:pPr>
            <a:endParaRPr lang="en-US" sz="2400">
              <a:solidFill>
                <a:srgbClr val="7A4C51"/>
              </a:solidFill>
              <a:latin typeface="TDTD가온"/>
              <a:ea typeface="TDTD가온"/>
              <a:cs typeface="TDTD가온"/>
              <a:sym typeface="TDTD가온"/>
            </a:endParaRPr>
          </a:p>
          <a:p>
            <a:pPr algn="l">
              <a:lnSpc>
                <a:spcPts val="3359"/>
              </a:lnSpc>
            </a:pPr>
            <a:endParaRPr lang="en-US" sz="2400">
              <a:solidFill>
                <a:srgbClr val="7A4C51"/>
              </a:solidFill>
              <a:latin typeface="TDTD가온"/>
              <a:ea typeface="TDTD가온"/>
              <a:cs typeface="TDTD가온"/>
              <a:sym typeface="TDTD가온"/>
            </a:endParaRPr>
          </a:p>
        </p:txBody>
      </p:sp>
      <p:sp>
        <p:nvSpPr>
          <p:cNvPr id="27" name="TextBox 27"/>
          <p:cNvSpPr txBox="1"/>
          <p:nvPr/>
        </p:nvSpPr>
        <p:spPr>
          <a:xfrm>
            <a:off x="2243121" y="6510383"/>
            <a:ext cx="593958" cy="695325"/>
          </a:xfrm>
          <a:prstGeom prst="rect">
            <a:avLst/>
          </a:prstGeom>
        </p:spPr>
        <p:txBody>
          <a:bodyPr lIns="0" tIns="0" rIns="0" bIns="0" rtlCol="0" anchor="t">
            <a:spAutoFit/>
          </a:bodyPr>
          <a:lstStyle/>
          <a:p>
            <a:pPr algn="ctr">
              <a:lnSpc>
                <a:spcPts val="4200"/>
              </a:lnSpc>
            </a:pPr>
            <a:r>
              <a:rPr lang="en-US" sz="3000" b="1">
                <a:solidFill>
                  <a:srgbClr val="FFFFFF"/>
                </a:solidFill>
                <a:latin typeface="Prachason Neue Mon Bold"/>
                <a:ea typeface="Prachason Neue Mon Bold"/>
                <a:cs typeface="Prachason Neue Mon Bold"/>
                <a:sym typeface="Prachason Neue Mon Bold"/>
              </a:rPr>
              <a:t>03.</a:t>
            </a:r>
          </a:p>
        </p:txBody>
      </p:sp>
      <p:sp>
        <p:nvSpPr>
          <p:cNvPr id="28" name="Freeform 28"/>
          <p:cNvSpPr/>
          <p:nvPr/>
        </p:nvSpPr>
        <p:spPr>
          <a:xfrm>
            <a:off x="12144813" y="1914042"/>
            <a:ext cx="575635" cy="624829"/>
          </a:xfrm>
          <a:custGeom>
            <a:avLst/>
            <a:gdLst/>
            <a:ahLst/>
            <a:cxnLst/>
            <a:rect l="l" t="t" r="r" b="b"/>
            <a:pathLst>
              <a:path w="575635" h="624829">
                <a:moveTo>
                  <a:pt x="0" y="0"/>
                </a:moveTo>
                <a:lnTo>
                  <a:pt x="575635" y="0"/>
                </a:lnTo>
                <a:lnTo>
                  <a:pt x="575635" y="624830"/>
                </a:lnTo>
                <a:lnTo>
                  <a:pt x="0" y="6248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9" name="Freeform 29"/>
          <p:cNvSpPr/>
          <p:nvPr/>
        </p:nvSpPr>
        <p:spPr>
          <a:xfrm>
            <a:off x="15370072" y="2630074"/>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30" name="Group 30"/>
          <p:cNvGrpSpPr/>
          <p:nvPr/>
        </p:nvGrpSpPr>
        <p:grpSpPr>
          <a:xfrm>
            <a:off x="-707956" y="9491426"/>
            <a:ext cx="19703911" cy="1472127"/>
            <a:chOff x="0" y="0"/>
            <a:chExt cx="7656247" cy="572017"/>
          </a:xfrm>
        </p:grpSpPr>
        <p:sp>
          <p:nvSpPr>
            <p:cNvPr id="31" name="Freeform 31"/>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32" name="TextBox 32"/>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787959" y="1576174"/>
            <a:ext cx="12284233" cy="1818683"/>
            <a:chOff x="0" y="0"/>
            <a:chExt cx="4773221" cy="706676"/>
          </a:xfrm>
        </p:grpSpPr>
        <p:sp>
          <p:nvSpPr>
            <p:cNvPr id="3" name="Freeform 3"/>
            <p:cNvSpPr/>
            <p:nvPr/>
          </p:nvSpPr>
          <p:spPr>
            <a:xfrm>
              <a:off x="0" y="0"/>
              <a:ext cx="4773221" cy="706676"/>
            </a:xfrm>
            <a:custGeom>
              <a:avLst/>
              <a:gdLst/>
              <a:ahLst/>
              <a:cxnLst/>
              <a:rect l="l" t="t" r="r" b="b"/>
              <a:pathLst>
                <a:path w="4773221" h="706676">
                  <a:moveTo>
                    <a:pt x="63023" y="0"/>
                  </a:moveTo>
                  <a:lnTo>
                    <a:pt x="4710198" y="0"/>
                  </a:lnTo>
                  <a:cubicBezTo>
                    <a:pt x="4726913" y="0"/>
                    <a:pt x="4742943" y="6640"/>
                    <a:pt x="4754762" y="18459"/>
                  </a:cubicBezTo>
                  <a:cubicBezTo>
                    <a:pt x="4766581" y="30278"/>
                    <a:pt x="4773221" y="46308"/>
                    <a:pt x="4773221" y="63023"/>
                  </a:cubicBezTo>
                  <a:lnTo>
                    <a:pt x="4773221" y="643653"/>
                  </a:lnTo>
                  <a:cubicBezTo>
                    <a:pt x="4773221" y="678460"/>
                    <a:pt x="4745005" y="706676"/>
                    <a:pt x="4710198" y="706676"/>
                  </a:cubicBezTo>
                  <a:lnTo>
                    <a:pt x="63023" y="706676"/>
                  </a:lnTo>
                  <a:cubicBezTo>
                    <a:pt x="46308" y="706676"/>
                    <a:pt x="30278" y="700036"/>
                    <a:pt x="18459" y="688217"/>
                  </a:cubicBezTo>
                  <a:cubicBezTo>
                    <a:pt x="6640" y="676398"/>
                    <a:pt x="0" y="660368"/>
                    <a:pt x="0" y="643653"/>
                  </a:cubicBezTo>
                  <a:lnTo>
                    <a:pt x="0" y="63023"/>
                  </a:lnTo>
                  <a:cubicBezTo>
                    <a:pt x="0" y="46308"/>
                    <a:pt x="6640" y="30278"/>
                    <a:pt x="18459" y="18459"/>
                  </a:cubicBezTo>
                  <a:cubicBezTo>
                    <a:pt x="30278" y="6640"/>
                    <a:pt x="46308" y="0"/>
                    <a:pt x="63023" y="0"/>
                  </a:cubicBezTo>
                  <a:close/>
                </a:path>
              </a:pathLst>
            </a:custGeom>
            <a:solidFill>
              <a:srgbClr val="E47A7A"/>
            </a:solidFill>
          </p:spPr>
        </p:sp>
        <p:sp>
          <p:nvSpPr>
            <p:cNvPr id="4" name="TextBox 4"/>
            <p:cNvSpPr txBox="1"/>
            <p:nvPr/>
          </p:nvSpPr>
          <p:spPr>
            <a:xfrm>
              <a:off x="0" y="-95250"/>
              <a:ext cx="4773221" cy="80192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537962" y="1238306"/>
            <a:ext cx="5433598" cy="675737"/>
            <a:chOff x="0" y="0"/>
            <a:chExt cx="1431071" cy="177972"/>
          </a:xfrm>
        </p:grpSpPr>
        <p:sp>
          <p:nvSpPr>
            <p:cNvPr id="6" name="Freeform 6"/>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7" name="TextBox 7"/>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10096222" y="2130011"/>
            <a:ext cx="661333" cy="1000125"/>
          </a:xfrm>
          <a:custGeom>
            <a:avLst/>
            <a:gdLst/>
            <a:ahLst/>
            <a:cxnLst/>
            <a:rect l="l" t="t" r="r" b="b"/>
            <a:pathLst>
              <a:path w="661333" h="1000125">
                <a:moveTo>
                  <a:pt x="0" y="0"/>
                </a:moveTo>
                <a:lnTo>
                  <a:pt x="661333" y="0"/>
                </a:lnTo>
                <a:lnTo>
                  <a:pt x="661333" y="1000125"/>
                </a:lnTo>
                <a:lnTo>
                  <a:pt x="0" y="10001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028700" y="3397780"/>
            <a:ext cx="15302783" cy="5234738"/>
            <a:chOff x="0" y="0"/>
            <a:chExt cx="5946124" cy="2034035"/>
          </a:xfrm>
        </p:grpSpPr>
        <p:sp>
          <p:nvSpPr>
            <p:cNvPr id="10" name="Freeform 10"/>
            <p:cNvSpPr/>
            <p:nvPr/>
          </p:nvSpPr>
          <p:spPr>
            <a:xfrm>
              <a:off x="0" y="0"/>
              <a:ext cx="5946123" cy="2034035"/>
            </a:xfrm>
            <a:custGeom>
              <a:avLst/>
              <a:gdLst/>
              <a:ahLst/>
              <a:cxnLst/>
              <a:rect l="l" t="t" r="r" b="b"/>
              <a:pathLst>
                <a:path w="5946123" h="2034035">
                  <a:moveTo>
                    <a:pt x="10118" y="0"/>
                  </a:moveTo>
                  <a:lnTo>
                    <a:pt x="5936005" y="0"/>
                  </a:lnTo>
                  <a:cubicBezTo>
                    <a:pt x="5941594" y="0"/>
                    <a:pt x="5946123" y="4530"/>
                    <a:pt x="5946123" y="10118"/>
                  </a:cubicBezTo>
                  <a:lnTo>
                    <a:pt x="5946123" y="2023917"/>
                  </a:lnTo>
                  <a:cubicBezTo>
                    <a:pt x="5946123" y="2029505"/>
                    <a:pt x="5941594" y="2034035"/>
                    <a:pt x="5936005" y="2034035"/>
                  </a:cubicBezTo>
                  <a:lnTo>
                    <a:pt x="10118" y="2034035"/>
                  </a:lnTo>
                  <a:cubicBezTo>
                    <a:pt x="4530" y="2034035"/>
                    <a:pt x="0" y="2029505"/>
                    <a:pt x="0" y="2023917"/>
                  </a:cubicBezTo>
                  <a:lnTo>
                    <a:pt x="0" y="10118"/>
                  </a:lnTo>
                  <a:cubicBezTo>
                    <a:pt x="0" y="4530"/>
                    <a:pt x="4530" y="0"/>
                    <a:pt x="10118" y="0"/>
                  </a:cubicBezTo>
                  <a:close/>
                </a:path>
              </a:pathLst>
            </a:custGeom>
            <a:solidFill>
              <a:srgbClr val="FFFFFF"/>
            </a:solidFill>
          </p:spPr>
        </p:sp>
        <p:sp>
          <p:nvSpPr>
            <p:cNvPr id="11" name="TextBox 11"/>
            <p:cNvSpPr txBox="1"/>
            <p:nvPr/>
          </p:nvSpPr>
          <p:spPr>
            <a:xfrm>
              <a:off x="0" y="-95250"/>
              <a:ext cx="5946124" cy="2129285"/>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1537962" y="2158586"/>
            <a:ext cx="8558260" cy="971550"/>
          </a:xfrm>
          <a:prstGeom prst="rect">
            <a:avLst/>
          </a:prstGeom>
        </p:spPr>
        <p:txBody>
          <a:bodyPr lIns="0" tIns="0" rIns="0" bIns="0" rtlCol="0" anchor="t">
            <a:spAutoFit/>
          </a:bodyPr>
          <a:lstStyle/>
          <a:p>
            <a:pPr algn="l">
              <a:lnSpc>
                <a:spcPts val="6270"/>
              </a:lnSpc>
            </a:pPr>
            <a:r>
              <a:rPr lang="en-US" sz="6600" spc="-66">
                <a:solidFill>
                  <a:srgbClr val="FFFFFF"/>
                </a:solidFill>
                <a:latin typeface="Funtastic"/>
                <a:ea typeface="Funtastic"/>
                <a:cs typeface="Funtastic"/>
                <a:sym typeface="Funtastic"/>
              </a:rPr>
              <a:t>Enzim Pencernaan </a:t>
            </a:r>
          </a:p>
        </p:txBody>
      </p:sp>
      <p:sp>
        <p:nvSpPr>
          <p:cNvPr id="13" name="TextBox 13"/>
          <p:cNvSpPr txBox="1"/>
          <p:nvPr/>
        </p:nvSpPr>
        <p:spPr>
          <a:xfrm>
            <a:off x="1850801" y="1339954"/>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14" name="Freeform 14"/>
          <p:cNvSpPr/>
          <p:nvPr/>
        </p:nvSpPr>
        <p:spPr>
          <a:xfrm>
            <a:off x="12432630" y="227804"/>
            <a:ext cx="2937441" cy="3167053"/>
          </a:xfrm>
          <a:custGeom>
            <a:avLst/>
            <a:gdLst/>
            <a:ahLst/>
            <a:cxnLst/>
            <a:rect l="l" t="t" r="r" b="b"/>
            <a:pathLst>
              <a:path w="2937441" h="3167053">
                <a:moveTo>
                  <a:pt x="0" y="0"/>
                </a:moveTo>
                <a:lnTo>
                  <a:pt x="2937442" y="0"/>
                </a:lnTo>
                <a:lnTo>
                  <a:pt x="2937442" y="3167053"/>
                </a:lnTo>
                <a:lnTo>
                  <a:pt x="0" y="31670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5" name="Group 15"/>
          <p:cNvGrpSpPr/>
          <p:nvPr/>
        </p:nvGrpSpPr>
        <p:grpSpPr>
          <a:xfrm>
            <a:off x="1361756" y="3766332"/>
            <a:ext cx="15716187" cy="5491968"/>
            <a:chOff x="0" y="0"/>
            <a:chExt cx="6106758" cy="2133986"/>
          </a:xfrm>
        </p:grpSpPr>
        <p:sp>
          <p:nvSpPr>
            <p:cNvPr id="16" name="Freeform 16"/>
            <p:cNvSpPr/>
            <p:nvPr/>
          </p:nvSpPr>
          <p:spPr>
            <a:xfrm>
              <a:off x="0" y="0"/>
              <a:ext cx="6106758" cy="2133986"/>
            </a:xfrm>
            <a:custGeom>
              <a:avLst/>
              <a:gdLst/>
              <a:ahLst/>
              <a:cxnLst/>
              <a:rect l="l" t="t" r="r" b="b"/>
              <a:pathLst>
                <a:path w="6106758" h="2133986">
                  <a:moveTo>
                    <a:pt x="9852" y="0"/>
                  </a:moveTo>
                  <a:lnTo>
                    <a:pt x="6096906" y="0"/>
                  </a:lnTo>
                  <a:cubicBezTo>
                    <a:pt x="6099519" y="0"/>
                    <a:pt x="6102024" y="1038"/>
                    <a:pt x="6103872" y="2886"/>
                  </a:cubicBezTo>
                  <a:cubicBezTo>
                    <a:pt x="6105720" y="4733"/>
                    <a:pt x="6106758" y="7239"/>
                    <a:pt x="6106758" y="9852"/>
                  </a:cubicBezTo>
                  <a:lnTo>
                    <a:pt x="6106758" y="2124134"/>
                  </a:lnTo>
                  <a:cubicBezTo>
                    <a:pt x="6106758" y="2129575"/>
                    <a:pt x="6102347" y="2133986"/>
                    <a:pt x="6096906" y="2133986"/>
                  </a:cubicBezTo>
                  <a:lnTo>
                    <a:pt x="9852" y="2133986"/>
                  </a:lnTo>
                  <a:cubicBezTo>
                    <a:pt x="4411" y="2133986"/>
                    <a:pt x="0" y="2129575"/>
                    <a:pt x="0" y="2124134"/>
                  </a:cubicBezTo>
                  <a:lnTo>
                    <a:pt x="0" y="9852"/>
                  </a:lnTo>
                  <a:cubicBezTo>
                    <a:pt x="0" y="4411"/>
                    <a:pt x="4411" y="0"/>
                    <a:pt x="9852" y="0"/>
                  </a:cubicBezTo>
                  <a:close/>
                </a:path>
              </a:pathLst>
            </a:custGeom>
            <a:solidFill>
              <a:srgbClr val="FFFBF3"/>
            </a:solidFill>
            <a:ln w="47625" cap="sq">
              <a:solidFill>
                <a:srgbClr val="E8B19A"/>
              </a:solidFill>
              <a:prstDash val="lgDash"/>
              <a:miter/>
            </a:ln>
          </p:spPr>
        </p:sp>
        <p:sp>
          <p:nvSpPr>
            <p:cNvPr id="17" name="TextBox 17"/>
            <p:cNvSpPr txBox="1"/>
            <p:nvPr/>
          </p:nvSpPr>
          <p:spPr>
            <a:xfrm>
              <a:off x="0" y="-95250"/>
              <a:ext cx="6106758" cy="2229236"/>
            </a:xfrm>
            <a:prstGeom prst="rect">
              <a:avLst/>
            </a:prstGeom>
          </p:spPr>
          <p:txBody>
            <a:bodyPr lIns="50800" tIns="50800" rIns="50800" bIns="50800" rtlCol="0" anchor="ctr"/>
            <a:lstStyle/>
            <a:p>
              <a:pPr algn="ctr">
                <a:lnSpc>
                  <a:spcPts val="3359"/>
                </a:lnSpc>
              </a:pPr>
              <a:endParaRPr/>
            </a:p>
          </p:txBody>
        </p:sp>
      </p:grpSp>
      <p:grpSp>
        <p:nvGrpSpPr>
          <p:cNvPr id="18" name="Group 18"/>
          <p:cNvGrpSpPr/>
          <p:nvPr/>
        </p:nvGrpSpPr>
        <p:grpSpPr>
          <a:xfrm>
            <a:off x="2149559" y="4405358"/>
            <a:ext cx="781083" cy="777240"/>
            <a:chOff x="0" y="0"/>
            <a:chExt cx="303502" cy="302008"/>
          </a:xfrm>
        </p:grpSpPr>
        <p:sp>
          <p:nvSpPr>
            <p:cNvPr id="19" name="Freeform 19"/>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EF897E"/>
            </a:solidFill>
          </p:spPr>
        </p:sp>
        <p:sp>
          <p:nvSpPr>
            <p:cNvPr id="20" name="TextBox 20"/>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21" name="TextBox 21"/>
          <p:cNvSpPr txBox="1"/>
          <p:nvPr/>
        </p:nvSpPr>
        <p:spPr>
          <a:xfrm>
            <a:off x="3188995" y="4348208"/>
            <a:ext cx="12949447" cy="25107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Lambung : </a:t>
            </a:r>
          </a:p>
          <a:p>
            <a:pPr marL="518160" lvl="1" indent="-259080" algn="l">
              <a:lnSpc>
                <a:spcPts val="3359"/>
              </a:lnSpc>
              <a:buFont typeface="Arial"/>
              <a:buChar char="•"/>
            </a:pPr>
            <a:r>
              <a:rPr lang="en-US" sz="2400">
                <a:solidFill>
                  <a:srgbClr val="7A4C51"/>
                </a:solidFill>
                <a:latin typeface="TDTD가온"/>
                <a:ea typeface="TDTD가온"/>
                <a:cs typeface="TDTD가온"/>
                <a:sym typeface="TDTD가온"/>
              </a:rPr>
              <a:t>Pepsin: enzim yang fungsinya memecah protein menjadi asam amino.</a:t>
            </a:r>
          </a:p>
          <a:p>
            <a:pPr marL="518160" lvl="1" indent="-259080" algn="l">
              <a:lnSpc>
                <a:spcPts val="3359"/>
              </a:lnSpc>
              <a:buFont typeface="Arial"/>
              <a:buChar char="•"/>
            </a:pPr>
            <a:r>
              <a:rPr lang="en-US" sz="2400">
                <a:solidFill>
                  <a:srgbClr val="7A4C51"/>
                </a:solidFill>
                <a:latin typeface="TDTD가온"/>
                <a:ea typeface="TDTD가온"/>
                <a:cs typeface="TDTD가온"/>
                <a:sym typeface="TDTD가온"/>
              </a:rPr>
              <a:t>Renin: enzim yang fungsinya mengubah protein menjadi kasein.</a:t>
            </a:r>
          </a:p>
          <a:p>
            <a:pPr marL="518160" lvl="1" indent="-259080" algn="l">
              <a:lnSpc>
                <a:spcPts val="3359"/>
              </a:lnSpc>
              <a:buFont typeface="Arial"/>
              <a:buChar char="•"/>
            </a:pPr>
            <a:r>
              <a:rPr lang="en-US" sz="2400">
                <a:solidFill>
                  <a:srgbClr val="7A4C51"/>
                </a:solidFill>
                <a:latin typeface="TDTD가온"/>
                <a:ea typeface="TDTD가온"/>
                <a:cs typeface="TDTD가온"/>
                <a:sym typeface="TDTD가온"/>
              </a:rPr>
              <a:t>Asam Klorida (HCl): asam yang berfungsi untuk membunuh kuman dan bakteri pada makananan dan mengaktifkan pepsinogen menjadi pepsin.</a:t>
            </a:r>
          </a:p>
          <a:p>
            <a:pPr algn="l">
              <a:lnSpc>
                <a:spcPts val="3359"/>
              </a:lnSpc>
            </a:pPr>
            <a:endParaRPr lang="en-US" sz="2400">
              <a:solidFill>
                <a:srgbClr val="7A4C51"/>
              </a:solidFill>
              <a:latin typeface="TDTD가온"/>
              <a:ea typeface="TDTD가온"/>
              <a:cs typeface="TDTD가온"/>
              <a:sym typeface="TDTD가온"/>
            </a:endParaRPr>
          </a:p>
        </p:txBody>
      </p:sp>
      <p:sp>
        <p:nvSpPr>
          <p:cNvPr id="22" name="TextBox 22"/>
          <p:cNvSpPr txBox="1"/>
          <p:nvPr/>
        </p:nvSpPr>
        <p:spPr>
          <a:xfrm>
            <a:off x="2243121" y="4327253"/>
            <a:ext cx="593958" cy="695325"/>
          </a:xfrm>
          <a:prstGeom prst="rect">
            <a:avLst/>
          </a:prstGeom>
        </p:spPr>
        <p:txBody>
          <a:bodyPr lIns="0" tIns="0" rIns="0" bIns="0" rtlCol="0" anchor="t">
            <a:spAutoFit/>
          </a:bodyPr>
          <a:lstStyle/>
          <a:p>
            <a:pPr algn="ctr">
              <a:lnSpc>
                <a:spcPts val="4200"/>
              </a:lnSpc>
            </a:pPr>
            <a:r>
              <a:rPr lang="en-US" sz="3000" b="1">
                <a:solidFill>
                  <a:srgbClr val="FFFFFF"/>
                </a:solidFill>
                <a:latin typeface="Prachason Neue Mon Bold"/>
                <a:ea typeface="Prachason Neue Mon Bold"/>
                <a:cs typeface="Prachason Neue Mon Bold"/>
                <a:sym typeface="Prachason Neue Mon Bold"/>
              </a:rPr>
              <a:t>03</a:t>
            </a:r>
          </a:p>
        </p:txBody>
      </p:sp>
      <p:grpSp>
        <p:nvGrpSpPr>
          <p:cNvPr id="23" name="Group 23"/>
          <p:cNvGrpSpPr/>
          <p:nvPr/>
        </p:nvGrpSpPr>
        <p:grpSpPr>
          <a:xfrm>
            <a:off x="2149559" y="6588488"/>
            <a:ext cx="781083" cy="777240"/>
            <a:chOff x="0" y="0"/>
            <a:chExt cx="303502" cy="302008"/>
          </a:xfrm>
        </p:grpSpPr>
        <p:sp>
          <p:nvSpPr>
            <p:cNvPr id="24" name="Freeform 24"/>
            <p:cNvSpPr/>
            <p:nvPr/>
          </p:nvSpPr>
          <p:spPr>
            <a:xfrm>
              <a:off x="0" y="0"/>
              <a:ext cx="303502" cy="302008"/>
            </a:xfrm>
            <a:custGeom>
              <a:avLst/>
              <a:gdLst/>
              <a:ahLst/>
              <a:cxnLst/>
              <a:rect l="l" t="t" r="r" b="b"/>
              <a:pathLst>
                <a:path w="303502" h="302008">
                  <a:moveTo>
                    <a:pt x="151004" y="0"/>
                  </a:moveTo>
                  <a:lnTo>
                    <a:pt x="152497" y="0"/>
                  </a:lnTo>
                  <a:cubicBezTo>
                    <a:pt x="192546" y="0"/>
                    <a:pt x="230955" y="15909"/>
                    <a:pt x="259273" y="44228"/>
                  </a:cubicBezTo>
                  <a:cubicBezTo>
                    <a:pt x="287592" y="72547"/>
                    <a:pt x="303502" y="110955"/>
                    <a:pt x="303502" y="151004"/>
                  </a:cubicBezTo>
                  <a:lnTo>
                    <a:pt x="303502" y="151004"/>
                  </a:lnTo>
                  <a:cubicBezTo>
                    <a:pt x="303502" y="234401"/>
                    <a:pt x="235895" y="302008"/>
                    <a:pt x="152497" y="302008"/>
                  </a:cubicBezTo>
                  <a:lnTo>
                    <a:pt x="151004" y="302008"/>
                  </a:lnTo>
                  <a:cubicBezTo>
                    <a:pt x="67607" y="302008"/>
                    <a:pt x="0" y="234401"/>
                    <a:pt x="0" y="151004"/>
                  </a:cubicBezTo>
                  <a:lnTo>
                    <a:pt x="0" y="151004"/>
                  </a:lnTo>
                  <a:cubicBezTo>
                    <a:pt x="0" y="67607"/>
                    <a:pt x="67607" y="0"/>
                    <a:pt x="151004" y="0"/>
                  </a:cubicBezTo>
                  <a:close/>
                </a:path>
              </a:pathLst>
            </a:custGeom>
            <a:solidFill>
              <a:srgbClr val="E47A7A"/>
            </a:solidFill>
          </p:spPr>
        </p:sp>
        <p:sp>
          <p:nvSpPr>
            <p:cNvPr id="25" name="TextBox 25"/>
            <p:cNvSpPr txBox="1"/>
            <p:nvPr/>
          </p:nvSpPr>
          <p:spPr>
            <a:xfrm>
              <a:off x="0" y="-95250"/>
              <a:ext cx="303502" cy="397258"/>
            </a:xfrm>
            <a:prstGeom prst="rect">
              <a:avLst/>
            </a:prstGeom>
          </p:spPr>
          <p:txBody>
            <a:bodyPr lIns="50800" tIns="50800" rIns="50800" bIns="50800" rtlCol="0" anchor="ctr"/>
            <a:lstStyle/>
            <a:p>
              <a:pPr algn="ctr">
                <a:lnSpc>
                  <a:spcPts val="3359"/>
                </a:lnSpc>
              </a:pPr>
              <a:endParaRPr/>
            </a:p>
          </p:txBody>
        </p:sp>
      </p:grpSp>
      <p:sp>
        <p:nvSpPr>
          <p:cNvPr id="26" name="TextBox 26"/>
          <p:cNvSpPr txBox="1"/>
          <p:nvPr/>
        </p:nvSpPr>
        <p:spPr>
          <a:xfrm>
            <a:off x="3188995" y="6531338"/>
            <a:ext cx="12949447" cy="2929890"/>
          </a:xfrm>
          <a:prstGeom prst="rect">
            <a:avLst/>
          </a:prstGeom>
        </p:spPr>
        <p:txBody>
          <a:bodyPr lIns="0" tIns="0" rIns="0" bIns="0" rtlCol="0" anchor="t">
            <a:spAutoFit/>
          </a:bodyPr>
          <a:lstStyle/>
          <a:p>
            <a:pPr algn="l">
              <a:lnSpc>
                <a:spcPts val="3359"/>
              </a:lnSpc>
            </a:pPr>
            <a:r>
              <a:rPr lang="en-US" sz="2400">
                <a:solidFill>
                  <a:srgbClr val="7A4C51"/>
                </a:solidFill>
                <a:latin typeface="TDTD가온"/>
                <a:ea typeface="TDTD가온"/>
                <a:cs typeface="TDTD가온"/>
                <a:sym typeface="TDTD가온"/>
              </a:rPr>
              <a:t>Usus Pankreas dan Usus Halus:</a:t>
            </a:r>
          </a:p>
          <a:p>
            <a:pPr marL="518160" lvl="1" indent="-259080" algn="l">
              <a:lnSpc>
                <a:spcPts val="3359"/>
              </a:lnSpc>
              <a:buFont typeface="Arial"/>
              <a:buChar char="•"/>
            </a:pPr>
            <a:r>
              <a:rPr lang="en-US" sz="2400">
                <a:solidFill>
                  <a:srgbClr val="7A4C51"/>
                </a:solidFill>
                <a:latin typeface="TDTD가온"/>
                <a:ea typeface="TDTD가온"/>
                <a:cs typeface="TDTD가온"/>
                <a:sym typeface="TDTD가온"/>
              </a:rPr>
              <a:t>Amilase Pankreas: Melanjutkan pencernaan karbohidrat menjadi glukosa.</a:t>
            </a:r>
          </a:p>
          <a:p>
            <a:pPr marL="518160" lvl="1" indent="-259080" algn="l">
              <a:lnSpc>
                <a:spcPts val="3359"/>
              </a:lnSpc>
              <a:buFont typeface="Arial"/>
              <a:buChar char="•"/>
            </a:pPr>
            <a:r>
              <a:rPr lang="en-US" sz="2400">
                <a:solidFill>
                  <a:srgbClr val="7A4C51"/>
                </a:solidFill>
                <a:latin typeface="TDTD가온"/>
                <a:ea typeface="TDTD가온"/>
                <a:cs typeface="TDTD가온"/>
                <a:sym typeface="TDTD가온"/>
              </a:rPr>
              <a:t>Tripsin: Mengubah pepton dan protein menjadi asam amino.</a:t>
            </a:r>
          </a:p>
          <a:p>
            <a:pPr marL="518160" lvl="1" indent="-259080" algn="l">
              <a:lnSpc>
                <a:spcPts val="3359"/>
              </a:lnSpc>
              <a:buFont typeface="Arial"/>
              <a:buChar char="•"/>
            </a:pPr>
            <a:r>
              <a:rPr lang="en-US" sz="2400">
                <a:solidFill>
                  <a:srgbClr val="7A4C51"/>
                </a:solidFill>
                <a:latin typeface="TDTD가온"/>
                <a:ea typeface="TDTD가온"/>
                <a:cs typeface="TDTD가온"/>
                <a:sym typeface="TDTD가온"/>
              </a:rPr>
              <a:t>Lipase: Memecah lemak menjadi asam lemak dan gliserol.</a:t>
            </a:r>
          </a:p>
          <a:p>
            <a:pPr marL="518160" lvl="1" indent="-259080" algn="l">
              <a:lnSpc>
                <a:spcPts val="3359"/>
              </a:lnSpc>
              <a:buFont typeface="Arial"/>
              <a:buChar char="•"/>
            </a:pPr>
            <a:r>
              <a:rPr lang="en-US" sz="2400">
                <a:solidFill>
                  <a:srgbClr val="7A4C51"/>
                </a:solidFill>
                <a:latin typeface="TDTD가온"/>
                <a:ea typeface="TDTD가온"/>
                <a:cs typeface="TDTD가온"/>
                <a:sym typeface="TDTD가온"/>
              </a:rPr>
              <a:t>Maltase, Laktase, Sukrase: Memecah jenis-jenis gula khusus (seperti maltosa, laktosa, dan sukrosa) menjadi glukosa siap serap</a:t>
            </a:r>
          </a:p>
          <a:p>
            <a:pPr algn="l">
              <a:lnSpc>
                <a:spcPts val="3359"/>
              </a:lnSpc>
            </a:pPr>
            <a:endParaRPr lang="en-US" sz="2400">
              <a:solidFill>
                <a:srgbClr val="7A4C51"/>
              </a:solidFill>
              <a:latin typeface="TDTD가온"/>
              <a:ea typeface="TDTD가온"/>
              <a:cs typeface="TDTD가온"/>
              <a:sym typeface="TDTD가온"/>
            </a:endParaRPr>
          </a:p>
        </p:txBody>
      </p:sp>
      <p:sp>
        <p:nvSpPr>
          <p:cNvPr id="27" name="TextBox 27"/>
          <p:cNvSpPr txBox="1"/>
          <p:nvPr/>
        </p:nvSpPr>
        <p:spPr>
          <a:xfrm>
            <a:off x="2243121" y="6510383"/>
            <a:ext cx="593958" cy="695325"/>
          </a:xfrm>
          <a:prstGeom prst="rect">
            <a:avLst/>
          </a:prstGeom>
        </p:spPr>
        <p:txBody>
          <a:bodyPr lIns="0" tIns="0" rIns="0" bIns="0" rtlCol="0" anchor="t">
            <a:spAutoFit/>
          </a:bodyPr>
          <a:lstStyle/>
          <a:p>
            <a:pPr algn="ctr">
              <a:lnSpc>
                <a:spcPts val="4200"/>
              </a:lnSpc>
            </a:pPr>
            <a:r>
              <a:rPr lang="en-US" sz="3000" b="1">
                <a:solidFill>
                  <a:srgbClr val="FFFFFF"/>
                </a:solidFill>
                <a:latin typeface="Prachason Neue Mon Bold"/>
                <a:ea typeface="Prachason Neue Mon Bold"/>
                <a:cs typeface="Prachason Neue Mon Bold"/>
                <a:sym typeface="Prachason Neue Mon Bold"/>
              </a:rPr>
              <a:t>04</a:t>
            </a:r>
          </a:p>
        </p:txBody>
      </p:sp>
      <p:sp>
        <p:nvSpPr>
          <p:cNvPr id="28" name="Freeform 28"/>
          <p:cNvSpPr/>
          <p:nvPr/>
        </p:nvSpPr>
        <p:spPr>
          <a:xfrm>
            <a:off x="12144813" y="1914042"/>
            <a:ext cx="575635" cy="624829"/>
          </a:xfrm>
          <a:custGeom>
            <a:avLst/>
            <a:gdLst/>
            <a:ahLst/>
            <a:cxnLst/>
            <a:rect l="l" t="t" r="r" b="b"/>
            <a:pathLst>
              <a:path w="575635" h="624829">
                <a:moveTo>
                  <a:pt x="0" y="0"/>
                </a:moveTo>
                <a:lnTo>
                  <a:pt x="575635" y="0"/>
                </a:lnTo>
                <a:lnTo>
                  <a:pt x="575635" y="624830"/>
                </a:lnTo>
                <a:lnTo>
                  <a:pt x="0" y="6248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9" name="Freeform 29"/>
          <p:cNvSpPr/>
          <p:nvPr/>
        </p:nvSpPr>
        <p:spPr>
          <a:xfrm>
            <a:off x="15370072" y="2630074"/>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30" name="Group 30"/>
          <p:cNvGrpSpPr/>
          <p:nvPr/>
        </p:nvGrpSpPr>
        <p:grpSpPr>
          <a:xfrm>
            <a:off x="-707956" y="9491426"/>
            <a:ext cx="19703911" cy="1472127"/>
            <a:chOff x="0" y="0"/>
            <a:chExt cx="7656247" cy="572017"/>
          </a:xfrm>
        </p:grpSpPr>
        <p:sp>
          <p:nvSpPr>
            <p:cNvPr id="31" name="Freeform 31"/>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32" name="TextBox 32"/>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a:off x="1452339" y="1709788"/>
            <a:ext cx="15383321" cy="1716847"/>
            <a:chOff x="0" y="0"/>
            <a:chExt cx="5977418" cy="667106"/>
          </a:xfrm>
        </p:grpSpPr>
        <p:sp>
          <p:nvSpPr>
            <p:cNvPr id="3" name="Freeform 3"/>
            <p:cNvSpPr/>
            <p:nvPr/>
          </p:nvSpPr>
          <p:spPr>
            <a:xfrm>
              <a:off x="0" y="0"/>
              <a:ext cx="5977418" cy="667106"/>
            </a:xfrm>
            <a:custGeom>
              <a:avLst/>
              <a:gdLst/>
              <a:ahLst/>
              <a:cxnLst/>
              <a:rect l="l" t="t" r="r" b="b"/>
              <a:pathLst>
                <a:path w="5977418" h="667106">
                  <a:moveTo>
                    <a:pt x="50327" y="0"/>
                  </a:moveTo>
                  <a:lnTo>
                    <a:pt x="5927091" y="0"/>
                  </a:lnTo>
                  <a:cubicBezTo>
                    <a:pt x="5940439" y="0"/>
                    <a:pt x="5953239" y="5302"/>
                    <a:pt x="5962678" y="14740"/>
                  </a:cubicBezTo>
                  <a:cubicBezTo>
                    <a:pt x="5972115" y="24178"/>
                    <a:pt x="5977418" y="36979"/>
                    <a:pt x="5977418" y="50327"/>
                  </a:cubicBezTo>
                  <a:lnTo>
                    <a:pt x="5977418" y="616780"/>
                  </a:lnTo>
                  <a:cubicBezTo>
                    <a:pt x="5977418" y="644574"/>
                    <a:pt x="5954886" y="667106"/>
                    <a:pt x="5927091" y="667106"/>
                  </a:cubicBezTo>
                  <a:lnTo>
                    <a:pt x="50327" y="667106"/>
                  </a:lnTo>
                  <a:cubicBezTo>
                    <a:pt x="36979" y="667106"/>
                    <a:pt x="24178" y="661804"/>
                    <a:pt x="14740" y="652366"/>
                  </a:cubicBezTo>
                  <a:cubicBezTo>
                    <a:pt x="5302" y="642928"/>
                    <a:pt x="0" y="630127"/>
                    <a:pt x="0" y="616780"/>
                  </a:cubicBezTo>
                  <a:lnTo>
                    <a:pt x="0" y="50327"/>
                  </a:lnTo>
                  <a:cubicBezTo>
                    <a:pt x="0" y="36979"/>
                    <a:pt x="5302" y="24178"/>
                    <a:pt x="14740" y="14740"/>
                  </a:cubicBezTo>
                  <a:cubicBezTo>
                    <a:pt x="24178" y="5302"/>
                    <a:pt x="36979" y="0"/>
                    <a:pt x="50327" y="0"/>
                  </a:cubicBezTo>
                  <a:close/>
                </a:path>
              </a:pathLst>
            </a:custGeom>
            <a:solidFill>
              <a:srgbClr val="E47A7A"/>
            </a:solidFill>
          </p:spPr>
        </p:sp>
        <p:sp>
          <p:nvSpPr>
            <p:cNvPr id="4" name="TextBox 4"/>
            <p:cNvSpPr txBox="1"/>
            <p:nvPr/>
          </p:nvSpPr>
          <p:spPr>
            <a:xfrm>
              <a:off x="0" y="-95250"/>
              <a:ext cx="5977418" cy="76235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452339" y="3727315"/>
            <a:ext cx="15383321" cy="5187766"/>
            <a:chOff x="0" y="0"/>
            <a:chExt cx="5977418" cy="2015784"/>
          </a:xfrm>
        </p:grpSpPr>
        <p:sp>
          <p:nvSpPr>
            <p:cNvPr id="6" name="Freeform 6"/>
            <p:cNvSpPr/>
            <p:nvPr/>
          </p:nvSpPr>
          <p:spPr>
            <a:xfrm>
              <a:off x="0" y="0"/>
              <a:ext cx="5977418" cy="2015784"/>
            </a:xfrm>
            <a:custGeom>
              <a:avLst/>
              <a:gdLst/>
              <a:ahLst/>
              <a:cxnLst/>
              <a:rect l="l" t="t" r="r" b="b"/>
              <a:pathLst>
                <a:path w="5977418" h="2015784">
                  <a:moveTo>
                    <a:pt x="10065" y="0"/>
                  </a:moveTo>
                  <a:lnTo>
                    <a:pt x="5967352" y="0"/>
                  </a:lnTo>
                  <a:cubicBezTo>
                    <a:pt x="5972911" y="0"/>
                    <a:pt x="5977418" y="4506"/>
                    <a:pt x="5977418" y="10065"/>
                  </a:cubicBezTo>
                  <a:lnTo>
                    <a:pt x="5977418" y="2005718"/>
                  </a:lnTo>
                  <a:cubicBezTo>
                    <a:pt x="5977418" y="2011277"/>
                    <a:pt x="5972911" y="2015784"/>
                    <a:pt x="5967352" y="2015784"/>
                  </a:cubicBezTo>
                  <a:lnTo>
                    <a:pt x="10065" y="2015784"/>
                  </a:lnTo>
                  <a:cubicBezTo>
                    <a:pt x="4506" y="2015784"/>
                    <a:pt x="0" y="2011277"/>
                    <a:pt x="0" y="2005718"/>
                  </a:cubicBezTo>
                  <a:lnTo>
                    <a:pt x="0" y="10065"/>
                  </a:lnTo>
                  <a:cubicBezTo>
                    <a:pt x="0" y="4506"/>
                    <a:pt x="4506" y="0"/>
                    <a:pt x="10065" y="0"/>
                  </a:cubicBezTo>
                  <a:close/>
                </a:path>
              </a:pathLst>
            </a:custGeom>
            <a:solidFill>
              <a:srgbClr val="FFFFFF"/>
            </a:solidFill>
          </p:spPr>
        </p:sp>
        <p:sp>
          <p:nvSpPr>
            <p:cNvPr id="7" name="TextBox 7"/>
            <p:cNvSpPr txBox="1"/>
            <p:nvPr/>
          </p:nvSpPr>
          <p:spPr>
            <a:xfrm>
              <a:off x="0" y="-95250"/>
              <a:ext cx="5977418" cy="2111034"/>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1755657" y="3961447"/>
            <a:ext cx="14776686" cy="4719502"/>
            <a:chOff x="0" y="0"/>
            <a:chExt cx="5741701" cy="1833833"/>
          </a:xfrm>
        </p:grpSpPr>
        <p:sp>
          <p:nvSpPr>
            <p:cNvPr id="9" name="Freeform 9"/>
            <p:cNvSpPr/>
            <p:nvPr/>
          </p:nvSpPr>
          <p:spPr>
            <a:xfrm>
              <a:off x="0" y="0"/>
              <a:ext cx="5741701" cy="1833833"/>
            </a:xfrm>
            <a:custGeom>
              <a:avLst/>
              <a:gdLst/>
              <a:ahLst/>
              <a:cxnLst/>
              <a:rect l="l" t="t" r="r" b="b"/>
              <a:pathLst>
                <a:path w="5741701" h="1833833">
                  <a:moveTo>
                    <a:pt x="10479" y="0"/>
                  </a:moveTo>
                  <a:lnTo>
                    <a:pt x="5731222" y="0"/>
                  </a:lnTo>
                  <a:cubicBezTo>
                    <a:pt x="5737009" y="0"/>
                    <a:pt x="5741701" y="4691"/>
                    <a:pt x="5741701" y="10479"/>
                  </a:cubicBezTo>
                  <a:lnTo>
                    <a:pt x="5741701" y="1823354"/>
                  </a:lnTo>
                  <a:cubicBezTo>
                    <a:pt x="5741701" y="1829141"/>
                    <a:pt x="5737009" y="1833833"/>
                    <a:pt x="5731222" y="1833833"/>
                  </a:cubicBezTo>
                  <a:lnTo>
                    <a:pt x="10479" y="1833833"/>
                  </a:lnTo>
                  <a:cubicBezTo>
                    <a:pt x="7699" y="1833833"/>
                    <a:pt x="5034" y="1832729"/>
                    <a:pt x="3069" y="1830764"/>
                  </a:cubicBezTo>
                  <a:cubicBezTo>
                    <a:pt x="1104" y="1828798"/>
                    <a:pt x="0" y="1826133"/>
                    <a:pt x="0" y="1823354"/>
                  </a:cubicBezTo>
                  <a:lnTo>
                    <a:pt x="0" y="10479"/>
                  </a:lnTo>
                  <a:cubicBezTo>
                    <a:pt x="0" y="4691"/>
                    <a:pt x="4691" y="0"/>
                    <a:pt x="10479" y="0"/>
                  </a:cubicBezTo>
                  <a:close/>
                </a:path>
              </a:pathLst>
            </a:custGeom>
            <a:solidFill>
              <a:srgbClr val="FFFBF3"/>
            </a:solidFill>
            <a:ln w="47625" cap="sq">
              <a:solidFill>
                <a:srgbClr val="E8B19A"/>
              </a:solidFill>
              <a:prstDash val="lgDash"/>
              <a:miter/>
            </a:ln>
          </p:spPr>
        </p:sp>
        <p:sp>
          <p:nvSpPr>
            <p:cNvPr id="10" name="TextBox 10"/>
            <p:cNvSpPr txBox="1"/>
            <p:nvPr/>
          </p:nvSpPr>
          <p:spPr>
            <a:xfrm>
              <a:off x="0" y="-95250"/>
              <a:ext cx="5741701" cy="1929083"/>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6427201" y="1371919"/>
            <a:ext cx="5433598" cy="675737"/>
            <a:chOff x="0" y="0"/>
            <a:chExt cx="1431071" cy="177972"/>
          </a:xfrm>
        </p:grpSpPr>
        <p:sp>
          <p:nvSpPr>
            <p:cNvPr id="12" name="Freeform 12"/>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13" name="TextBox 13"/>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sp>
        <p:nvSpPr>
          <p:cNvPr id="14" name="TextBox 14"/>
          <p:cNvSpPr txBox="1"/>
          <p:nvPr/>
        </p:nvSpPr>
        <p:spPr>
          <a:xfrm>
            <a:off x="6740040" y="1473568"/>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15" name="Freeform 15"/>
          <p:cNvSpPr/>
          <p:nvPr/>
        </p:nvSpPr>
        <p:spPr>
          <a:xfrm>
            <a:off x="13893106" y="2176614"/>
            <a:ext cx="661333" cy="1000125"/>
          </a:xfrm>
          <a:custGeom>
            <a:avLst/>
            <a:gdLst/>
            <a:ahLst/>
            <a:cxnLst/>
            <a:rect l="l" t="t" r="r" b="b"/>
            <a:pathLst>
              <a:path w="661333" h="1000125">
                <a:moveTo>
                  <a:pt x="0" y="0"/>
                </a:moveTo>
                <a:lnTo>
                  <a:pt x="661332" y="0"/>
                </a:lnTo>
                <a:lnTo>
                  <a:pt x="661332" y="1000125"/>
                </a:lnTo>
                <a:lnTo>
                  <a:pt x="0" y="10001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16"/>
          <p:cNvSpPr/>
          <p:nvPr/>
        </p:nvSpPr>
        <p:spPr>
          <a:xfrm flipH="1">
            <a:off x="3733562" y="2176614"/>
            <a:ext cx="661333" cy="1000125"/>
          </a:xfrm>
          <a:custGeom>
            <a:avLst/>
            <a:gdLst/>
            <a:ahLst/>
            <a:cxnLst/>
            <a:rect l="l" t="t" r="r" b="b"/>
            <a:pathLst>
              <a:path w="661333" h="1000125">
                <a:moveTo>
                  <a:pt x="661332" y="0"/>
                </a:moveTo>
                <a:lnTo>
                  <a:pt x="0" y="0"/>
                </a:lnTo>
                <a:lnTo>
                  <a:pt x="0" y="1000125"/>
                </a:lnTo>
                <a:lnTo>
                  <a:pt x="661332" y="1000125"/>
                </a:lnTo>
                <a:lnTo>
                  <a:pt x="661332"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4394894" y="2205189"/>
            <a:ext cx="9498212" cy="971550"/>
          </a:xfrm>
          <a:prstGeom prst="rect">
            <a:avLst/>
          </a:prstGeom>
        </p:spPr>
        <p:txBody>
          <a:bodyPr lIns="0" tIns="0" rIns="0" bIns="0" rtlCol="0" anchor="t">
            <a:spAutoFit/>
          </a:bodyPr>
          <a:lstStyle/>
          <a:p>
            <a:pPr algn="ctr">
              <a:lnSpc>
                <a:spcPts val="6270"/>
              </a:lnSpc>
            </a:pPr>
            <a:r>
              <a:rPr lang="en-US" sz="6600" spc="-66">
                <a:solidFill>
                  <a:srgbClr val="FFFFFF"/>
                </a:solidFill>
                <a:latin typeface="Funtastic"/>
                <a:ea typeface="Funtastic"/>
                <a:cs typeface="Funtastic"/>
                <a:sym typeface="Funtastic"/>
              </a:rPr>
              <a:t>Kesimpulan Presentasi</a:t>
            </a:r>
          </a:p>
        </p:txBody>
      </p:sp>
      <p:sp>
        <p:nvSpPr>
          <p:cNvPr id="18" name="TextBox 18"/>
          <p:cNvSpPr txBox="1"/>
          <p:nvPr/>
        </p:nvSpPr>
        <p:spPr>
          <a:xfrm>
            <a:off x="2289995" y="4425723"/>
            <a:ext cx="9425151" cy="3724275"/>
          </a:xfrm>
          <a:prstGeom prst="rect">
            <a:avLst/>
          </a:prstGeom>
        </p:spPr>
        <p:txBody>
          <a:bodyPr lIns="0" tIns="0" rIns="0" bIns="0" rtlCol="0" anchor="t">
            <a:spAutoFit/>
          </a:bodyPr>
          <a:lstStyle/>
          <a:p>
            <a:pPr algn="l">
              <a:lnSpc>
                <a:spcPts val="4200"/>
              </a:lnSpc>
            </a:pPr>
            <a:r>
              <a:rPr lang="en-US" sz="3000">
                <a:solidFill>
                  <a:srgbClr val="7A4C51"/>
                </a:solidFill>
                <a:latin typeface="TDTD가온"/>
                <a:ea typeface="TDTD가온"/>
                <a:cs typeface="TDTD가온"/>
                <a:sym typeface="TDTD가온"/>
              </a:rPr>
              <a:t>Sistem pencernaan manusia merupakan rangkaian organ yang bekerja secara terkoordinasi untuk mencerna makanan, menyerap nutrisi, dan membuang sisa zat yang tidak diperlukan oleh tubuh. Proses ini dimulai dari mulut, dilanjutkan ke kerongkongan, lambung, usus halus, usus besar, hingga anus, dengan bantuan enzim dan cairan pencernaan.</a:t>
            </a:r>
          </a:p>
        </p:txBody>
      </p:sp>
      <p:sp>
        <p:nvSpPr>
          <p:cNvPr id="19" name="Freeform 19"/>
          <p:cNvSpPr/>
          <p:nvPr/>
        </p:nvSpPr>
        <p:spPr>
          <a:xfrm>
            <a:off x="12252339" y="4365280"/>
            <a:ext cx="3457848" cy="4549800"/>
          </a:xfrm>
          <a:custGeom>
            <a:avLst/>
            <a:gdLst/>
            <a:ahLst/>
            <a:cxnLst/>
            <a:rect l="l" t="t" r="r" b="b"/>
            <a:pathLst>
              <a:path w="3457848" h="4549800">
                <a:moveTo>
                  <a:pt x="0" y="0"/>
                </a:moveTo>
                <a:lnTo>
                  <a:pt x="3457848" y="0"/>
                </a:lnTo>
                <a:lnTo>
                  <a:pt x="3457848" y="4549801"/>
                </a:lnTo>
                <a:lnTo>
                  <a:pt x="0" y="45498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Freeform 20"/>
          <p:cNvSpPr/>
          <p:nvPr/>
        </p:nvSpPr>
        <p:spPr>
          <a:xfrm>
            <a:off x="12252339" y="4831085"/>
            <a:ext cx="575635" cy="624829"/>
          </a:xfrm>
          <a:custGeom>
            <a:avLst/>
            <a:gdLst/>
            <a:ahLst/>
            <a:cxnLst/>
            <a:rect l="l" t="t" r="r" b="b"/>
            <a:pathLst>
              <a:path w="575635" h="624829">
                <a:moveTo>
                  <a:pt x="0" y="0"/>
                </a:moveTo>
                <a:lnTo>
                  <a:pt x="575635" y="0"/>
                </a:lnTo>
                <a:lnTo>
                  <a:pt x="575635" y="624830"/>
                </a:lnTo>
                <a:lnTo>
                  <a:pt x="0" y="6248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1" name="Freeform 21"/>
          <p:cNvSpPr/>
          <p:nvPr/>
        </p:nvSpPr>
        <p:spPr>
          <a:xfrm>
            <a:off x="15422370" y="5455915"/>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2" name="Group 22"/>
          <p:cNvGrpSpPr/>
          <p:nvPr/>
        </p:nvGrpSpPr>
        <p:grpSpPr>
          <a:xfrm>
            <a:off x="-707956" y="9491426"/>
            <a:ext cx="19703911" cy="1472127"/>
            <a:chOff x="0" y="0"/>
            <a:chExt cx="7656247" cy="572017"/>
          </a:xfrm>
        </p:grpSpPr>
        <p:sp>
          <p:nvSpPr>
            <p:cNvPr id="23" name="Freeform 23"/>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24" name="TextBox 24"/>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EFE1"/>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8970428" y="-701350"/>
            <a:ext cx="10476271" cy="5238135"/>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EF897E"/>
            </a:solidFill>
          </p:spPr>
        </p:sp>
        <p:sp>
          <p:nvSpPr>
            <p:cNvPr id="4" name="TextBox 4"/>
            <p:cNvSpPr txBox="1"/>
            <p:nvPr/>
          </p:nvSpPr>
          <p:spPr>
            <a:xfrm>
              <a:off x="0" y="-95250"/>
              <a:ext cx="812800" cy="501650"/>
            </a:xfrm>
            <a:prstGeom prst="rect">
              <a:avLst/>
            </a:prstGeom>
          </p:spPr>
          <p:txBody>
            <a:bodyPr lIns="50800" tIns="50800" rIns="50800" bIns="50800" rtlCol="0" anchor="ctr"/>
            <a:lstStyle/>
            <a:p>
              <a:pPr algn="ctr">
                <a:lnSpc>
                  <a:spcPts val="3359"/>
                </a:lnSpc>
                <a:spcBef>
                  <a:spcPct val="0"/>
                </a:spcBef>
              </a:pPr>
              <a:endParaRPr/>
            </a:p>
          </p:txBody>
        </p:sp>
      </p:grpSp>
      <p:grpSp>
        <p:nvGrpSpPr>
          <p:cNvPr id="5" name="Group 5"/>
          <p:cNvGrpSpPr/>
          <p:nvPr/>
        </p:nvGrpSpPr>
        <p:grpSpPr>
          <a:xfrm>
            <a:off x="-707956" y="9491426"/>
            <a:ext cx="19703911" cy="1472127"/>
            <a:chOff x="0" y="0"/>
            <a:chExt cx="7656247" cy="572017"/>
          </a:xfrm>
        </p:grpSpPr>
        <p:sp>
          <p:nvSpPr>
            <p:cNvPr id="6" name="Freeform 6"/>
            <p:cNvSpPr/>
            <p:nvPr/>
          </p:nvSpPr>
          <p:spPr>
            <a:xfrm>
              <a:off x="0" y="0"/>
              <a:ext cx="7656247" cy="572017"/>
            </a:xfrm>
            <a:custGeom>
              <a:avLst/>
              <a:gdLst/>
              <a:ahLst/>
              <a:cxnLst/>
              <a:rect l="l" t="t" r="r" b="b"/>
              <a:pathLst>
                <a:path w="7656247" h="572017">
                  <a:moveTo>
                    <a:pt x="7858" y="0"/>
                  </a:moveTo>
                  <a:lnTo>
                    <a:pt x="7648389" y="0"/>
                  </a:lnTo>
                  <a:cubicBezTo>
                    <a:pt x="7650473" y="0"/>
                    <a:pt x="7652472" y="828"/>
                    <a:pt x="7653946" y="2302"/>
                  </a:cubicBezTo>
                  <a:cubicBezTo>
                    <a:pt x="7655420" y="3775"/>
                    <a:pt x="7656247" y="5774"/>
                    <a:pt x="7656247" y="7858"/>
                  </a:cubicBezTo>
                  <a:lnTo>
                    <a:pt x="7656247" y="564158"/>
                  </a:lnTo>
                  <a:cubicBezTo>
                    <a:pt x="7656247" y="566243"/>
                    <a:pt x="7655420" y="568241"/>
                    <a:pt x="7653946" y="569715"/>
                  </a:cubicBezTo>
                  <a:cubicBezTo>
                    <a:pt x="7652472" y="571189"/>
                    <a:pt x="7650473" y="572017"/>
                    <a:pt x="7648389" y="572017"/>
                  </a:cubicBezTo>
                  <a:lnTo>
                    <a:pt x="7858" y="572017"/>
                  </a:lnTo>
                  <a:cubicBezTo>
                    <a:pt x="5774" y="572017"/>
                    <a:pt x="3775" y="571189"/>
                    <a:pt x="2302" y="569715"/>
                  </a:cubicBezTo>
                  <a:cubicBezTo>
                    <a:pt x="828" y="568241"/>
                    <a:pt x="0" y="566243"/>
                    <a:pt x="0" y="564158"/>
                  </a:cubicBezTo>
                  <a:lnTo>
                    <a:pt x="0" y="7858"/>
                  </a:lnTo>
                  <a:cubicBezTo>
                    <a:pt x="0" y="5774"/>
                    <a:pt x="828" y="3775"/>
                    <a:pt x="2302" y="2302"/>
                  </a:cubicBezTo>
                  <a:cubicBezTo>
                    <a:pt x="3775" y="828"/>
                    <a:pt x="5774" y="0"/>
                    <a:pt x="7858" y="0"/>
                  </a:cubicBezTo>
                  <a:close/>
                </a:path>
              </a:pathLst>
            </a:custGeom>
            <a:solidFill>
              <a:srgbClr val="E8B19A"/>
            </a:solidFill>
          </p:spPr>
        </p:sp>
        <p:sp>
          <p:nvSpPr>
            <p:cNvPr id="7" name="TextBox 7"/>
            <p:cNvSpPr txBox="1"/>
            <p:nvPr/>
          </p:nvSpPr>
          <p:spPr>
            <a:xfrm>
              <a:off x="0" y="-95250"/>
              <a:ext cx="7656247" cy="667267"/>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11918836" y="1917718"/>
            <a:ext cx="4579454" cy="9045836"/>
          </a:xfrm>
          <a:custGeom>
            <a:avLst/>
            <a:gdLst/>
            <a:ahLst/>
            <a:cxnLst/>
            <a:rect l="l" t="t" r="r" b="b"/>
            <a:pathLst>
              <a:path w="4579454" h="9045836">
                <a:moveTo>
                  <a:pt x="0" y="0"/>
                </a:moveTo>
                <a:lnTo>
                  <a:pt x="4579455" y="0"/>
                </a:lnTo>
                <a:lnTo>
                  <a:pt x="4579455" y="9045835"/>
                </a:lnTo>
                <a:lnTo>
                  <a:pt x="0" y="9045835"/>
                </a:lnTo>
                <a:lnTo>
                  <a:pt x="0" y="0"/>
                </a:lnTo>
                <a:close/>
              </a:path>
            </a:pathLst>
          </a:custGeom>
          <a:blipFill>
            <a:blip r:embed="rId2"/>
            <a:stretch>
              <a:fillRect/>
            </a:stretch>
          </a:blipFill>
        </p:spPr>
      </p:sp>
      <p:grpSp>
        <p:nvGrpSpPr>
          <p:cNvPr id="9" name="Group 9"/>
          <p:cNvGrpSpPr/>
          <p:nvPr/>
        </p:nvGrpSpPr>
        <p:grpSpPr>
          <a:xfrm>
            <a:off x="10166940" y="1917718"/>
            <a:ext cx="1894539" cy="189453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1" name="TextBox 11"/>
            <p:cNvSpPr txBox="1"/>
            <p:nvPr/>
          </p:nvSpPr>
          <p:spPr>
            <a:xfrm>
              <a:off x="76200" y="-19050"/>
              <a:ext cx="660400" cy="755650"/>
            </a:xfrm>
            <a:prstGeom prst="rect">
              <a:avLst/>
            </a:prstGeom>
          </p:spPr>
          <p:txBody>
            <a:bodyPr lIns="59133" tIns="59133" rIns="59133" bIns="59133" rtlCol="0" anchor="ctr"/>
            <a:lstStyle/>
            <a:p>
              <a:pPr algn="ctr">
                <a:lnSpc>
                  <a:spcPts val="3359"/>
                </a:lnSpc>
              </a:pPr>
              <a:endParaRPr/>
            </a:p>
          </p:txBody>
        </p:sp>
      </p:grpSp>
      <p:grpSp>
        <p:nvGrpSpPr>
          <p:cNvPr id="12" name="Group 12"/>
          <p:cNvGrpSpPr/>
          <p:nvPr/>
        </p:nvGrpSpPr>
        <p:grpSpPr>
          <a:xfrm rot="7413602">
            <a:off x="11656604" y="3322206"/>
            <a:ext cx="542104" cy="580614"/>
            <a:chOff x="0" y="0"/>
            <a:chExt cx="812800" cy="870539"/>
          </a:xfrm>
        </p:grpSpPr>
        <p:sp>
          <p:nvSpPr>
            <p:cNvPr id="13" name="Freeform 13"/>
            <p:cNvSpPr/>
            <p:nvPr/>
          </p:nvSpPr>
          <p:spPr>
            <a:xfrm>
              <a:off x="51874" y="90938"/>
              <a:ext cx="709051" cy="779601"/>
            </a:xfrm>
            <a:custGeom>
              <a:avLst/>
              <a:gdLst/>
              <a:ahLst/>
              <a:cxnLst/>
              <a:rect l="l" t="t" r="r" b="b"/>
              <a:pathLst>
                <a:path w="709051" h="779601">
                  <a:moveTo>
                    <a:pt x="414937" y="38468"/>
                  </a:moveTo>
                  <a:lnTo>
                    <a:pt x="700515" y="650195"/>
                  </a:lnTo>
                  <a:cubicBezTo>
                    <a:pt x="713663" y="678359"/>
                    <a:pt x="711515" y="711289"/>
                    <a:pt x="694820" y="737507"/>
                  </a:cubicBezTo>
                  <a:cubicBezTo>
                    <a:pt x="678126" y="763725"/>
                    <a:pt x="649196" y="779601"/>
                    <a:pt x="618114" y="779601"/>
                  </a:cubicBezTo>
                  <a:lnTo>
                    <a:pt x="90938" y="779601"/>
                  </a:lnTo>
                  <a:cubicBezTo>
                    <a:pt x="59856" y="779601"/>
                    <a:pt x="30926" y="763725"/>
                    <a:pt x="14232" y="737507"/>
                  </a:cubicBezTo>
                  <a:cubicBezTo>
                    <a:pt x="-2463" y="711289"/>
                    <a:pt x="-4611" y="678359"/>
                    <a:pt x="8537" y="650195"/>
                  </a:cubicBezTo>
                  <a:lnTo>
                    <a:pt x="294115" y="38468"/>
                  </a:lnTo>
                  <a:cubicBezTo>
                    <a:pt x="305070" y="14999"/>
                    <a:pt x="328626" y="0"/>
                    <a:pt x="354526" y="0"/>
                  </a:cubicBezTo>
                  <a:cubicBezTo>
                    <a:pt x="380426" y="0"/>
                    <a:pt x="403982" y="14999"/>
                    <a:pt x="414937" y="38468"/>
                  </a:cubicBezTo>
                  <a:close/>
                </a:path>
              </a:pathLst>
            </a:custGeom>
            <a:solidFill>
              <a:srgbClr val="FFFBF3"/>
            </a:solidFill>
          </p:spPr>
        </p:sp>
        <p:sp>
          <p:nvSpPr>
            <p:cNvPr id="14" name="TextBox 14"/>
            <p:cNvSpPr txBox="1"/>
            <p:nvPr/>
          </p:nvSpPr>
          <p:spPr>
            <a:xfrm>
              <a:off x="127000" y="308929"/>
              <a:ext cx="558800" cy="499429"/>
            </a:xfrm>
            <a:prstGeom prst="rect">
              <a:avLst/>
            </a:prstGeom>
          </p:spPr>
          <p:txBody>
            <a:bodyPr lIns="59133" tIns="59133" rIns="59133" bIns="59133" rtlCol="0" anchor="ctr"/>
            <a:lstStyle/>
            <a:p>
              <a:pPr algn="ctr">
                <a:lnSpc>
                  <a:spcPts val="3359"/>
                </a:lnSpc>
              </a:pPr>
              <a:endParaRPr/>
            </a:p>
          </p:txBody>
        </p:sp>
      </p:grpSp>
      <p:grpSp>
        <p:nvGrpSpPr>
          <p:cNvPr id="15" name="Group 15"/>
          <p:cNvGrpSpPr/>
          <p:nvPr/>
        </p:nvGrpSpPr>
        <p:grpSpPr>
          <a:xfrm rot="-2418444">
            <a:off x="9997786" y="4365022"/>
            <a:ext cx="1577393" cy="1577393"/>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7" name="TextBox 17"/>
            <p:cNvSpPr txBox="1"/>
            <p:nvPr/>
          </p:nvSpPr>
          <p:spPr>
            <a:xfrm>
              <a:off x="76200" y="-19050"/>
              <a:ext cx="660400" cy="755650"/>
            </a:xfrm>
            <a:prstGeom prst="rect">
              <a:avLst/>
            </a:prstGeom>
          </p:spPr>
          <p:txBody>
            <a:bodyPr lIns="49234" tIns="49234" rIns="49234" bIns="49234" rtlCol="0" anchor="ctr"/>
            <a:lstStyle/>
            <a:p>
              <a:pPr algn="ctr">
                <a:lnSpc>
                  <a:spcPts val="3359"/>
                </a:lnSpc>
              </a:pPr>
              <a:endParaRPr/>
            </a:p>
          </p:txBody>
        </p:sp>
      </p:grpSp>
      <p:grpSp>
        <p:nvGrpSpPr>
          <p:cNvPr id="18" name="Group 18"/>
          <p:cNvGrpSpPr/>
          <p:nvPr/>
        </p:nvGrpSpPr>
        <p:grpSpPr>
          <a:xfrm rot="4995158">
            <a:off x="11479901" y="4948513"/>
            <a:ext cx="451356" cy="483419"/>
            <a:chOff x="0" y="0"/>
            <a:chExt cx="812800" cy="870539"/>
          </a:xfrm>
        </p:grpSpPr>
        <p:sp>
          <p:nvSpPr>
            <p:cNvPr id="19" name="Freeform 19"/>
            <p:cNvSpPr/>
            <p:nvPr/>
          </p:nvSpPr>
          <p:spPr>
            <a:xfrm>
              <a:off x="62304" y="109222"/>
              <a:ext cx="688192" cy="761317"/>
            </a:xfrm>
            <a:custGeom>
              <a:avLst/>
              <a:gdLst/>
              <a:ahLst/>
              <a:cxnLst/>
              <a:rect l="l" t="t" r="r" b="b"/>
              <a:pathLst>
                <a:path w="688192" h="761317">
                  <a:moveTo>
                    <a:pt x="416654" y="46202"/>
                  </a:moveTo>
                  <a:lnTo>
                    <a:pt x="677938" y="605893"/>
                  </a:lnTo>
                  <a:cubicBezTo>
                    <a:pt x="693730" y="639720"/>
                    <a:pt x="691151" y="679270"/>
                    <a:pt x="671099" y="710760"/>
                  </a:cubicBezTo>
                  <a:cubicBezTo>
                    <a:pt x="651048" y="742249"/>
                    <a:pt x="616302" y="761317"/>
                    <a:pt x="578970" y="761317"/>
                  </a:cubicBezTo>
                  <a:lnTo>
                    <a:pt x="109222" y="761317"/>
                  </a:lnTo>
                  <a:cubicBezTo>
                    <a:pt x="71890" y="761317"/>
                    <a:pt x="37144" y="742249"/>
                    <a:pt x="17093" y="710760"/>
                  </a:cubicBezTo>
                  <a:cubicBezTo>
                    <a:pt x="-2959" y="679270"/>
                    <a:pt x="-5538" y="639720"/>
                    <a:pt x="10254" y="605893"/>
                  </a:cubicBezTo>
                  <a:lnTo>
                    <a:pt x="271538" y="46202"/>
                  </a:lnTo>
                  <a:cubicBezTo>
                    <a:pt x="284697" y="18015"/>
                    <a:pt x="312989" y="0"/>
                    <a:pt x="344096" y="0"/>
                  </a:cubicBezTo>
                  <a:cubicBezTo>
                    <a:pt x="375203" y="0"/>
                    <a:pt x="403495" y="18015"/>
                    <a:pt x="416654" y="46202"/>
                  </a:cubicBezTo>
                  <a:close/>
                </a:path>
              </a:pathLst>
            </a:custGeom>
            <a:solidFill>
              <a:srgbClr val="FFFBF3"/>
            </a:solidFill>
          </p:spPr>
        </p:sp>
        <p:sp>
          <p:nvSpPr>
            <p:cNvPr id="20" name="TextBox 20"/>
            <p:cNvSpPr txBox="1"/>
            <p:nvPr/>
          </p:nvSpPr>
          <p:spPr>
            <a:xfrm>
              <a:off x="127000" y="308929"/>
              <a:ext cx="558800" cy="499429"/>
            </a:xfrm>
            <a:prstGeom prst="rect">
              <a:avLst/>
            </a:prstGeom>
          </p:spPr>
          <p:txBody>
            <a:bodyPr lIns="49234" tIns="49234" rIns="49234" bIns="49234" rtlCol="0" anchor="ctr"/>
            <a:lstStyle/>
            <a:p>
              <a:pPr algn="ctr">
                <a:lnSpc>
                  <a:spcPts val="3359"/>
                </a:lnSpc>
              </a:pPr>
              <a:endParaRPr/>
            </a:p>
          </p:txBody>
        </p:sp>
      </p:grpSp>
      <p:sp>
        <p:nvSpPr>
          <p:cNvPr id="21" name="Freeform 21"/>
          <p:cNvSpPr/>
          <p:nvPr/>
        </p:nvSpPr>
        <p:spPr>
          <a:xfrm>
            <a:off x="10414330" y="2395989"/>
            <a:ext cx="1380480" cy="921470"/>
          </a:xfrm>
          <a:custGeom>
            <a:avLst/>
            <a:gdLst/>
            <a:ahLst/>
            <a:cxnLst/>
            <a:rect l="l" t="t" r="r" b="b"/>
            <a:pathLst>
              <a:path w="1380480" h="921470">
                <a:moveTo>
                  <a:pt x="0" y="0"/>
                </a:moveTo>
                <a:lnTo>
                  <a:pt x="1380480" y="0"/>
                </a:lnTo>
                <a:lnTo>
                  <a:pt x="1380480" y="921470"/>
                </a:lnTo>
                <a:lnTo>
                  <a:pt x="0" y="921470"/>
                </a:lnTo>
                <a:lnTo>
                  <a:pt x="0" y="0"/>
                </a:lnTo>
                <a:close/>
              </a:path>
            </a:pathLst>
          </a:custGeom>
          <a:blipFill>
            <a:blip r:embed="rId3"/>
            <a:stretch>
              <a:fillRect/>
            </a:stretch>
          </a:blipFill>
        </p:spPr>
      </p:sp>
      <p:sp>
        <p:nvSpPr>
          <p:cNvPr id="22" name="Freeform 22"/>
          <p:cNvSpPr/>
          <p:nvPr/>
        </p:nvSpPr>
        <p:spPr>
          <a:xfrm>
            <a:off x="10332637" y="4644575"/>
            <a:ext cx="910539" cy="997851"/>
          </a:xfrm>
          <a:custGeom>
            <a:avLst/>
            <a:gdLst/>
            <a:ahLst/>
            <a:cxnLst/>
            <a:rect l="l" t="t" r="r" b="b"/>
            <a:pathLst>
              <a:path w="910539" h="997851">
                <a:moveTo>
                  <a:pt x="0" y="0"/>
                </a:moveTo>
                <a:lnTo>
                  <a:pt x="910538" y="0"/>
                </a:lnTo>
                <a:lnTo>
                  <a:pt x="910538" y="997850"/>
                </a:lnTo>
                <a:lnTo>
                  <a:pt x="0" y="997850"/>
                </a:lnTo>
                <a:lnTo>
                  <a:pt x="0" y="0"/>
                </a:lnTo>
                <a:close/>
              </a:path>
            </a:pathLst>
          </a:custGeom>
          <a:blipFill>
            <a:blip r:embed="rId4"/>
            <a:stretch>
              <a:fillRect/>
            </a:stretch>
          </a:blipFill>
        </p:spPr>
      </p:sp>
      <p:sp>
        <p:nvSpPr>
          <p:cNvPr id="23" name="Freeform 23"/>
          <p:cNvSpPr/>
          <p:nvPr/>
        </p:nvSpPr>
        <p:spPr>
          <a:xfrm>
            <a:off x="12447701" y="1605303"/>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4" name="Freeform 24"/>
          <p:cNvSpPr/>
          <p:nvPr/>
        </p:nvSpPr>
        <p:spPr>
          <a:xfrm>
            <a:off x="15393971" y="3499842"/>
            <a:ext cx="575635" cy="624829"/>
          </a:xfrm>
          <a:custGeom>
            <a:avLst/>
            <a:gdLst/>
            <a:ahLst/>
            <a:cxnLst/>
            <a:rect l="l" t="t" r="r" b="b"/>
            <a:pathLst>
              <a:path w="575635" h="624829">
                <a:moveTo>
                  <a:pt x="0" y="0"/>
                </a:moveTo>
                <a:lnTo>
                  <a:pt x="575635" y="0"/>
                </a:lnTo>
                <a:lnTo>
                  <a:pt x="575635" y="624829"/>
                </a:lnTo>
                <a:lnTo>
                  <a:pt x="0" y="6248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5" name="Group 25"/>
          <p:cNvGrpSpPr/>
          <p:nvPr/>
        </p:nvGrpSpPr>
        <p:grpSpPr>
          <a:xfrm>
            <a:off x="1610446" y="1254074"/>
            <a:ext cx="7864365" cy="7778852"/>
            <a:chOff x="0" y="0"/>
            <a:chExt cx="3055816" cy="3022588"/>
          </a:xfrm>
        </p:grpSpPr>
        <p:sp>
          <p:nvSpPr>
            <p:cNvPr id="26" name="Freeform 26"/>
            <p:cNvSpPr/>
            <p:nvPr/>
          </p:nvSpPr>
          <p:spPr>
            <a:xfrm>
              <a:off x="0" y="0"/>
              <a:ext cx="3055816" cy="3022588"/>
            </a:xfrm>
            <a:custGeom>
              <a:avLst/>
              <a:gdLst/>
              <a:ahLst/>
              <a:cxnLst/>
              <a:rect l="l" t="t" r="r" b="b"/>
              <a:pathLst>
                <a:path w="3055816" h="3022588">
                  <a:moveTo>
                    <a:pt x="19689" y="0"/>
                  </a:moveTo>
                  <a:lnTo>
                    <a:pt x="3036127" y="0"/>
                  </a:lnTo>
                  <a:cubicBezTo>
                    <a:pt x="3047001" y="0"/>
                    <a:pt x="3055816" y="8815"/>
                    <a:pt x="3055816" y="19689"/>
                  </a:cubicBezTo>
                  <a:lnTo>
                    <a:pt x="3055816" y="3002900"/>
                  </a:lnTo>
                  <a:cubicBezTo>
                    <a:pt x="3055816" y="3013773"/>
                    <a:pt x="3047001" y="3022588"/>
                    <a:pt x="3036127" y="3022588"/>
                  </a:cubicBezTo>
                  <a:lnTo>
                    <a:pt x="19689" y="3022588"/>
                  </a:lnTo>
                  <a:cubicBezTo>
                    <a:pt x="14467" y="3022588"/>
                    <a:pt x="9459" y="3020514"/>
                    <a:pt x="5767" y="3016822"/>
                  </a:cubicBezTo>
                  <a:cubicBezTo>
                    <a:pt x="2074" y="3013129"/>
                    <a:pt x="0" y="3008121"/>
                    <a:pt x="0" y="3002900"/>
                  </a:cubicBezTo>
                  <a:lnTo>
                    <a:pt x="0" y="19689"/>
                  </a:lnTo>
                  <a:cubicBezTo>
                    <a:pt x="0" y="8815"/>
                    <a:pt x="8815" y="0"/>
                    <a:pt x="19689" y="0"/>
                  </a:cubicBezTo>
                  <a:close/>
                </a:path>
              </a:pathLst>
            </a:custGeom>
            <a:solidFill>
              <a:srgbClr val="FFFFFF"/>
            </a:solidFill>
          </p:spPr>
        </p:sp>
        <p:sp>
          <p:nvSpPr>
            <p:cNvPr id="27" name="TextBox 27"/>
            <p:cNvSpPr txBox="1"/>
            <p:nvPr/>
          </p:nvSpPr>
          <p:spPr>
            <a:xfrm>
              <a:off x="0" y="-95250"/>
              <a:ext cx="3055816" cy="3117838"/>
            </a:xfrm>
            <a:prstGeom prst="rect">
              <a:avLst/>
            </a:prstGeom>
          </p:spPr>
          <p:txBody>
            <a:bodyPr lIns="50800" tIns="50800" rIns="50800" bIns="50800" rtlCol="0" anchor="ctr"/>
            <a:lstStyle/>
            <a:p>
              <a:pPr algn="ctr">
                <a:lnSpc>
                  <a:spcPts val="3359"/>
                </a:lnSpc>
              </a:pPr>
              <a:endParaRPr/>
            </a:p>
          </p:txBody>
        </p:sp>
      </p:grpSp>
      <p:grpSp>
        <p:nvGrpSpPr>
          <p:cNvPr id="28" name="Group 28"/>
          <p:cNvGrpSpPr/>
          <p:nvPr/>
        </p:nvGrpSpPr>
        <p:grpSpPr>
          <a:xfrm>
            <a:off x="2013345" y="2314290"/>
            <a:ext cx="5433598" cy="675737"/>
            <a:chOff x="0" y="0"/>
            <a:chExt cx="1431071" cy="177972"/>
          </a:xfrm>
        </p:grpSpPr>
        <p:sp>
          <p:nvSpPr>
            <p:cNvPr id="29" name="Freeform 29"/>
            <p:cNvSpPr/>
            <p:nvPr/>
          </p:nvSpPr>
          <p:spPr>
            <a:xfrm>
              <a:off x="0" y="0"/>
              <a:ext cx="1431071" cy="177972"/>
            </a:xfrm>
            <a:custGeom>
              <a:avLst/>
              <a:gdLst/>
              <a:ahLst/>
              <a:cxnLst/>
              <a:rect l="l" t="t" r="r" b="b"/>
              <a:pathLst>
                <a:path w="1431071" h="177972">
                  <a:moveTo>
                    <a:pt x="88986" y="0"/>
                  </a:moveTo>
                  <a:lnTo>
                    <a:pt x="1342085" y="0"/>
                  </a:lnTo>
                  <a:cubicBezTo>
                    <a:pt x="1365686" y="0"/>
                    <a:pt x="1388320" y="9375"/>
                    <a:pt x="1405008" y="26063"/>
                  </a:cubicBezTo>
                  <a:cubicBezTo>
                    <a:pt x="1421696" y="42751"/>
                    <a:pt x="1431071" y="65385"/>
                    <a:pt x="1431071" y="88986"/>
                  </a:cubicBezTo>
                  <a:lnTo>
                    <a:pt x="1431071" y="88986"/>
                  </a:lnTo>
                  <a:cubicBezTo>
                    <a:pt x="1431071" y="112586"/>
                    <a:pt x="1421696" y="135220"/>
                    <a:pt x="1405008" y="151908"/>
                  </a:cubicBezTo>
                  <a:cubicBezTo>
                    <a:pt x="1388320" y="168597"/>
                    <a:pt x="1365686" y="177972"/>
                    <a:pt x="1342085"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FDCEA0"/>
            </a:solidFill>
          </p:spPr>
        </p:sp>
        <p:sp>
          <p:nvSpPr>
            <p:cNvPr id="30" name="TextBox 30"/>
            <p:cNvSpPr txBox="1"/>
            <p:nvPr/>
          </p:nvSpPr>
          <p:spPr>
            <a:xfrm>
              <a:off x="0" y="-95250"/>
              <a:ext cx="1431071" cy="273222"/>
            </a:xfrm>
            <a:prstGeom prst="rect">
              <a:avLst/>
            </a:prstGeom>
          </p:spPr>
          <p:txBody>
            <a:bodyPr lIns="50800" tIns="50800" rIns="50800" bIns="50800" rtlCol="0" anchor="ctr"/>
            <a:lstStyle/>
            <a:p>
              <a:pPr algn="ctr">
                <a:lnSpc>
                  <a:spcPts val="3359"/>
                </a:lnSpc>
              </a:pPr>
              <a:endParaRPr/>
            </a:p>
          </p:txBody>
        </p:sp>
      </p:grpSp>
      <p:sp>
        <p:nvSpPr>
          <p:cNvPr id="31" name="TextBox 31"/>
          <p:cNvSpPr txBox="1"/>
          <p:nvPr/>
        </p:nvSpPr>
        <p:spPr>
          <a:xfrm>
            <a:off x="2013345" y="3206145"/>
            <a:ext cx="7058568" cy="2428875"/>
          </a:xfrm>
          <a:prstGeom prst="rect">
            <a:avLst/>
          </a:prstGeom>
        </p:spPr>
        <p:txBody>
          <a:bodyPr lIns="0" tIns="0" rIns="0" bIns="0" rtlCol="0" anchor="t">
            <a:spAutoFit/>
          </a:bodyPr>
          <a:lstStyle/>
          <a:p>
            <a:pPr algn="l">
              <a:lnSpc>
                <a:spcPts val="8550"/>
              </a:lnSpc>
            </a:pPr>
            <a:r>
              <a:rPr lang="en-US" sz="9000" spc="-89">
                <a:solidFill>
                  <a:srgbClr val="593337"/>
                </a:solidFill>
                <a:latin typeface="Funtastic"/>
                <a:ea typeface="Funtastic"/>
                <a:cs typeface="Funtastic"/>
                <a:sym typeface="Funtastic"/>
              </a:rPr>
              <a:t>Terima Kasih  Perhatiannya</a:t>
            </a:r>
          </a:p>
        </p:txBody>
      </p:sp>
      <p:sp>
        <p:nvSpPr>
          <p:cNvPr id="32" name="Freeform 32"/>
          <p:cNvSpPr/>
          <p:nvPr/>
        </p:nvSpPr>
        <p:spPr>
          <a:xfrm>
            <a:off x="7707225" y="2314290"/>
            <a:ext cx="446831" cy="675737"/>
          </a:xfrm>
          <a:custGeom>
            <a:avLst/>
            <a:gdLst/>
            <a:ahLst/>
            <a:cxnLst/>
            <a:rect l="l" t="t" r="r" b="b"/>
            <a:pathLst>
              <a:path w="446831" h="675737">
                <a:moveTo>
                  <a:pt x="0" y="0"/>
                </a:moveTo>
                <a:lnTo>
                  <a:pt x="446831" y="0"/>
                </a:lnTo>
                <a:lnTo>
                  <a:pt x="446831" y="675737"/>
                </a:lnTo>
                <a:lnTo>
                  <a:pt x="0" y="6757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3" name="TextBox 33"/>
          <p:cNvSpPr txBox="1"/>
          <p:nvPr/>
        </p:nvSpPr>
        <p:spPr>
          <a:xfrm>
            <a:off x="2326183" y="2415939"/>
            <a:ext cx="4807921" cy="415290"/>
          </a:xfrm>
          <a:prstGeom prst="rect">
            <a:avLst/>
          </a:prstGeom>
        </p:spPr>
        <p:txBody>
          <a:bodyPr lIns="0" tIns="0" rIns="0" bIns="0" rtlCol="0" anchor="t">
            <a:spAutoFit/>
          </a:bodyPr>
          <a:lstStyle/>
          <a:p>
            <a:pPr algn="ctr">
              <a:lnSpc>
                <a:spcPts val="3359"/>
              </a:lnSpc>
            </a:pPr>
            <a:r>
              <a:rPr lang="en-US" sz="2400">
                <a:solidFill>
                  <a:srgbClr val="593337"/>
                </a:solidFill>
                <a:latin typeface="TDTD가온"/>
                <a:ea typeface="TDTD가온"/>
                <a:cs typeface="TDTD가온"/>
                <a:sym typeface="TDTD가온"/>
              </a:rPr>
              <a:t>Materi Ilmu Pengetahuan Alam</a:t>
            </a:r>
          </a:p>
        </p:txBody>
      </p:sp>
      <p:sp>
        <p:nvSpPr>
          <p:cNvPr id="34" name="TextBox 34"/>
          <p:cNvSpPr txBox="1"/>
          <p:nvPr/>
        </p:nvSpPr>
        <p:spPr>
          <a:xfrm>
            <a:off x="2013345" y="5758845"/>
            <a:ext cx="7058568" cy="1057275"/>
          </a:xfrm>
          <a:prstGeom prst="rect">
            <a:avLst/>
          </a:prstGeom>
        </p:spPr>
        <p:txBody>
          <a:bodyPr lIns="0" tIns="0" rIns="0" bIns="0" rtlCol="0" anchor="t">
            <a:spAutoFit/>
          </a:bodyPr>
          <a:lstStyle/>
          <a:p>
            <a:pPr algn="l">
              <a:lnSpc>
                <a:spcPts val="4200"/>
              </a:lnSpc>
            </a:pPr>
            <a:r>
              <a:rPr lang="en-US" sz="3000">
                <a:solidFill>
                  <a:srgbClr val="7A4C51"/>
                </a:solidFill>
                <a:latin typeface="TDTD가온"/>
                <a:ea typeface="TDTD가온"/>
                <a:cs typeface="TDTD가온"/>
                <a:sym typeface="TDTD가온"/>
              </a:rPr>
              <a:t>Semoga presentasi ini dapat menambah  wawasan para pembaca sekalian.</a:t>
            </a:r>
          </a:p>
        </p:txBody>
      </p:sp>
      <p:grpSp>
        <p:nvGrpSpPr>
          <p:cNvPr id="35" name="Group 35"/>
          <p:cNvGrpSpPr/>
          <p:nvPr/>
        </p:nvGrpSpPr>
        <p:grpSpPr>
          <a:xfrm>
            <a:off x="1460369" y="7296973"/>
            <a:ext cx="6347525" cy="675737"/>
            <a:chOff x="0" y="0"/>
            <a:chExt cx="1671776" cy="177972"/>
          </a:xfrm>
        </p:grpSpPr>
        <p:sp>
          <p:nvSpPr>
            <p:cNvPr id="36" name="Freeform 36"/>
            <p:cNvSpPr/>
            <p:nvPr/>
          </p:nvSpPr>
          <p:spPr>
            <a:xfrm>
              <a:off x="0" y="0"/>
              <a:ext cx="1671776" cy="177972"/>
            </a:xfrm>
            <a:custGeom>
              <a:avLst/>
              <a:gdLst/>
              <a:ahLst/>
              <a:cxnLst/>
              <a:rect l="l" t="t" r="r" b="b"/>
              <a:pathLst>
                <a:path w="1671776" h="177972">
                  <a:moveTo>
                    <a:pt x="88986" y="0"/>
                  </a:moveTo>
                  <a:lnTo>
                    <a:pt x="1582790" y="0"/>
                  </a:lnTo>
                  <a:cubicBezTo>
                    <a:pt x="1631936" y="0"/>
                    <a:pt x="1671776" y="39840"/>
                    <a:pt x="1671776" y="88986"/>
                  </a:cubicBezTo>
                  <a:lnTo>
                    <a:pt x="1671776" y="88986"/>
                  </a:lnTo>
                  <a:cubicBezTo>
                    <a:pt x="1671776" y="112586"/>
                    <a:pt x="1662401" y="135220"/>
                    <a:pt x="1645713" y="151908"/>
                  </a:cubicBezTo>
                  <a:cubicBezTo>
                    <a:pt x="1629025" y="168597"/>
                    <a:pt x="1606391" y="177972"/>
                    <a:pt x="1582790" y="177972"/>
                  </a:cubicBezTo>
                  <a:lnTo>
                    <a:pt x="88986" y="177972"/>
                  </a:lnTo>
                  <a:cubicBezTo>
                    <a:pt x="65385" y="177972"/>
                    <a:pt x="42751" y="168597"/>
                    <a:pt x="26063" y="151908"/>
                  </a:cubicBezTo>
                  <a:cubicBezTo>
                    <a:pt x="9375" y="135220"/>
                    <a:pt x="0" y="112586"/>
                    <a:pt x="0" y="88986"/>
                  </a:cubicBezTo>
                  <a:lnTo>
                    <a:pt x="0" y="88986"/>
                  </a:lnTo>
                  <a:cubicBezTo>
                    <a:pt x="0" y="65385"/>
                    <a:pt x="9375" y="42751"/>
                    <a:pt x="26063" y="26063"/>
                  </a:cubicBezTo>
                  <a:cubicBezTo>
                    <a:pt x="42751" y="9375"/>
                    <a:pt x="65385" y="0"/>
                    <a:pt x="88986" y="0"/>
                  </a:cubicBezTo>
                  <a:close/>
                </a:path>
              </a:pathLst>
            </a:custGeom>
            <a:solidFill>
              <a:srgbClr val="E47A7A"/>
            </a:solidFill>
          </p:spPr>
        </p:sp>
        <p:sp>
          <p:nvSpPr>
            <p:cNvPr id="37" name="TextBox 37"/>
            <p:cNvSpPr txBox="1"/>
            <p:nvPr/>
          </p:nvSpPr>
          <p:spPr>
            <a:xfrm>
              <a:off x="0" y="-95250"/>
              <a:ext cx="1671776" cy="273222"/>
            </a:xfrm>
            <a:prstGeom prst="rect">
              <a:avLst/>
            </a:prstGeom>
          </p:spPr>
          <p:txBody>
            <a:bodyPr lIns="50800" tIns="50800" rIns="50800" bIns="50800" rtlCol="0" anchor="ctr"/>
            <a:lstStyle/>
            <a:p>
              <a:pPr algn="ctr">
                <a:lnSpc>
                  <a:spcPts val="3359"/>
                </a:lnSpc>
              </a:pPr>
              <a:endParaRPr/>
            </a:p>
          </p:txBody>
        </p:sp>
      </p:grpSp>
      <p:sp>
        <p:nvSpPr>
          <p:cNvPr id="38" name="TextBox 38"/>
          <p:cNvSpPr txBox="1"/>
          <p:nvPr/>
        </p:nvSpPr>
        <p:spPr>
          <a:xfrm>
            <a:off x="2211672" y="7274796"/>
            <a:ext cx="4859300" cy="539115"/>
          </a:xfrm>
          <a:prstGeom prst="rect">
            <a:avLst/>
          </a:prstGeom>
        </p:spPr>
        <p:txBody>
          <a:bodyPr lIns="0" tIns="0" rIns="0" bIns="0" rtlCol="0" anchor="t">
            <a:spAutoFit/>
          </a:bodyPr>
          <a:lstStyle/>
          <a:p>
            <a:pPr algn="ctr">
              <a:lnSpc>
                <a:spcPts val="3359"/>
              </a:lnSpc>
            </a:pPr>
            <a:r>
              <a:rPr lang="en-US" sz="2400">
                <a:solidFill>
                  <a:srgbClr val="FFFFFF"/>
                </a:solidFill>
                <a:latin typeface="Prachason Neue Mon"/>
                <a:ea typeface="Prachason Neue Mon"/>
                <a:cs typeface="Prachason Neue Mon"/>
                <a:sym typeface="Prachason Neue Mon"/>
              </a:rPr>
              <a:t>SAMPAI BERTEMU KEMBALI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894</Words>
  <Application>Microsoft Office PowerPoint</Application>
  <PresentationFormat>Custom</PresentationFormat>
  <Paragraphs>105</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Funtastic</vt:lpstr>
      <vt:lpstr>TDTD가온</vt:lpstr>
      <vt:lpstr>Calibri</vt:lpstr>
      <vt:lpstr>Arial</vt:lpstr>
      <vt:lpstr>Prachason Neue Mon</vt:lpstr>
      <vt:lpstr>Prachason Neue Mon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 PENCERNAAN</dc:title>
  <cp:lastModifiedBy>suharyono03@outlook.co.id</cp:lastModifiedBy>
  <cp:revision>3</cp:revision>
  <dcterms:created xsi:type="dcterms:W3CDTF">2006-08-16T00:00:00Z</dcterms:created>
  <dcterms:modified xsi:type="dcterms:W3CDTF">2026-09-22T16:34:57Z</dcterms:modified>
  <dc:identifier>DAHQQRRvTyI</dc:identifier>
</cp:coreProperties>
</file>